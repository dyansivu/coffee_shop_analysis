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Arapey" panose="02000000000000000000" pitchFamily="2" charset="77"/>
      <p:regular r:id="rId14"/>
    </p:embeddedFont>
    <p:embeddedFont>
      <p:font typeface="Arapey Bold Italics" panose="02000000000000000000" pitchFamily="2" charset="77"/>
      <p:regular r:id="rId15"/>
      <p:bold r:id="rId16"/>
      <p:italic r:id="rId17"/>
      <p:boldItalic r:id="rId18"/>
    </p:embeddedFont>
    <p:embeddedFont>
      <p:font typeface="Arima Madurai" pitchFamily="2" charset="77"/>
      <p:regular r:id="rId19"/>
    </p:embeddedFont>
    <p:embeddedFont>
      <p:font typeface="Arima Madurai Bold Italics" pitchFamily="2" charset="77"/>
      <p:regular r:id="rId20"/>
      <p:bold r:id="rId21"/>
      <p:italic r:id="rId22"/>
      <p:boldItalic r:id="rId23"/>
    </p:embeddedFont>
    <p:embeddedFont>
      <p:font typeface="Canva Sans" panose="020B0503030501040103" pitchFamily="34" charset="0"/>
      <p:regular r:id="rId24"/>
    </p:embeddedFont>
    <p:embeddedFont>
      <p:font typeface="Canva Sans Bold" panose="020B0803030501040103" pitchFamily="34" charset="0"/>
      <p:regular r:id="rId25"/>
      <p:bold r:id="rId26"/>
    </p:embeddedFont>
    <p:embeddedFont>
      <p:font typeface="Noto Sans" panose="020B0502040504020204" pitchFamily="34" charset="0"/>
      <p:regular r:id="rId27"/>
      <p:bold r:id="rId28"/>
      <p:italic r:id="rId29"/>
      <p:boldItalic r:id="rId30"/>
    </p:embeddedFont>
    <p:embeddedFont>
      <p:font typeface="Questrial" pitchFamily="2" charset="77"/>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autoAdjust="0"/>
    <p:restoredTop sz="94557" autoAdjust="0"/>
  </p:normalViewPr>
  <p:slideViewPr>
    <p:cSldViewPr>
      <p:cViewPr varScale="1">
        <p:scale>
          <a:sx n="70" d="100"/>
          <a:sy n="70" d="100"/>
        </p:scale>
        <p:origin x="744"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font" Target="fonts/font17.fntdata"/><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9EF"/>
        </a:solidFill>
        <a:effectLst/>
      </p:bgPr>
    </p:bg>
    <p:spTree>
      <p:nvGrpSpPr>
        <p:cNvPr id="1" name=""/>
        <p:cNvGrpSpPr/>
        <p:nvPr/>
      </p:nvGrpSpPr>
      <p:grpSpPr>
        <a:xfrm>
          <a:off x="0" y="0"/>
          <a:ext cx="0" cy="0"/>
          <a:chOff x="0" y="0"/>
          <a:chExt cx="0" cy="0"/>
        </a:xfrm>
      </p:grpSpPr>
      <p:grpSp>
        <p:nvGrpSpPr>
          <p:cNvPr id="2" name="Group 2"/>
          <p:cNvGrpSpPr/>
          <p:nvPr/>
        </p:nvGrpSpPr>
        <p:grpSpPr>
          <a:xfrm>
            <a:off x="178165" y="220628"/>
            <a:ext cx="17144638" cy="9839801"/>
            <a:chOff x="0" y="0"/>
            <a:chExt cx="17144632" cy="9839795"/>
          </a:xfrm>
        </p:grpSpPr>
        <p:sp>
          <p:nvSpPr>
            <p:cNvPr id="3" name="Freeform 3"/>
            <p:cNvSpPr/>
            <p:nvPr/>
          </p:nvSpPr>
          <p:spPr>
            <a:xfrm>
              <a:off x="9747630" y="63500"/>
              <a:ext cx="7333486" cy="9712829"/>
            </a:xfrm>
            <a:custGeom>
              <a:avLst/>
              <a:gdLst/>
              <a:ahLst/>
              <a:cxnLst/>
              <a:rect l="l" t="t" r="r" b="b"/>
              <a:pathLst>
                <a:path w="7333486" h="9712829">
                  <a:moveTo>
                    <a:pt x="1986406" y="0"/>
                  </a:moveTo>
                  <a:lnTo>
                    <a:pt x="0" y="9712829"/>
                  </a:lnTo>
                  <a:lnTo>
                    <a:pt x="5347207" y="9712829"/>
                  </a:lnTo>
                  <a:lnTo>
                    <a:pt x="7333486" y="0"/>
                  </a:lnTo>
                  <a:close/>
                </a:path>
              </a:pathLst>
            </a:custGeom>
            <a:solidFill>
              <a:srgbClr val="97755B"/>
            </a:solidFill>
          </p:spPr>
          <p:txBody>
            <a:bodyPr/>
            <a:lstStyle/>
            <a:p>
              <a:endParaRPr lang="en-US"/>
            </a:p>
          </p:txBody>
        </p:sp>
        <p:sp>
          <p:nvSpPr>
            <p:cNvPr id="4" name="Freeform 4"/>
            <p:cNvSpPr/>
            <p:nvPr/>
          </p:nvSpPr>
          <p:spPr>
            <a:xfrm>
              <a:off x="63500" y="3656328"/>
              <a:ext cx="10699621" cy="56896"/>
            </a:xfrm>
            <a:custGeom>
              <a:avLst/>
              <a:gdLst/>
              <a:ahLst/>
              <a:cxnLst/>
              <a:rect l="l" t="t" r="r" b="b"/>
              <a:pathLst>
                <a:path w="10699621" h="56896">
                  <a:moveTo>
                    <a:pt x="0" y="18797"/>
                  </a:moveTo>
                  <a:lnTo>
                    <a:pt x="10699493" y="0"/>
                  </a:lnTo>
                  <a:lnTo>
                    <a:pt x="10699621" y="38100"/>
                  </a:lnTo>
                  <a:lnTo>
                    <a:pt x="127" y="56897"/>
                  </a:lnTo>
                  <a:close/>
                </a:path>
              </a:pathLst>
            </a:custGeom>
            <a:solidFill>
              <a:srgbClr val="97755B"/>
            </a:solidFill>
          </p:spPr>
          <p:txBody>
            <a:bodyPr/>
            <a:lstStyle/>
            <a:p>
              <a:endParaRPr lang="en-US"/>
            </a:p>
          </p:txBody>
        </p:sp>
        <p:sp>
          <p:nvSpPr>
            <p:cNvPr id="5" name="Freeform 5"/>
            <p:cNvSpPr/>
            <p:nvPr/>
          </p:nvSpPr>
          <p:spPr>
            <a:xfrm>
              <a:off x="10772391" y="3617975"/>
              <a:ext cx="114554" cy="114554"/>
            </a:xfrm>
            <a:custGeom>
              <a:avLst/>
              <a:gdLst/>
              <a:ahLst/>
              <a:cxnLst/>
              <a:rect l="l" t="t" r="r" b="b"/>
              <a:pathLst>
                <a:path w="114554" h="114554">
                  <a:moveTo>
                    <a:pt x="114300" y="0"/>
                  </a:moveTo>
                  <a:lnTo>
                    <a:pt x="0" y="253"/>
                  </a:lnTo>
                  <a:lnTo>
                    <a:pt x="255" y="114553"/>
                  </a:lnTo>
                  <a:lnTo>
                    <a:pt x="114555" y="114300"/>
                  </a:lnTo>
                  <a:lnTo>
                    <a:pt x="114300" y="0"/>
                  </a:lnTo>
                  <a:close/>
                </a:path>
              </a:pathLst>
            </a:custGeom>
            <a:solidFill>
              <a:srgbClr val="97755B"/>
            </a:solidFill>
          </p:spPr>
          <p:txBody>
            <a:bodyPr/>
            <a:lstStyle/>
            <a:p>
              <a:endParaRPr lang="en-US"/>
            </a:p>
          </p:txBody>
        </p:sp>
        <p:sp>
          <p:nvSpPr>
            <p:cNvPr id="6" name="Freeform 6"/>
            <p:cNvSpPr/>
            <p:nvPr/>
          </p:nvSpPr>
          <p:spPr>
            <a:xfrm>
              <a:off x="10753341" y="3598925"/>
              <a:ext cx="152654" cy="152654"/>
            </a:xfrm>
            <a:custGeom>
              <a:avLst/>
              <a:gdLst/>
              <a:ahLst/>
              <a:cxnLst/>
              <a:rect l="l" t="t" r="r" b="b"/>
              <a:pathLst>
                <a:path w="152654" h="152654">
                  <a:moveTo>
                    <a:pt x="133477" y="38100"/>
                  </a:moveTo>
                  <a:lnTo>
                    <a:pt x="19177" y="38353"/>
                  </a:lnTo>
                  <a:lnTo>
                    <a:pt x="19177" y="19303"/>
                  </a:lnTo>
                  <a:lnTo>
                    <a:pt x="38227" y="19303"/>
                  </a:lnTo>
                  <a:lnTo>
                    <a:pt x="38482" y="133603"/>
                  </a:lnTo>
                  <a:lnTo>
                    <a:pt x="19432" y="133603"/>
                  </a:lnTo>
                  <a:lnTo>
                    <a:pt x="19432" y="114553"/>
                  </a:lnTo>
                  <a:lnTo>
                    <a:pt x="133732" y="114300"/>
                  </a:lnTo>
                  <a:lnTo>
                    <a:pt x="133732" y="133350"/>
                  </a:lnTo>
                  <a:lnTo>
                    <a:pt x="114682" y="133350"/>
                  </a:lnTo>
                  <a:lnTo>
                    <a:pt x="114427" y="19050"/>
                  </a:lnTo>
                  <a:lnTo>
                    <a:pt x="133477" y="19050"/>
                  </a:lnTo>
                  <a:lnTo>
                    <a:pt x="133477" y="38100"/>
                  </a:lnTo>
                  <a:moveTo>
                    <a:pt x="133350" y="0"/>
                  </a:moveTo>
                  <a:cubicBezTo>
                    <a:pt x="143892" y="0"/>
                    <a:pt x="152400" y="8509"/>
                    <a:pt x="152400" y="19050"/>
                  </a:cubicBezTo>
                  <a:lnTo>
                    <a:pt x="152655" y="133350"/>
                  </a:lnTo>
                  <a:cubicBezTo>
                    <a:pt x="152655" y="138429"/>
                    <a:pt x="150622" y="143255"/>
                    <a:pt x="147067" y="146811"/>
                  </a:cubicBezTo>
                  <a:cubicBezTo>
                    <a:pt x="143510" y="150367"/>
                    <a:pt x="138684" y="152400"/>
                    <a:pt x="133605" y="152400"/>
                  </a:cubicBezTo>
                  <a:lnTo>
                    <a:pt x="19305" y="152653"/>
                  </a:lnTo>
                  <a:cubicBezTo>
                    <a:pt x="8763" y="152653"/>
                    <a:pt x="255" y="144145"/>
                    <a:pt x="255" y="133603"/>
                  </a:cubicBezTo>
                  <a:lnTo>
                    <a:pt x="0" y="19303"/>
                  </a:lnTo>
                  <a:cubicBezTo>
                    <a:pt x="0" y="14223"/>
                    <a:pt x="2033" y="9397"/>
                    <a:pt x="5588" y="5841"/>
                  </a:cubicBezTo>
                  <a:cubicBezTo>
                    <a:pt x="9145" y="2285"/>
                    <a:pt x="13971" y="253"/>
                    <a:pt x="19050" y="253"/>
                  </a:cubicBezTo>
                  <a:lnTo>
                    <a:pt x="133350" y="0"/>
                  </a:lnTo>
                  <a:close/>
                </a:path>
              </a:pathLst>
            </a:custGeom>
            <a:solidFill>
              <a:srgbClr val="97755B"/>
            </a:solidFill>
          </p:spPr>
          <p:txBody>
            <a:bodyPr/>
            <a:lstStyle/>
            <a:p>
              <a:endParaRPr lang="en-US"/>
            </a:p>
          </p:txBody>
        </p:sp>
      </p:grpSp>
      <p:grpSp>
        <p:nvGrpSpPr>
          <p:cNvPr id="7" name="Group 7"/>
          <p:cNvGrpSpPr/>
          <p:nvPr/>
        </p:nvGrpSpPr>
        <p:grpSpPr>
          <a:xfrm>
            <a:off x="10191140" y="318327"/>
            <a:ext cx="6975920" cy="9678636"/>
            <a:chOff x="0" y="0"/>
            <a:chExt cx="9301226" cy="12904848"/>
          </a:xfrm>
        </p:grpSpPr>
        <p:sp>
          <p:nvSpPr>
            <p:cNvPr id="8" name="Freeform 8"/>
            <p:cNvSpPr/>
            <p:nvPr/>
          </p:nvSpPr>
          <p:spPr>
            <a:xfrm>
              <a:off x="0" y="0"/>
              <a:ext cx="9301226" cy="12904848"/>
            </a:xfrm>
            <a:custGeom>
              <a:avLst/>
              <a:gdLst/>
              <a:ahLst/>
              <a:cxnLst/>
              <a:rect l="l" t="t" r="r" b="b"/>
              <a:pathLst>
                <a:path w="9301226" h="12344400">
                  <a:moveTo>
                    <a:pt x="2306066" y="0"/>
                  </a:moveTo>
                  <a:lnTo>
                    <a:pt x="0" y="12344400"/>
                  </a:lnTo>
                  <a:lnTo>
                    <a:pt x="6995160" y="12344400"/>
                  </a:lnTo>
                  <a:lnTo>
                    <a:pt x="9301226" y="0"/>
                  </a:lnTo>
                  <a:close/>
                </a:path>
              </a:pathLst>
            </a:custGeom>
            <a:blipFill>
              <a:blip r:embed="rId2"/>
              <a:stretch>
                <a:fillRect l="-245" t="-1111" r="-422" b="-121"/>
              </a:stretch>
            </a:blipFill>
          </p:spPr>
          <p:txBody>
            <a:bodyPr/>
            <a:lstStyle/>
            <a:p>
              <a:endParaRPr lang="en-US"/>
            </a:p>
          </p:txBody>
        </p:sp>
      </p:grpSp>
      <p:grpSp>
        <p:nvGrpSpPr>
          <p:cNvPr id="9" name="Group 9"/>
          <p:cNvGrpSpPr/>
          <p:nvPr/>
        </p:nvGrpSpPr>
        <p:grpSpPr>
          <a:xfrm>
            <a:off x="-66551" y="7695267"/>
            <a:ext cx="2397242" cy="2658285"/>
            <a:chOff x="0" y="0"/>
            <a:chExt cx="2397239" cy="2658288"/>
          </a:xfrm>
        </p:grpSpPr>
        <p:sp>
          <p:nvSpPr>
            <p:cNvPr id="10" name="Freeform 10"/>
            <p:cNvSpPr/>
            <p:nvPr/>
          </p:nvSpPr>
          <p:spPr>
            <a:xfrm>
              <a:off x="66548" y="63500"/>
              <a:ext cx="2264664" cy="2528192"/>
            </a:xfrm>
            <a:custGeom>
              <a:avLst/>
              <a:gdLst/>
              <a:ahLst/>
              <a:cxnLst/>
              <a:rect l="l" t="t" r="r" b="b"/>
              <a:pathLst>
                <a:path w="2264664" h="2528192">
                  <a:moveTo>
                    <a:pt x="475107" y="0"/>
                  </a:moveTo>
                  <a:cubicBezTo>
                    <a:pt x="310769" y="0"/>
                    <a:pt x="151384" y="22225"/>
                    <a:pt x="0" y="63881"/>
                  </a:cubicBezTo>
                  <a:lnTo>
                    <a:pt x="0" y="368936"/>
                  </a:lnTo>
                  <a:cubicBezTo>
                    <a:pt x="149352" y="318897"/>
                    <a:pt x="309118" y="291846"/>
                    <a:pt x="475107" y="291846"/>
                  </a:cubicBezTo>
                  <a:cubicBezTo>
                    <a:pt x="1302258" y="291846"/>
                    <a:pt x="1975231" y="964820"/>
                    <a:pt x="1975231" y="1791972"/>
                  </a:cubicBezTo>
                  <a:cubicBezTo>
                    <a:pt x="1975231" y="2059308"/>
                    <a:pt x="1904873" y="2310641"/>
                    <a:pt x="1781810" y="2528192"/>
                  </a:cubicBezTo>
                  <a:lnTo>
                    <a:pt x="2108835" y="2528192"/>
                  </a:lnTo>
                  <a:cubicBezTo>
                    <a:pt x="2197989" y="2330961"/>
                    <a:pt x="2252599" y="2114934"/>
                    <a:pt x="2264664" y="1887731"/>
                  </a:cubicBezTo>
                  <a:lnTo>
                    <a:pt x="2264664" y="1696214"/>
                  </a:lnTo>
                  <a:cubicBezTo>
                    <a:pt x="2214626" y="752476"/>
                    <a:pt x="1431163" y="0"/>
                    <a:pt x="475107" y="0"/>
                  </a:cubicBezTo>
                  <a:close/>
                </a:path>
              </a:pathLst>
            </a:custGeom>
            <a:solidFill>
              <a:srgbClr val="E1BE9B"/>
            </a:solidFill>
          </p:spPr>
          <p:txBody>
            <a:bodyPr/>
            <a:lstStyle/>
            <a:p>
              <a:endParaRPr lang="en-US"/>
            </a:p>
          </p:txBody>
        </p:sp>
        <p:sp>
          <p:nvSpPr>
            <p:cNvPr id="11" name="Freeform 11"/>
            <p:cNvSpPr/>
            <p:nvPr/>
          </p:nvSpPr>
          <p:spPr>
            <a:xfrm>
              <a:off x="66548" y="433325"/>
              <a:ext cx="1896999" cy="2158368"/>
            </a:xfrm>
            <a:custGeom>
              <a:avLst/>
              <a:gdLst/>
              <a:ahLst/>
              <a:cxnLst/>
              <a:rect l="l" t="t" r="r" b="b"/>
              <a:pathLst>
                <a:path w="1896999" h="2158368">
                  <a:moveTo>
                    <a:pt x="475107" y="0"/>
                  </a:moveTo>
                  <a:cubicBezTo>
                    <a:pt x="451866" y="0"/>
                    <a:pt x="428625" y="508"/>
                    <a:pt x="405384" y="1651"/>
                  </a:cubicBezTo>
                  <a:cubicBezTo>
                    <a:pt x="382143" y="2794"/>
                    <a:pt x="358902" y="4445"/>
                    <a:pt x="335788" y="6731"/>
                  </a:cubicBezTo>
                  <a:cubicBezTo>
                    <a:pt x="312674" y="9017"/>
                    <a:pt x="289560" y="11811"/>
                    <a:pt x="266573" y="15240"/>
                  </a:cubicBezTo>
                  <a:cubicBezTo>
                    <a:pt x="243586" y="18669"/>
                    <a:pt x="220599" y="22606"/>
                    <a:pt x="197739" y="27178"/>
                  </a:cubicBezTo>
                  <a:cubicBezTo>
                    <a:pt x="174879" y="31750"/>
                    <a:pt x="152273" y="36830"/>
                    <a:pt x="129667" y="42418"/>
                  </a:cubicBezTo>
                  <a:cubicBezTo>
                    <a:pt x="107061" y="48006"/>
                    <a:pt x="84709" y="54229"/>
                    <a:pt x="62357" y="61087"/>
                  </a:cubicBezTo>
                  <a:cubicBezTo>
                    <a:pt x="41402" y="67437"/>
                    <a:pt x="20574" y="74295"/>
                    <a:pt x="0" y="81534"/>
                  </a:cubicBezTo>
                  <a:lnTo>
                    <a:pt x="0" y="2158367"/>
                  </a:lnTo>
                  <a:lnTo>
                    <a:pt x="1691767" y="2158367"/>
                  </a:lnTo>
                  <a:cubicBezTo>
                    <a:pt x="1692783" y="2156589"/>
                    <a:pt x="1693799" y="2154938"/>
                    <a:pt x="1694815" y="2153160"/>
                  </a:cubicBezTo>
                  <a:cubicBezTo>
                    <a:pt x="1706753" y="2133221"/>
                    <a:pt x="1718310" y="2112901"/>
                    <a:pt x="1729232" y="2092454"/>
                  </a:cubicBezTo>
                  <a:cubicBezTo>
                    <a:pt x="1740154" y="2072007"/>
                    <a:pt x="1750695" y="2051179"/>
                    <a:pt x="1760601" y="2030097"/>
                  </a:cubicBezTo>
                  <a:cubicBezTo>
                    <a:pt x="1770507" y="2009015"/>
                    <a:pt x="1780032" y="1987806"/>
                    <a:pt x="1788922" y="1966343"/>
                  </a:cubicBezTo>
                  <a:cubicBezTo>
                    <a:pt x="1797812" y="1944880"/>
                    <a:pt x="1806194" y="1923163"/>
                    <a:pt x="1814068" y="1901192"/>
                  </a:cubicBezTo>
                  <a:cubicBezTo>
                    <a:pt x="1821942" y="1879221"/>
                    <a:pt x="1829181" y="1857123"/>
                    <a:pt x="1835912" y="1834898"/>
                  </a:cubicBezTo>
                  <a:cubicBezTo>
                    <a:pt x="1842643" y="1812673"/>
                    <a:pt x="1848866" y="1790194"/>
                    <a:pt x="1854581" y="1767588"/>
                  </a:cubicBezTo>
                  <a:cubicBezTo>
                    <a:pt x="1860296" y="1744982"/>
                    <a:pt x="1865376" y="1722249"/>
                    <a:pt x="1869821" y="1699516"/>
                  </a:cubicBezTo>
                  <a:cubicBezTo>
                    <a:pt x="1874266" y="1676783"/>
                    <a:pt x="1878330" y="1653796"/>
                    <a:pt x="1881759" y="1630682"/>
                  </a:cubicBezTo>
                  <a:cubicBezTo>
                    <a:pt x="1885188" y="1607568"/>
                    <a:pt x="1887982" y="1584581"/>
                    <a:pt x="1890268" y="1561467"/>
                  </a:cubicBezTo>
                  <a:cubicBezTo>
                    <a:pt x="1892554" y="1538353"/>
                    <a:pt x="1894205" y="1515112"/>
                    <a:pt x="1895348" y="1491871"/>
                  </a:cubicBezTo>
                  <a:cubicBezTo>
                    <a:pt x="1896491" y="1468630"/>
                    <a:pt x="1896999" y="1445389"/>
                    <a:pt x="1896999" y="1422147"/>
                  </a:cubicBezTo>
                  <a:cubicBezTo>
                    <a:pt x="1896999" y="1398906"/>
                    <a:pt x="1896491" y="1375665"/>
                    <a:pt x="1895348" y="1352424"/>
                  </a:cubicBezTo>
                  <a:cubicBezTo>
                    <a:pt x="1894205" y="1329184"/>
                    <a:pt x="1892554" y="1305942"/>
                    <a:pt x="1890268" y="1282828"/>
                  </a:cubicBezTo>
                  <a:cubicBezTo>
                    <a:pt x="1887982" y="1259714"/>
                    <a:pt x="1885188" y="1236600"/>
                    <a:pt x="1881759" y="1213613"/>
                  </a:cubicBezTo>
                  <a:cubicBezTo>
                    <a:pt x="1878330" y="1190626"/>
                    <a:pt x="1874393" y="1167639"/>
                    <a:pt x="1869821" y="1144779"/>
                  </a:cubicBezTo>
                  <a:cubicBezTo>
                    <a:pt x="1865249" y="1121919"/>
                    <a:pt x="1860169" y="1099313"/>
                    <a:pt x="1854581" y="1076707"/>
                  </a:cubicBezTo>
                  <a:cubicBezTo>
                    <a:pt x="1848993" y="1054101"/>
                    <a:pt x="1842770" y="1031749"/>
                    <a:pt x="1835912" y="1009397"/>
                  </a:cubicBezTo>
                  <a:cubicBezTo>
                    <a:pt x="1829054" y="987045"/>
                    <a:pt x="1821815" y="965074"/>
                    <a:pt x="1814068" y="943103"/>
                  </a:cubicBezTo>
                  <a:cubicBezTo>
                    <a:pt x="1806321" y="921132"/>
                    <a:pt x="1797812" y="899542"/>
                    <a:pt x="1788922" y="877952"/>
                  </a:cubicBezTo>
                  <a:cubicBezTo>
                    <a:pt x="1780032" y="856362"/>
                    <a:pt x="1770634" y="835153"/>
                    <a:pt x="1760601" y="814198"/>
                  </a:cubicBezTo>
                  <a:cubicBezTo>
                    <a:pt x="1750568" y="793243"/>
                    <a:pt x="1740154" y="772415"/>
                    <a:pt x="1729232" y="751841"/>
                  </a:cubicBezTo>
                  <a:cubicBezTo>
                    <a:pt x="1718310" y="731267"/>
                    <a:pt x="1706753" y="711074"/>
                    <a:pt x="1694815" y="691135"/>
                  </a:cubicBezTo>
                  <a:cubicBezTo>
                    <a:pt x="1682877" y="671196"/>
                    <a:pt x="1670431" y="651510"/>
                    <a:pt x="1657477" y="632206"/>
                  </a:cubicBezTo>
                  <a:cubicBezTo>
                    <a:pt x="1644523" y="612902"/>
                    <a:pt x="1631188" y="593852"/>
                    <a:pt x="1617345" y="575183"/>
                  </a:cubicBezTo>
                  <a:cubicBezTo>
                    <a:pt x="1603502" y="556514"/>
                    <a:pt x="1589151" y="538099"/>
                    <a:pt x="1574419" y="520192"/>
                  </a:cubicBezTo>
                  <a:cubicBezTo>
                    <a:pt x="1559687" y="502285"/>
                    <a:pt x="1544447" y="484632"/>
                    <a:pt x="1528826" y="467360"/>
                  </a:cubicBezTo>
                  <a:cubicBezTo>
                    <a:pt x="1513205" y="450088"/>
                    <a:pt x="1497203" y="433324"/>
                    <a:pt x="1480693" y="416814"/>
                  </a:cubicBezTo>
                  <a:cubicBezTo>
                    <a:pt x="1464183" y="400304"/>
                    <a:pt x="1447419" y="384302"/>
                    <a:pt x="1430147" y="368681"/>
                  </a:cubicBezTo>
                  <a:cubicBezTo>
                    <a:pt x="1412875" y="353060"/>
                    <a:pt x="1395222" y="337820"/>
                    <a:pt x="1377315" y="323088"/>
                  </a:cubicBezTo>
                  <a:cubicBezTo>
                    <a:pt x="1359408" y="308356"/>
                    <a:pt x="1340993" y="294005"/>
                    <a:pt x="1322324" y="280162"/>
                  </a:cubicBezTo>
                  <a:cubicBezTo>
                    <a:pt x="1303655" y="266319"/>
                    <a:pt x="1284605" y="252857"/>
                    <a:pt x="1265301" y="240030"/>
                  </a:cubicBezTo>
                  <a:cubicBezTo>
                    <a:pt x="1245997" y="227203"/>
                    <a:pt x="1226312" y="214630"/>
                    <a:pt x="1206373" y="202692"/>
                  </a:cubicBezTo>
                  <a:cubicBezTo>
                    <a:pt x="1186434" y="190754"/>
                    <a:pt x="1166114" y="179197"/>
                    <a:pt x="1145667" y="168275"/>
                  </a:cubicBezTo>
                  <a:cubicBezTo>
                    <a:pt x="1125220" y="157353"/>
                    <a:pt x="1104392" y="146812"/>
                    <a:pt x="1083310" y="136906"/>
                  </a:cubicBezTo>
                  <a:cubicBezTo>
                    <a:pt x="1062228" y="127000"/>
                    <a:pt x="1041019" y="117475"/>
                    <a:pt x="1019556" y="108585"/>
                  </a:cubicBezTo>
                  <a:cubicBezTo>
                    <a:pt x="998093" y="99695"/>
                    <a:pt x="976376" y="91313"/>
                    <a:pt x="954405" y="83439"/>
                  </a:cubicBezTo>
                  <a:cubicBezTo>
                    <a:pt x="932434" y="75565"/>
                    <a:pt x="910336" y="68326"/>
                    <a:pt x="888111" y="61595"/>
                  </a:cubicBezTo>
                  <a:cubicBezTo>
                    <a:pt x="865886" y="54864"/>
                    <a:pt x="843407" y="48641"/>
                    <a:pt x="820801" y="42926"/>
                  </a:cubicBezTo>
                  <a:cubicBezTo>
                    <a:pt x="798195" y="37211"/>
                    <a:pt x="775462" y="32131"/>
                    <a:pt x="752729" y="27686"/>
                  </a:cubicBezTo>
                  <a:cubicBezTo>
                    <a:pt x="729996" y="23241"/>
                    <a:pt x="707009" y="19177"/>
                    <a:pt x="683895" y="15748"/>
                  </a:cubicBezTo>
                  <a:cubicBezTo>
                    <a:pt x="660781" y="12319"/>
                    <a:pt x="637794" y="9525"/>
                    <a:pt x="614680" y="7239"/>
                  </a:cubicBezTo>
                  <a:cubicBezTo>
                    <a:pt x="591566" y="4953"/>
                    <a:pt x="568325" y="3302"/>
                    <a:pt x="545084" y="2159"/>
                  </a:cubicBezTo>
                  <a:cubicBezTo>
                    <a:pt x="521843" y="1016"/>
                    <a:pt x="498602" y="508"/>
                    <a:pt x="475361" y="508"/>
                  </a:cubicBezTo>
                  <a:close/>
                </a:path>
              </a:pathLst>
            </a:custGeom>
            <a:solidFill>
              <a:srgbClr val="E1BE9B"/>
            </a:solidFill>
          </p:spPr>
          <p:txBody>
            <a:bodyPr/>
            <a:lstStyle/>
            <a:p>
              <a:endParaRPr lang="en-US"/>
            </a:p>
          </p:txBody>
        </p:sp>
        <p:sp>
          <p:nvSpPr>
            <p:cNvPr id="12" name="Freeform 12"/>
            <p:cNvSpPr/>
            <p:nvPr/>
          </p:nvSpPr>
          <p:spPr>
            <a:xfrm>
              <a:off x="66548" y="63500"/>
              <a:ext cx="2267204" cy="2528192"/>
            </a:xfrm>
            <a:custGeom>
              <a:avLst/>
              <a:gdLst/>
              <a:ahLst/>
              <a:cxnLst/>
              <a:rect l="l" t="t" r="r" b="b"/>
              <a:pathLst>
                <a:path w="2267204" h="2528192">
                  <a:moveTo>
                    <a:pt x="0" y="0"/>
                  </a:moveTo>
                  <a:lnTo>
                    <a:pt x="0" y="2528192"/>
                  </a:lnTo>
                  <a:lnTo>
                    <a:pt x="2267204" y="2528192"/>
                  </a:lnTo>
                  <a:lnTo>
                    <a:pt x="2267204" y="0"/>
                  </a:lnTo>
                  <a:close/>
                </a:path>
              </a:pathLst>
            </a:custGeom>
            <a:solidFill>
              <a:srgbClr val="000000">
                <a:alpha val="0"/>
              </a:srgbClr>
            </a:solidFill>
          </p:spPr>
          <p:txBody>
            <a:bodyPr/>
            <a:lstStyle/>
            <a:p>
              <a:endParaRPr lang="en-US"/>
            </a:p>
          </p:txBody>
        </p:sp>
      </p:grpSp>
      <p:grpSp>
        <p:nvGrpSpPr>
          <p:cNvPr id="13" name="Group 13"/>
          <p:cNvGrpSpPr/>
          <p:nvPr/>
        </p:nvGrpSpPr>
        <p:grpSpPr>
          <a:xfrm>
            <a:off x="8511807" y="672732"/>
            <a:ext cx="1476261" cy="1476261"/>
            <a:chOff x="0" y="0"/>
            <a:chExt cx="1476261" cy="1476261"/>
          </a:xfrm>
        </p:grpSpPr>
        <p:sp>
          <p:nvSpPr>
            <p:cNvPr id="14" name="Freeform 14"/>
            <p:cNvSpPr/>
            <p:nvPr/>
          </p:nvSpPr>
          <p:spPr>
            <a:xfrm>
              <a:off x="63500" y="63500"/>
              <a:ext cx="1349125" cy="1349125"/>
            </a:xfrm>
            <a:custGeom>
              <a:avLst/>
              <a:gdLst/>
              <a:ahLst/>
              <a:cxnLst/>
              <a:rect l="l" t="t" r="r" b="b"/>
              <a:pathLst>
                <a:path w="1349125" h="1349125">
                  <a:moveTo>
                    <a:pt x="674626" y="0"/>
                  </a:moveTo>
                  <a:cubicBezTo>
                    <a:pt x="302642" y="0"/>
                    <a:pt x="0" y="302642"/>
                    <a:pt x="0" y="674626"/>
                  </a:cubicBezTo>
                  <a:cubicBezTo>
                    <a:pt x="0" y="1046610"/>
                    <a:pt x="302642" y="1349125"/>
                    <a:pt x="674626" y="1349125"/>
                  </a:cubicBezTo>
                  <a:cubicBezTo>
                    <a:pt x="1046610" y="1349125"/>
                    <a:pt x="1349125" y="1046483"/>
                    <a:pt x="1349125" y="674626"/>
                  </a:cubicBezTo>
                  <a:cubicBezTo>
                    <a:pt x="1349125" y="302769"/>
                    <a:pt x="1046483" y="0"/>
                    <a:pt x="674626" y="0"/>
                  </a:cubicBezTo>
                  <a:close/>
                  <a:moveTo>
                    <a:pt x="674626" y="1239270"/>
                  </a:moveTo>
                  <a:cubicBezTo>
                    <a:pt x="363221" y="1239270"/>
                    <a:pt x="109855" y="985904"/>
                    <a:pt x="109855" y="674626"/>
                  </a:cubicBezTo>
                  <a:cubicBezTo>
                    <a:pt x="109855" y="363348"/>
                    <a:pt x="363221" y="109856"/>
                    <a:pt x="674626" y="109856"/>
                  </a:cubicBezTo>
                  <a:cubicBezTo>
                    <a:pt x="986031" y="109856"/>
                    <a:pt x="1239270" y="363221"/>
                    <a:pt x="1239270" y="674626"/>
                  </a:cubicBezTo>
                  <a:cubicBezTo>
                    <a:pt x="1239270" y="986031"/>
                    <a:pt x="985904" y="1239270"/>
                    <a:pt x="674626" y="1239270"/>
                  </a:cubicBezTo>
                  <a:close/>
                </a:path>
              </a:pathLst>
            </a:custGeom>
            <a:solidFill>
              <a:srgbClr val="E1BE9B"/>
            </a:solidFill>
          </p:spPr>
          <p:txBody>
            <a:bodyPr/>
            <a:lstStyle/>
            <a:p>
              <a:endParaRPr lang="en-US"/>
            </a:p>
          </p:txBody>
        </p:sp>
        <p:sp>
          <p:nvSpPr>
            <p:cNvPr id="15" name="Freeform 15"/>
            <p:cNvSpPr/>
            <p:nvPr/>
          </p:nvSpPr>
          <p:spPr>
            <a:xfrm>
              <a:off x="202820" y="202820"/>
              <a:ext cx="1070613" cy="1070613"/>
            </a:xfrm>
            <a:custGeom>
              <a:avLst/>
              <a:gdLst/>
              <a:ahLst/>
              <a:cxnLst/>
              <a:rect l="l" t="t" r="r" b="b"/>
              <a:pathLst>
                <a:path w="1070613" h="1070613">
                  <a:moveTo>
                    <a:pt x="1070613" y="535306"/>
                  </a:moveTo>
                  <a:cubicBezTo>
                    <a:pt x="1070613" y="552832"/>
                    <a:pt x="1069724" y="570358"/>
                    <a:pt x="1068073" y="587757"/>
                  </a:cubicBezTo>
                  <a:cubicBezTo>
                    <a:pt x="1066422" y="605156"/>
                    <a:pt x="1063755" y="622555"/>
                    <a:pt x="1060326" y="639700"/>
                  </a:cubicBezTo>
                  <a:cubicBezTo>
                    <a:pt x="1056897" y="656846"/>
                    <a:pt x="1052706" y="673864"/>
                    <a:pt x="1047499" y="690628"/>
                  </a:cubicBezTo>
                  <a:cubicBezTo>
                    <a:pt x="1042291" y="707392"/>
                    <a:pt x="1036450" y="723902"/>
                    <a:pt x="1029846" y="740031"/>
                  </a:cubicBezTo>
                  <a:cubicBezTo>
                    <a:pt x="1023241" y="756160"/>
                    <a:pt x="1015622" y="772035"/>
                    <a:pt x="1007366" y="787529"/>
                  </a:cubicBezTo>
                  <a:cubicBezTo>
                    <a:pt x="999111" y="803023"/>
                    <a:pt x="990094" y="818009"/>
                    <a:pt x="980315" y="832614"/>
                  </a:cubicBezTo>
                  <a:cubicBezTo>
                    <a:pt x="970536" y="847219"/>
                    <a:pt x="960122" y="861316"/>
                    <a:pt x="949073" y="874778"/>
                  </a:cubicBezTo>
                  <a:cubicBezTo>
                    <a:pt x="938024" y="888240"/>
                    <a:pt x="926213" y="901321"/>
                    <a:pt x="913767" y="913767"/>
                  </a:cubicBezTo>
                  <a:cubicBezTo>
                    <a:pt x="901321" y="926213"/>
                    <a:pt x="888367" y="937897"/>
                    <a:pt x="874778" y="949073"/>
                  </a:cubicBezTo>
                  <a:cubicBezTo>
                    <a:pt x="861189" y="960249"/>
                    <a:pt x="847219" y="970663"/>
                    <a:pt x="832614" y="980315"/>
                  </a:cubicBezTo>
                  <a:cubicBezTo>
                    <a:pt x="818009" y="989967"/>
                    <a:pt x="803023" y="999111"/>
                    <a:pt x="787529" y="1007366"/>
                  </a:cubicBezTo>
                  <a:cubicBezTo>
                    <a:pt x="772035" y="1015622"/>
                    <a:pt x="756287" y="1023115"/>
                    <a:pt x="740031" y="1029846"/>
                  </a:cubicBezTo>
                  <a:cubicBezTo>
                    <a:pt x="723775" y="1036577"/>
                    <a:pt x="707392" y="1042419"/>
                    <a:pt x="690628" y="1047499"/>
                  </a:cubicBezTo>
                  <a:cubicBezTo>
                    <a:pt x="673864" y="1052579"/>
                    <a:pt x="656845" y="1056897"/>
                    <a:pt x="639700" y="1060326"/>
                  </a:cubicBezTo>
                  <a:cubicBezTo>
                    <a:pt x="622555" y="1063755"/>
                    <a:pt x="605156" y="1066295"/>
                    <a:pt x="587757" y="1068073"/>
                  </a:cubicBezTo>
                  <a:cubicBezTo>
                    <a:pt x="570358" y="1069851"/>
                    <a:pt x="552832" y="1070613"/>
                    <a:pt x="535306" y="1070613"/>
                  </a:cubicBezTo>
                  <a:cubicBezTo>
                    <a:pt x="517780" y="1070613"/>
                    <a:pt x="500254" y="1069724"/>
                    <a:pt x="482855" y="1068073"/>
                  </a:cubicBezTo>
                  <a:cubicBezTo>
                    <a:pt x="465456" y="1066422"/>
                    <a:pt x="448057" y="1063755"/>
                    <a:pt x="430912" y="1060326"/>
                  </a:cubicBezTo>
                  <a:cubicBezTo>
                    <a:pt x="413767" y="1056897"/>
                    <a:pt x="396749" y="1052706"/>
                    <a:pt x="379985" y="1047499"/>
                  </a:cubicBezTo>
                  <a:cubicBezTo>
                    <a:pt x="363221" y="1042292"/>
                    <a:pt x="346711" y="1036450"/>
                    <a:pt x="330582" y="1029846"/>
                  </a:cubicBezTo>
                  <a:cubicBezTo>
                    <a:pt x="314452" y="1023242"/>
                    <a:pt x="298577" y="1015622"/>
                    <a:pt x="283083" y="1007366"/>
                  </a:cubicBezTo>
                  <a:cubicBezTo>
                    <a:pt x="267589" y="999111"/>
                    <a:pt x="252603" y="990094"/>
                    <a:pt x="237998" y="980315"/>
                  </a:cubicBezTo>
                  <a:cubicBezTo>
                    <a:pt x="223393" y="970536"/>
                    <a:pt x="209296" y="960122"/>
                    <a:pt x="195834" y="949073"/>
                  </a:cubicBezTo>
                  <a:cubicBezTo>
                    <a:pt x="182372" y="938024"/>
                    <a:pt x="169291" y="926213"/>
                    <a:pt x="156845" y="913767"/>
                  </a:cubicBezTo>
                  <a:cubicBezTo>
                    <a:pt x="144399" y="901321"/>
                    <a:pt x="132715" y="888367"/>
                    <a:pt x="121539" y="874778"/>
                  </a:cubicBezTo>
                  <a:cubicBezTo>
                    <a:pt x="110363" y="861189"/>
                    <a:pt x="99949" y="847219"/>
                    <a:pt x="90297" y="832614"/>
                  </a:cubicBezTo>
                  <a:cubicBezTo>
                    <a:pt x="80645" y="818009"/>
                    <a:pt x="71501" y="803023"/>
                    <a:pt x="63246" y="787529"/>
                  </a:cubicBezTo>
                  <a:cubicBezTo>
                    <a:pt x="54991" y="772035"/>
                    <a:pt x="47498" y="756287"/>
                    <a:pt x="40767" y="740031"/>
                  </a:cubicBezTo>
                  <a:cubicBezTo>
                    <a:pt x="34036" y="723775"/>
                    <a:pt x="28194" y="707392"/>
                    <a:pt x="23114" y="690628"/>
                  </a:cubicBezTo>
                  <a:cubicBezTo>
                    <a:pt x="18034" y="673864"/>
                    <a:pt x="13716" y="656846"/>
                    <a:pt x="10287" y="639700"/>
                  </a:cubicBezTo>
                  <a:cubicBezTo>
                    <a:pt x="6858" y="622555"/>
                    <a:pt x="4318" y="605156"/>
                    <a:pt x="2540" y="587757"/>
                  </a:cubicBezTo>
                  <a:cubicBezTo>
                    <a:pt x="762" y="570358"/>
                    <a:pt x="0" y="552832"/>
                    <a:pt x="0" y="535306"/>
                  </a:cubicBezTo>
                  <a:cubicBezTo>
                    <a:pt x="0" y="517780"/>
                    <a:pt x="889" y="500254"/>
                    <a:pt x="2540" y="482855"/>
                  </a:cubicBezTo>
                  <a:cubicBezTo>
                    <a:pt x="4191" y="465456"/>
                    <a:pt x="6858" y="448057"/>
                    <a:pt x="10287" y="430912"/>
                  </a:cubicBezTo>
                  <a:cubicBezTo>
                    <a:pt x="13716" y="413767"/>
                    <a:pt x="17907" y="396749"/>
                    <a:pt x="23114" y="379985"/>
                  </a:cubicBezTo>
                  <a:cubicBezTo>
                    <a:pt x="28321" y="363221"/>
                    <a:pt x="34163" y="346711"/>
                    <a:pt x="40767" y="330582"/>
                  </a:cubicBezTo>
                  <a:cubicBezTo>
                    <a:pt x="47371" y="314452"/>
                    <a:pt x="54991" y="298577"/>
                    <a:pt x="63246" y="283083"/>
                  </a:cubicBezTo>
                  <a:cubicBezTo>
                    <a:pt x="71501" y="267589"/>
                    <a:pt x="80518" y="252603"/>
                    <a:pt x="90297" y="237998"/>
                  </a:cubicBezTo>
                  <a:cubicBezTo>
                    <a:pt x="100076" y="223393"/>
                    <a:pt x="110490" y="209296"/>
                    <a:pt x="121539" y="195834"/>
                  </a:cubicBezTo>
                  <a:cubicBezTo>
                    <a:pt x="132588" y="182372"/>
                    <a:pt x="144399" y="169291"/>
                    <a:pt x="156845" y="156845"/>
                  </a:cubicBezTo>
                  <a:cubicBezTo>
                    <a:pt x="169291" y="144399"/>
                    <a:pt x="182245" y="132715"/>
                    <a:pt x="195834" y="121539"/>
                  </a:cubicBezTo>
                  <a:cubicBezTo>
                    <a:pt x="209423" y="110363"/>
                    <a:pt x="223393" y="99949"/>
                    <a:pt x="237998" y="90297"/>
                  </a:cubicBezTo>
                  <a:cubicBezTo>
                    <a:pt x="252603" y="80645"/>
                    <a:pt x="267589" y="71501"/>
                    <a:pt x="283083" y="63246"/>
                  </a:cubicBezTo>
                  <a:cubicBezTo>
                    <a:pt x="298577" y="54991"/>
                    <a:pt x="314325" y="47498"/>
                    <a:pt x="330582" y="40767"/>
                  </a:cubicBezTo>
                  <a:cubicBezTo>
                    <a:pt x="346838" y="34036"/>
                    <a:pt x="363221" y="28194"/>
                    <a:pt x="379985" y="23114"/>
                  </a:cubicBezTo>
                  <a:cubicBezTo>
                    <a:pt x="396749" y="18034"/>
                    <a:pt x="413767" y="13716"/>
                    <a:pt x="430912" y="10287"/>
                  </a:cubicBezTo>
                  <a:cubicBezTo>
                    <a:pt x="448057" y="6858"/>
                    <a:pt x="465456" y="4318"/>
                    <a:pt x="482855" y="2540"/>
                  </a:cubicBezTo>
                  <a:cubicBezTo>
                    <a:pt x="500254" y="762"/>
                    <a:pt x="517780" y="0"/>
                    <a:pt x="535306" y="0"/>
                  </a:cubicBezTo>
                  <a:cubicBezTo>
                    <a:pt x="552832" y="0"/>
                    <a:pt x="570358" y="889"/>
                    <a:pt x="587757" y="2540"/>
                  </a:cubicBezTo>
                  <a:cubicBezTo>
                    <a:pt x="605156" y="4191"/>
                    <a:pt x="622555" y="6858"/>
                    <a:pt x="639700" y="10287"/>
                  </a:cubicBezTo>
                  <a:cubicBezTo>
                    <a:pt x="656845" y="13716"/>
                    <a:pt x="673864" y="17907"/>
                    <a:pt x="690628" y="23114"/>
                  </a:cubicBezTo>
                  <a:cubicBezTo>
                    <a:pt x="707392" y="28321"/>
                    <a:pt x="723902" y="34163"/>
                    <a:pt x="740031" y="40767"/>
                  </a:cubicBezTo>
                  <a:cubicBezTo>
                    <a:pt x="756160" y="47371"/>
                    <a:pt x="772035" y="54991"/>
                    <a:pt x="787529" y="63246"/>
                  </a:cubicBezTo>
                  <a:cubicBezTo>
                    <a:pt x="803023" y="71501"/>
                    <a:pt x="818009" y="80518"/>
                    <a:pt x="832614" y="90297"/>
                  </a:cubicBezTo>
                  <a:cubicBezTo>
                    <a:pt x="847219" y="100076"/>
                    <a:pt x="861316" y="110490"/>
                    <a:pt x="874778" y="121539"/>
                  </a:cubicBezTo>
                  <a:cubicBezTo>
                    <a:pt x="888240" y="132588"/>
                    <a:pt x="901321" y="144399"/>
                    <a:pt x="913767" y="156845"/>
                  </a:cubicBezTo>
                  <a:cubicBezTo>
                    <a:pt x="926213" y="169291"/>
                    <a:pt x="937897" y="182245"/>
                    <a:pt x="949073" y="195834"/>
                  </a:cubicBezTo>
                  <a:cubicBezTo>
                    <a:pt x="960249" y="209423"/>
                    <a:pt x="970663" y="223393"/>
                    <a:pt x="980315" y="237998"/>
                  </a:cubicBezTo>
                  <a:cubicBezTo>
                    <a:pt x="989967" y="252603"/>
                    <a:pt x="999111" y="267589"/>
                    <a:pt x="1007366" y="283083"/>
                  </a:cubicBezTo>
                  <a:cubicBezTo>
                    <a:pt x="1015622" y="298577"/>
                    <a:pt x="1023115" y="314325"/>
                    <a:pt x="1029846" y="330582"/>
                  </a:cubicBezTo>
                  <a:cubicBezTo>
                    <a:pt x="1036577" y="346838"/>
                    <a:pt x="1042419" y="363221"/>
                    <a:pt x="1047499" y="379985"/>
                  </a:cubicBezTo>
                  <a:cubicBezTo>
                    <a:pt x="1052579" y="396749"/>
                    <a:pt x="1056897" y="413767"/>
                    <a:pt x="1060326" y="430912"/>
                  </a:cubicBezTo>
                  <a:cubicBezTo>
                    <a:pt x="1063755" y="448057"/>
                    <a:pt x="1066295" y="465456"/>
                    <a:pt x="1068073" y="482855"/>
                  </a:cubicBezTo>
                  <a:cubicBezTo>
                    <a:pt x="1069851" y="500254"/>
                    <a:pt x="1070613" y="517780"/>
                    <a:pt x="1070613" y="535306"/>
                  </a:cubicBezTo>
                  <a:close/>
                </a:path>
              </a:pathLst>
            </a:custGeom>
            <a:solidFill>
              <a:srgbClr val="E1BE9B"/>
            </a:solidFill>
          </p:spPr>
          <p:txBody>
            <a:bodyPr/>
            <a:lstStyle/>
            <a:p>
              <a:endParaRPr lang="en-US"/>
            </a:p>
          </p:txBody>
        </p:sp>
        <p:sp>
          <p:nvSpPr>
            <p:cNvPr id="16" name="Freeform 16"/>
            <p:cNvSpPr/>
            <p:nvPr/>
          </p:nvSpPr>
          <p:spPr>
            <a:xfrm>
              <a:off x="63500" y="63500"/>
              <a:ext cx="1349252" cy="1349252"/>
            </a:xfrm>
            <a:custGeom>
              <a:avLst/>
              <a:gdLst/>
              <a:ahLst/>
              <a:cxnLst/>
              <a:rect l="l" t="t" r="r" b="b"/>
              <a:pathLst>
                <a:path w="1349252" h="1349252">
                  <a:moveTo>
                    <a:pt x="0" y="1349252"/>
                  </a:moveTo>
                  <a:lnTo>
                    <a:pt x="1349252" y="1349252"/>
                  </a:lnTo>
                  <a:lnTo>
                    <a:pt x="1349252" y="0"/>
                  </a:lnTo>
                  <a:lnTo>
                    <a:pt x="0" y="0"/>
                  </a:lnTo>
                  <a:close/>
                </a:path>
              </a:pathLst>
            </a:custGeom>
            <a:solidFill>
              <a:srgbClr val="000000">
                <a:alpha val="0"/>
              </a:srgbClr>
            </a:solidFill>
          </p:spPr>
          <p:txBody>
            <a:bodyPr/>
            <a:lstStyle/>
            <a:p>
              <a:endParaRPr lang="en-US"/>
            </a:p>
          </p:txBody>
        </p:sp>
      </p:grpSp>
      <p:grpSp>
        <p:nvGrpSpPr>
          <p:cNvPr id="17" name="Group 17"/>
          <p:cNvGrpSpPr/>
          <p:nvPr/>
        </p:nvGrpSpPr>
        <p:grpSpPr>
          <a:xfrm>
            <a:off x="241697" y="3895706"/>
            <a:ext cx="10842346" cy="38100"/>
            <a:chOff x="0" y="0"/>
            <a:chExt cx="10842346" cy="38100"/>
          </a:xfrm>
        </p:grpSpPr>
        <p:sp>
          <p:nvSpPr>
            <p:cNvPr id="18" name="Freeform 18"/>
            <p:cNvSpPr/>
            <p:nvPr/>
          </p:nvSpPr>
          <p:spPr>
            <a:xfrm>
              <a:off x="0" y="0"/>
              <a:ext cx="10842369" cy="38100"/>
            </a:xfrm>
            <a:custGeom>
              <a:avLst/>
              <a:gdLst/>
              <a:ahLst/>
              <a:cxnLst/>
              <a:rect l="l" t="t" r="r" b="b"/>
              <a:pathLst>
                <a:path w="10842369" h="38100">
                  <a:moveTo>
                    <a:pt x="0" y="38100"/>
                  </a:moveTo>
                  <a:lnTo>
                    <a:pt x="10842369" y="38100"/>
                  </a:lnTo>
                  <a:lnTo>
                    <a:pt x="10842369" y="0"/>
                  </a:lnTo>
                  <a:lnTo>
                    <a:pt x="0" y="0"/>
                  </a:lnTo>
                  <a:close/>
                </a:path>
              </a:pathLst>
            </a:custGeom>
            <a:solidFill>
              <a:srgbClr val="000000">
                <a:alpha val="0"/>
              </a:srgbClr>
            </a:solidFill>
          </p:spPr>
          <p:txBody>
            <a:bodyPr/>
            <a:lstStyle/>
            <a:p>
              <a:endParaRPr lang="en-US"/>
            </a:p>
          </p:txBody>
        </p:sp>
      </p:grpSp>
      <p:grpSp>
        <p:nvGrpSpPr>
          <p:cNvPr id="19" name="Group 19"/>
          <p:cNvGrpSpPr/>
          <p:nvPr/>
        </p:nvGrpSpPr>
        <p:grpSpPr>
          <a:xfrm>
            <a:off x="178165" y="5102552"/>
            <a:ext cx="10681183" cy="279606"/>
            <a:chOff x="0" y="0"/>
            <a:chExt cx="10681183" cy="279603"/>
          </a:xfrm>
        </p:grpSpPr>
        <p:sp>
          <p:nvSpPr>
            <p:cNvPr id="20" name="Freeform 20"/>
            <p:cNvSpPr/>
            <p:nvPr/>
          </p:nvSpPr>
          <p:spPr>
            <a:xfrm>
              <a:off x="63500" y="101853"/>
              <a:ext cx="10411207" cy="56895"/>
            </a:xfrm>
            <a:custGeom>
              <a:avLst/>
              <a:gdLst/>
              <a:ahLst/>
              <a:cxnLst/>
              <a:rect l="l" t="t" r="r" b="b"/>
              <a:pathLst>
                <a:path w="10411207" h="56895">
                  <a:moveTo>
                    <a:pt x="127" y="0"/>
                  </a:moveTo>
                  <a:lnTo>
                    <a:pt x="10411207" y="18796"/>
                  </a:lnTo>
                  <a:lnTo>
                    <a:pt x="10411080" y="56895"/>
                  </a:lnTo>
                  <a:lnTo>
                    <a:pt x="0" y="38100"/>
                  </a:lnTo>
                  <a:close/>
                </a:path>
              </a:pathLst>
            </a:custGeom>
            <a:solidFill>
              <a:srgbClr val="97755B"/>
            </a:solidFill>
          </p:spPr>
          <p:txBody>
            <a:bodyPr/>
            <a:lstStyle/>
            <a:p>
              <a:endParaRPr lang="en-US"/>
            </a:p>
          </p:txBody>
        </p:sp>
        <p:sp>
          <p:nvSpPr>
            <p:cNvPr id="21" name="Freeform 21"/>
            <p:cNvSpPr/>
            <p:nvPr/>
          </p:nvSpPr>
          <p:spPr>
            <a:xfrm>
              <a:off x="10484104" y="82549"/>
              <a:ext cx="114554" cy="114553"/>
            </a:xfrm>
            <a:custGeom>
              <a:avLst/>
              <a:gdLst/>
              <a:ahLst/>
              <a:cxnLst/>
              <a:rect l="l" t="t" r="r" b="b"/>
              <a:pathLst>
                <a:path w="114554" h="114553">
                  <a:moveTo>
                    <a:pt x="114554" y="254"/>
                  </a:moveTo>
                  <a:lnTo>
                    <a:pt x="254" y="0"/>
                  </a:lnTo>
                  <a:lnTo>
                    <a:pt x="0" y="114299"/>
                  </a:lnTo>
                  <a:lnTo>
                    <a:pt x="114300" y="114553"/>
                  </a:lnTo>
                  <a:lnTo>
                    <a:pt x="114554" y="254"/>
                  </a:lnTo>
                  <a:close/>
                </a:path>
              </a:pathLst>
            </a:custGeom>
            <a:solidFill>
              <a:srgbClr val="97755B"/>
            </a:solidFill>
          </p:spPr>
          <p:txBody>
            <a:bodyPr/>
            <a:lstStyle/>
            <a:p>
              <a:endParaRPr lang="en-US"/>
            </a:p>
          </p:txBody>
        </p:sp>
        <p:sp>
          <p:nvSpPr>
            <p:cNvPr id="22" name="Freeform 22"/>
            <p:cNvSpPr/>
            <p:nvPr/>
          </p:nvSpPr>
          <p:spPr>
            <a:xfrm>
              <a:off x="10465181" y="63499"/>
              <a:ext cx="152654" cy="152652"/>
            </a:xfrm>
            <a:custGeom>
              <a:avLst/>
              <a:gdLst/>
              <a:ahLst/>
              <a:cxnLst/>
              <a:rect l="l" t="t" r="r" b="b"/>
              <a:pathLst>
                <a:path w="152654" h="152652">
                  <a:moveTo>
                    <a:pt x="133477" y="38354"/>
                  </a:moveTo>
                  <a:lnTo>
                    <a:pt x="19177" y="38100"/>
                  </a:lnTo>
                  <a:lnTo>
                    <a:pt x="19177" y="19050"/>
                  </a:lnTo>
                  <a:lnTo>
                    <a:pt x="38227" y="19050"/>
                  </a:lnTo>
                  <a:lnTo>
                    <a:pt x="37973" y="133349"/>
                  </a:lnTo>
                  <a:lnTo>
                    <a:pt x="18923" y="133349"/>
                  </a:lnTo>
                  <a:lnTo>
                    <a:pt x="18923" y="114299"/>
                  </a:lnTo>
                  <a:lnTo>
                    <a:pt x="133223" y="114553"/>
                  </a:lnTo>
                  <a:lnTo>
                    <a:pt x="133223" y="133603"/>
                  </a:lnTo>
                  <a:lnTo>
                    <a:pt x="114173" y="133603"/>
                  </a:lnTo>
                  <a:lnTo>
                    <a:pt x="114427" y="19304"/>
                  </a:lnTo>
                  <a:lnTo>
                    <a:pt x="133477" y="19304"/>
                  </a:lnTo>
                  <a:lnTo>
                    <a:pt x="133477" y="38354"/>
                  </a:lnTo>
                  <a:moveTo>
                    <a:pt x="133605" y="254"/>
                  </a:moveTo>
                  <a:cubicBezTo>
                    <a:pt x="144146" y="254"/>
                    <a:pt x="152655" y="8763"/>
                    <a:pt x="152655" y="19304"/>
                  </a:cubicBezTo>
                  <a:lnTo>
                    <a:pt x="152400" y="133603"/>
                  </a:lnTo>
                  <a:cubicBezTo>
                    <a:pt x="152400" y="144144"/>
                    <a:pt x="143892" y="152653"/>
                    <a:pt x="133350" y="152653"/>
                  </a:cubicBezTo>
                  <a:lnTo>
                    <a:pt x="19050" y="152399"/>
                  </a:lnTo>
                  <a:cubicBezTo>
                    <a:pt x="13971" y="152399"/>
                    <a:pt x="9145" y="150367"/>
                    <a:pt x="5588" y="146811"/>
                  </a:cubicBezTo>
                  <a:cubicBezTo>
                    <a:pt x="2033" y="143255"/>
                    <a:pt x="0" y="138429"/>
                    <a:pt x="0" y="133349"/>
                  </a:cubicBezTo>
                  <a:lnTo>
                    <a:pt x="255" y="19050"/>
                  </a:lnTo>
                  <a:cubicBezTo>
                    <a:pt x="255" y="8509"/>
                    <a:pt x="8763" y="0"/>
                    <a:pt x="19305" y="0"/>
                  </a:cubicBezTo>
                  <a:lnTo>
                    <a:pt x="133605" y="254"/>
                  </a:lnTo>
                  <a:close/>
                </a:path>
              </a:pathLst>
            </a:custGeom>
            <a:solidFill>
              <a:srgbClr val="97755B"/>
            </a:solidFill>
          </p:spPr>
          <p:txBody>
            <a:bodyPr/>
            <a:lstStyle/>
            <a:p>
              <a:endParaRPr lang="en-US"/>
            </a:p>
          </p:txBody>
        </p:sp>
        <p:sp>
          <p:nvSpPr>
            <p:cNvPr id="23" name="Freeform 23"/>
            <p:cNvSpPr/>
            <p:nvPr/>
          </p:nvSpPr>
          <p:spPr>
            <a:xfrm>
              <a:off x="63500" y="101853"/>
              <a:ext cx="10554082" cy="38100"/>
            </a:xfrm>
            <a:custGeom>
              <a:avLst/>
              <a:gdLst/>
              <a:ahLst/>
              <a:cxnLst/>
              <a:rect l="l" t="t" r="r" b="b"/>
              <a:pathLst>
                <a:path w="10554082" h="38100">
                  <a:moveTo>
                    <a:pt x="0" y="38100"/>
                  </a:moveTo>
                  <a:lnTo>
                    <a:pt x="10554082" y="38100"/>
                  </a:lnTo>
                  <a:lnTo>
                    <a:pt x="10554082" y="0"/>
                  </a:lnTo>
                  <a:lnTo>
                    <a:pt x="0" y="0"/>
                  </a:lnTo>
                  <a:close/>
                </a:path>
              </a:pathLst>
            </a:custGeom>
            <a:solidFill>
              <a:srgbClr val="000000">
                <a:alpha val="0"/>
              </a:srgbClr>
            </a:solidFill>
          </p:spPr>
          <p:txBody>
            <a:bodyPr/>
            <a:lstStyle/>
            <a:p>
              <a:endParaRPr lang="en-US"/>
            </a:p>
          </p:txBody>
        </p:sp>
      </p:grpSp>
      <p:sp>
        <p:nvSpPr>
          <p:cNvPr id="24" name="TextBox 24"/>
          <p:cNvSpPr txBox="1"/>
          <p:nvPr/>
        </p:nvSpPr>
        <p:spPr>
          <a:xfrm>
            <a:off x="980647" y="244343"/>
            <a:ext cx="8554650" cy="3180358"/>
          </a:xfrm>
          <a:prstGeom prst="rect">
            <a:avLst/>
          </a:prstGeom>
        </p:spPr>
        <p:txBody>
          <a:bodyPr lIns="0" tIns="0" rIns="0" bIns="0" rtlCol="0" anchor="t">
            <a:spAutoFit/>
          </a:bodyPr>
          <a:lstStyle/>
          <a:p>
            <a:pPr algn="l">
              <a:lnSpc>
                <a:spcPts val="12392"/>
              </a:lnSpc>
            </a:pPr>
            <a:r>
              <a:rPr lang="en-US" sz="8851" b="1" i="1" dirty="0">
                <a:solidFill>
                  <a:srgbClr val="471C0B"/>
                </a:solidFill>
                <a:latin typeface="Arima Madurai Bold Italics"/>
                <a:ea typeface="Arima Madurai Bold Italics"/>
                <a:cs typeface="Arima Madurai Bold Italics"/>
                <a:sym typeface="Arima Madurai Bold Italics"/>
              </a:rPr>
              <a:t>Coffee Shop Analysis</a:t>
            </a:r>
          </a:p>
        </p:txBody>
      </p:sp>
      <p:sp>
        <p:nvSpPr>
          <p:cNvPr id="25" name="TextBox 25"/>
          <p:cNvSpPr txBox="1"/>
          <p:nvPr/>
        </p:nvSpPr>
        <p:spPr>
          <a:xfrm>
            <a:off x="1740579" y="5252323"/>
            <a:ext cx="95260" cy="529761"/>
          </a:xfrm>
          <a:prstGeom prst="rect">
            <a:avLst/>
          </a:prstGeom>
        </p:spPr>
        <p:txBody>
          <a:bodyPr lIns="0" tIns="0" rIns="0" bIns="0" rtlCol="0" anchor="t">
            <a:spAutoFit/>
          </a:bodyPr>
          <a:lstStyle/>
          <a:p>
            <a:pPr algn="l">
              <a:lnSpc>
                <a:spcPts val="4200"/>
              </a:lnSpc>
            </a:pPr>
            <a:r>
              <a:rPr lang="en-US" sz="3000">
                <a:solidFill>
                  <a:srgbClr val="471C0B"/>
                </a:solidFill>
                <a:latin typeface="Canva Sans"/>
                <a:ea typeface="Canva Sans"/>
                <a:cs typeface="Canva Sans"/>
                <a:sym typeface="Canva Sans"/>
              </a:rPr>
              <a:t> </a:t>
            </a:r>
          </a:p>
        </p:txBody>
      </p:sp>
      <p:sp>
        <p:nvSpPr>
          <p:cNvPr id="26" name="TextBox 26"/>
          <p:cNvSpPr txBox="1"/>
          <p:nvPr/>
        </p:nvSpPr>
        <p:spPr>
          <a:xfrm>
            <a:off x="2853226" y="6502898"/>
            <a:ext cx="6061281" cy="603914"/>
          </a:xfrm>
          <a:prstGeom prst="rect">
            <a:avLst/>
          </a:prstGeom>
        </p:spPr>
        <p:txBody>
          <a:bodyPr lIns="0" tIns="0" rIns="0" bIns="0" rtlCol="0" anchor="t">
            <a:spAutoFit/>
          </a:bodyPr>
          <a:lstStyle/>
          <a:p>
            <a:pPr algn="l">
              <a:lnSpc>
                <a:spcPts val="4934"/>
              </a:lnSpc>
            </a:pPr>
            <a:r>
              <a:rPr lang="en-US" sz="3525" dirty="0">
                <a:solidFill>
                  <a:srgbClr val="471C0B"/>
                </a:solidFill>
                <a:latin typeface="Questrial"/>
                <a:ea typeface="Questrial"/>
                <a:cs typeface="Questrial"/>
                <a:sym typeface="Questrial"/>
              </a:rPr>
              <a:t>Presented by Sivuyile Langa</a:t>
            </a:r>
          </a:p>
        </p:txBody>
      </p:sp>
      <p:sp>
        <p:nvSpPr>
          <p:cNvPr id="27" name="TextBox 27"/>
          <p:cNvSpPr txBox="1"/>
          <p:nvPr/>
        </p:nvSpPr>
        <p:spPr>
          <a:xfrm>
            <a:off x="567582" y="4133914"/>
            <a:ext cx="9109796" cy="1063161"/>
          </a:xfrm>
          <a:prstGeom prst="rect">
            <a:avLst/>
          </a:prstGeom>
        </p:spPr>
        <p:txBody>
          <a:bodyPr lIns="0" tIns="0" rIns="0" bIns="0" rtlCol="0" anchor="t">
            <a:spAutoFit/>
          </a:bodyPr>
          <a:lstStyle/>
          <a:p>
            <a:pPr algn="ctr">
              <a:lnSpc>
                <a:spcPts val="4200"/>
              </a:lnSpc>
            </a:pPr>
            <a:r>
              <a:rPr lang="en-US" sz="3000" dirty="0">
                <a:solidFill>
                  <a:srgbClr val="471C0B"/>
                </a:solidFill>
                <a:latin typeface="Canva Sans"/>
                <a:ea typeface="Canva Sans"/>
                <a:cs typeface="Canva Sans"/>
                <a:sym typeface="Canva Sans"/>
              </a:rPr>
              <a:t>Driving</a:t>
            </a:r>
            <a:r>
              <a:rPr lang="en-US" sz="3000" dirty="0">
                <a:solidFill>
                  <a:srgbClr val="000000"/>
                </a:solidFill>
                <a:latin typeface="Canva Sans"/>
                <a:ea typeface="Canva Sans"/>
                <a:cs typeface="Canva Sans"/>
                <a:sym typeface="Canva Sans"/>
              </a:rPr>
              <a:t> </a:t>
            </a:r>
            <a:r>
              <a:rPr lang="en-US" sz="3000" dirty="0">
                <a:solidFill>
                  <a:srgbClr val="471C0B"/>
                </a:solidFill>
                <a:latin typeface="Canva Sans"/>
                <a:ea typeface="Canva Sans"/>
                <a:cs typeface="Canva Sans"/>
                <a:sym typeface="Canva Sans"/>
              </a:rPr>
              <a:t>Business</a:t>
            </a:r>
            <a:r>
              <a:rPr lang="en-US" sz="3000" dirty="0">
                <a:solidFill>
                  <a:srgbClr val="000000"/>
                </a:solidFill>
                <a:latin typeface="Canva Sans"/>
                <a:ea typeface="Canva Sans"/>
                <a:cs typeface="Canva Sans"/>
                <a:sym typeface="Canva Sans"/>
              </a:rPr>
              <a:t> </a:t>
            </a:r>
            <a:r>
              <a:rPr lang="en-US" sz="3000" dirty="0">
                <a:solidFill>
                  <a:srgbClr val="471C0B"/>
                </a:solidFill>
                <a:latin typeface="Canva Sans"/>
                <a:ea typeface="Canva Sans"/>
                <a:cs typeface="Canva Sans"/>
                <a:sym typeface="Canva Sans"/>
              </a:rPr>
              <a:t>Growth:</a:t>
            </a:r>
            <a:r>
              <a:rPr lang="en-US" sz="3000" dirty="0">
                <a:solidFill>
                  <a:srgbClr val="000000"/>
                </a:solidFill>
                <a:latin typeface="Canva Sans"/>
                <a:ea typeface="Canva Sans"/>
                <a:cs typeface="Canva Sans"/>
                <a:sym typeface="Canva Sans"/>
              </a:rPr>
              <a:t> </a:t>
            </a:r>
            <a:r>
              <a:rPr lang="en-US" sz="3000" dirty="0">
                <a:solidFill>
                  <a:srgbClr val="471C0B"/>
                </a:solidFill>
                <a:latin typeface="Canva Sans"/>
                <a:ea typeface="Canva Sans"/>
                <a:cs typeface="Canva Sans"/>
                <a:sym typeface="Canva Sans"/>
              </a:rPr>
              <a:t>Sales</a:t>
            </a:r>
            <a:r>
              <a:rPr lang="en-US" sz="3000" dirty="0">
                <a:solidFill>
                  <a:srgbClr val="000000"/>
                </a:solidFill>
                <a:latin typeface="Canva Sans"/>
                <a:ea typeface="Canva Sans"/>
                <a:cs typeface="Canva Sans"/>
                <a:sym typeface="Canva Sans"/>
              </a:rPr>
              <a:t> </a:t>
            </a:r>
            <a:r>
              <a:rPr lang="en-US" sz="3000" dirty="0">
                <a:solidFill>
                  <a:srgbClr val="471C0B"/>
                </a:solidFill>
                <a:latin typeface="Canva Sans"/>
                <a:ea typeface="Canva Sans"/>
                <a:cs typeface="Canva Sans"/>
                <a:sym typeface="Canva Sans"/>
              </a:rPr>
              <a:t>Forecast</a:t>
            </a:r>
            <a:r>
              <a:rPr lang="en-US" sz="3000" dirty="0">
                <a:solidFill>
                  <a:srgbClr val="000000"/>
                </a:solidFill>
                <a:latin typeface="Canva Sans"/>
                <a:ea typeface="Canva Sans"/>
                <a:cs typeface="Canva Sans"/>
                <a:sym typeface="Canva Sans"/>
              </a:rPr>
              <a:t> </a:t>
            </a:r>
            <a:r>
              <a:rPr lang="en-US" sz="3000" dirty="0">
                <a:solidFill>
                  <a:srgbClr val="471C0B"/>
                </a:solidFill>
                <a:latin typeface="Canva Sans"/>
                <a:ea typeface="Canva Sans"/>
                <a:cs typeface="Canva Sans"/>
                <a:sym typeface="Canva Sans"/>
              </a:rPr>
              <a:t>Analysis (Jan - June2023)</a:t>
            </a:r>
          </a:p>
        </p:txBody>
      </p:sp>
      <p:sp>
        <p:nvSpPr>
          <p:cNvPr id="28" name="TextBox 28"/>
          <p:cNvSpPr txBox="1"/>
          <p:nvPr/>
        </p:nvSpPr>
        <p:spPr>
          <a:xfrm>
            <a:off x="17259300" y="9207332"/>
            <a:ext cx="143904" cy="405346"/>
          </a:xfrm>
          <a:prstGeom prst="rect">
            <a:avLst/>
          </a:prstGeom>
        </p:spPr>
        <p:txBody>
          <a:bodyPr lIns="0" tIns="0" rIns="0" bIns="0" rtlCol="0" anchor="t">
            <a:spAutoFit/>
          </a:bodyPr>
          <a:lstStyle/>
          <a:p>
            <a:pPr algn="l">
              <a:lnSpc>
                <a:spcPts val="3358"/>
              </a:lnSpc>
            </a:pPr>
            <a:r>
              <a:rPr lang="en-US" sz="2399" b="1" i="1">
                <a:solidFill>
                  <a:srgbClr val="3D1700"/>
                </a:solidFill>
                <a:latin typeface="Arima Madurai Bold Italics"/>
                <a:ea typeface="Arima Madurai Bold Italics"/>
                <a:cs typeface="Arima Madurai Bold Italics"/>
                <a:sym typeface="Arima Madurai Bold Italic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1038158" y="2888713"/>
            <a:ext cx="10998965" cy="3544738"/>
          </a:xfrm>
          <a:prstGeom prst="rect">
            <a:avLst/>
          </a:prstGeom>
        </p:spPr>
        <p:txBody>
          <a:bodyPr lIns="0" tIns="0" rIns="0" bIns="0" rtlCol="0" anchor="t">
            <a:spAutoFit/>
          </a:bodyPr>
          <a:lstStyle/>
          <a:p>
            <a:pPr algn="l">
              <a:lnSpc>
                <a:spcPts val="7048"/>
              </a:lnSpc>
            </a:pPr>
            <a:r>
              <a:rPr lang="en-US" sz="5056" spc="25" dirty="0">
                <a:solidFill>
                  <a:srgbClr val="471C0B"/>
                </a:solidFill>
                <a:latin typeface="Arapey"/>
                <a:ea typeface="Arapey"/>
                <a:cs typeface="Arapey"/>
                <a:sym typeface="Arapey"/>
              </a:rPr>
              <a:t>1.Project Overview </a:t>
            </a:r>
          </a:p>
          <a:p>
            <a:pPr algn="l">
              <a:lnSpc>
                <a:spcPts val="7048"/>
              </a:lnSpc>
            </a:pPr>
            <a:r>
              <a:rPr lang="en-US" sz="5056" spc="25" dirty="0">
                <a:solidFill>
                  <a:srgbClr val="471C0B"/>
                </a:solidFill>
                <a:latin typeface="Arapey"/>
                <a:ea typeface="Arapey"/>
                <a:cs typeface="Arapey"/>
                <a:sym typeface="Arapey"/>
              </a:rPr>
              <a:t>2.Overall Bright Coffee Shop Sales Trends 3.Cross Store Comparison Analysis 4.Recommendations </a:t>
            </a:r>
          </a:p>
        </p:txBody>
      </p:sp>
      <p:sp>
        <p:nvSpPr>
          <p:cNvPr id="6" name="TextBox 6"/>
          <p:cNvSpPr txBox="1"/>
          <p:nvPr/>
        </p:nvSpPr>
        <p:spPr>
          <a:xfrm>
            <a:off x="17259300" y="9207332"/>
            <a:ext cx="143904" cy="405346"/>
          </a:xfrm>
          <a:prstGeom prst="rect">
            <a:avLst/>
          </a:prstGeom>
        </p:spPr>
        <p:txBody>
          <a:bodyPr lIns="0" tIns="0" rIns="0" bIns="0" rtlCol="0" anchor="t">
            <a:spAutoFit/>
          </a:bodyPr>
          <a:lstStyle/>
          <a:p>
            <a:pPr algn="l">
              <a:lnSpc>
                <a:spcPts val="3358"/>
              </a:lnSpc>
            </a:pPr>
            <a:r>
              <a:rPr lang="en-US" sz="2399" b="1" i="1">
                <a:solidFill>
                  <a:srgbClr val="3D1700"/>
                </a:solidFill>
                <a:latin typeface="Arima Madurai Bold Italics"/>
                <a:ea typeface="Arima Madurai Bold Italics"/>
                <a:cs typeface="Arima Madurai Bold Italics"/>
                <a:sym typeface="Arima Madurai Bold Italics"/>
              </a:rPr>
              <a:t>2</a:t>
            </a:r>
          </a:p>
        </p:txBody>
      </p:sp>
      <p:sp>
        <p:nvSpPr>
          <p:cNvPr id="7" name="TextBox 7"/>
          <p:cNvSpPr txBox="1"/>
          <p:nvPr/>
        </p:nvSpPr>
        <p:spPr>
          <a:xfrm>
            <a:off x="2819400" y="395717"/>
            <a:ext cx="11649094" cy="1654299"/>
          </a:xfrm>
          <a:prstGeom prst="rect">
            <a:avLst/>
          </a:prstGeom>
        </p:spPr>
        <p:txBody>
          <a:bodyPr wrap="square" lIns="0" tIns="0" rIns="0" bIns="0" rtlCol="0" anchor="t">
            <a:spAutoFit/>
          </a:bodyPr>
          <a:lstStyle/>
          <a:p>
            <a:pPr algn="l">
              <a:lnSpc>
                <a:spcPts val="12879"/>
              </a:lnSpc>
            </a:pPr>
            <a:r>
              <a:rPr lang="en-US" sz="9199" b="1" i="1" dirty="0">
                <a:solidFill>
                  <a:srgbClr val="471C0B"/>
                </a:solidFill>
                <a:latin typeface="Arima Madurai Bold Italics"/>
                <a:ea typeface="Arima Madurai Bold Italics"/>
                <a:cs typeface="Arima Madurai Bold Italics"/>
                <a:sym typeface="Arima Madurai Bold Italics"/>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17259300" y="9207332"/>
            <a:ext cx="143904" cy="405346"/>
          </a:xfrm>
          <a:prstGeom prst="rect">
            <a:avLst/>
          </a:prstGeom>
        </p:spPr>
        <p:txBody>
          <a:bodyPr lIns="0" tIns="0" rIns="0" bIns="0" rtlCol="0" anchor="t">
            <a:spAutoFit/>
          </a:bodyPr>
          <a:lstStyle/>
          <a:p>
            <a:pPr algn="l">
              <a:lnSpc>
                <a:spcPts val="3358"/>
              </a:lnSpc>
            </a:pPr>
            <a:r>
              <a:rPr lang="en-US" sz="2399" b="1" i="1">
                <a:solidFill>
                  <a:srgbClr val="3D1700"/>
                </a:solidFill>
                <a:latin typeface="Arima Madurai Bold Italics"/>
                <a:ea typeface="Arima Madurai Bold Italics"/>
                <a:cs typeface="Arima Madurai Bold Italics"/>
                <a:sym typeface="Arima Madurai Bold Italics"/>
              </a:rPr>
              <a:t>3</a:t>
            </a:r>
          </a:p>
        </p:txBody>
      </p:sp>
      <p:sp>
        <p:nvSpPr>
          <p:cNvPr id="6" name="TextBox 6"/>
          <p:cNvSpPr txBox="1"/>
          <p:nvPr/>
        </p:nvSpPr>
        <p:spPr>
          <a:xfrm>
            <a:off x="4082147" y="484635"/>
            <a:ext cx="9667047" cy="1654299"/>
          </a:xfrm>
          <a:prstGeom prst="rect">
            <a:avLst/>
          </a:prstGeom>
        </p:spPr>
        <p:txBody>
          <a:bodyPr wrap="square" lIns="0" tIns="0" rIns="0" bIns="0" rtlCol="0" anchor="t">
            <a:spAutoFit/>
          </a:bodyPr>
          <a:lstStyle/>
          <a:p>
            <a:pPr algn="l">
              <a:lnSpc>
                <a:spcPts val="12879"/>
              </a:lnSpc>
            </a:pPr>
            <a:r>
              <a:rPr lang="en-US" sz="9199" b="1" i="1" dirty="0">
                <a:solidFill>
                  <a:srgbClr val="471C0B"/>
                </a:solidFill>
                <a:latin typeface="Arima Madurai Bold Italics"/>
                <a:ea typeface="Arima Madurai Bold Italics"/>
                <a:cs typeface="Arima Madurai Bold Italics"/>
                <a:sym typeface="Arima Madurai Bold Italics"/>
              </a:rPr>
              <a:t>Project Overview </a:t>
            </a:r>
          </a:p>
        </p:txBody>
      </p:sp>
      <p:sp>
        <p:nvSpPr>
          <p:cNvPr id="7" name="TextBox 7"/>
          <p:cNvSpPr txBox="1"/>
          <p:nvPr/>
        </p:nvSpPr>
        <p:spPr>
          <a:xfrm>
            <a:off x="698116" y="3162300"/>
            <a:ext cx="16435111" cy="3156966"/>
          </a:xfrm>
          <a:prstGeom prst="rect">
            <a:avLst/>
          </a:prstGeom>
        </p:spPr>
        <p:txBody>
          <a:bodyPr lIns="0" tIns="0" rIns="0" bIns="0" rtlCol="0" anchor="t">
            <a:spAutoFit/>
          </a:bodyPr>
          <a:lstStyle/>
          <a:p>
            <a:pPr algn="ctr">
              <a:lnSpc>
                <a:spcPts val="6299"/>
              </a:lnSpc>
            </a:pPr>
            <a:r>
              <a:rPr lang="en-US" sz="4500" dirty="0">
                <a:solidFill>
                  <a:srgbClr val="000000"/>
                </a:solidFill>
                <a:latin typeface="Arapey"/>
                <a:ea typeface="Arapey"/>
                <a:cs typeface="Arapey"/>
                <a:sym typeface="Arapey"/>
              </a:rPr>
              <a:t>The objective of this project is to analyze sales performance across products, time periods, and store locations in order to identify key drivers of revenue, optimize the product mix, and recommend strategies to maximize growth, profitability, and customer engagement.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a:off x="8685081" y="1667034"/>
            <a:ext cx="7674350" cy="5215433"/>
          </a:xfrm>
          <a:custGeom>
            <a:avLst/>
            <a:gdLst/>
            <a:ahLst/>
            <a:cxnLst/>
            <a:rect l="l" t="t" r="r" b="b"/>
            <a:pathLst>
              <a:path w="7674350" h="5215433">
                <a:moveTo>
                  <a:pt x="0" y="0"/>
                </a:moveTo>
                <a:lnTo>
                  <a:pt x="7674349" y="0"/>
                </a:lnTo>
                <a:lnTo>
                  <a:pt x="7674349" y="5215433"/>
                </a:lnTo>
                <a:lnTo>
                  <a:pt x="0" y="521543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9" name="Group 9"/>
          <p:cNvGrpSpPr/>
          <p:nvPr/>
        </p:nvGrpSpPr>
        <p:grpSpPr>
          <a:xfrm>
            <a:off x="543878" y="1723439"/>
            <a:ext cx="8143875" cy="5076825"/>
            <a:chOff x="0" y="0"/>
            <a:chExt cx="10858500" cy="6769100"/>
          </a:xfrm>
        </p:grpSpPr>
        <p:sp>
          <p:nvSpPr>
            <p:cNvPr id="10" name="Freeform 10"/>
            <p:cNvSpPr/>
            <p:nvPr/>
          </p:nvSpPr>
          <p:spPr>
            <a:xfrm>
              <a:off x="0" y="0"/>
              <a:ext cx="10858500" cy="6769100"/>
            </a:xfrm>
            <a:custGeom>
              <a:avLst/>
              <a:gdLst/>
              <a:ahLst/>
              <a:cxnLst/>
              <a:rect l="l" t="t" r="r" b="b"/>
              <a:pathLst>
                <a:path w="10858500" h="6769100">
                  <a:moveTo>
                    <a:pt x="0" y="0"/>
                  </a:moveTo>
                  <a:lnTo>
                    <a:pt x="10858500" y="0"/>
                  </a:lnTo>
                  <a:lnTo>
                    <a:pt x="10858500" y="6769100"/>
                  </a:lnTo>
                  <a:lnTo>
                    <a:pt x="0" y="6769100"/>
                  </a:lnTo>
                  <a:lnTo>
                    <a:pt x="0" y="0"/>
                  </a:lnTo>
                  <a:close/>
                </a:path>
              </a:pathLst>
            </a:custGeom>
            <a:blipFill>
              <a:blip r:embed="rId3"/>
              <a:stretch>
                <a:fillRect/>
              </a:stretch>
            </a:blipFill>
          </p:spPr>
          <p:txBody>
            <a:bodyPr/>
            <a:lstStyle/>
            <a:p>
              <a:endParaRPr lang="en-US"/>
            </a:p>
          </p:txBody>
        </p:sp>
      </p:grpSp>
      <p:sp>
        <p:nvSpPr>
          <p:cNvPr id="21" name="TextBox 21"/>
          <p:cNvSpPr txBox="1"/>
          <p:nvPr/>
        </p:nvSpPr>
        <p:spPr>
          <a:xfrm>
            <a:off x="9544012" y="6553457"/>
            <a:ext cx="494186" cy="200177"/>
          </a:xfrm>
          <a:prstGeom prst="rect">
            <a:avLst/>
          </a:prstGeom>
        </p:spPr>
        <p:txBody>
          <a:bodyPr lIns="0" tIns="0" rIns="0" bIns="0" rtlCol="0" anchor="t">
            <a:spAutoFit/>
          </a:bodyPr>
          <a:lstStyle/>
          <a:p>
            <a:pPr algn="l">
              <a:lnSpc>
                <a:spcPts val="1609"/>
              </a:lnSpc>
            </a:pPr>
            <a:r>
              <a:rPr lang="en-US" sz="1149">
                <a:solidFill>
                  <a:srgbClr val="000000"/>
                </a:solidFill>
                <a:latin typeface="Canva Sans"/>
                <a:ea typeface="Canva Sans"/>
                <a:cs typeface="Canva Sans"/>
                <a:sym typeface="Canva Sans"/>
              </a:rPr>
              <a:t>Ballers</a:t>
            </a:r>
          </a:p>
        </p:txBody>
      </p:sp>
      <p:sp>
        <p:nvSpPr>
          <p:cNvPr id="22" name="TextBox 22"/>
          <p:cNvSpPr txBox="1"/>
          <p:nvPr/>
        </p:nvSpPr>
        <p:spPr>
          <a:xfrm>
            <a:off x="9407242" y="3528060"/>
            <a:ext cx="773268" cy="200177"/>
          </a:xfrm>
          <a:prstGeom prst="rect">
            <a:avLst/>
          </a:prstGeom>
        </p:spPr>
        <p:txBody>
          <a:bodyPr lIns="0" tIns="0" rIns="0" bIns="0" rtlCol="0" anchor="t">
            <a:spAutoFit/>
          </a:bodyPr>
          <a:lstStyle/>
          <a:p>
            <a:pPr algn="l">
              <a:lnSpc>
                <a:spcPts val="1609"/>
              </a:lnSpc>
            </a:pPr>
            <a:r>
              <a:rPr lang="en-US" sz="1149">
                <a:solidFill>
                  <a:srgbClr val="000000"/>
                </a:solidFill>
                <a:latin typeface="Canva Sans"/>
                <a:ea typeface="Canva Sans"/>
                <a:cs typeface="Canva Sans"/>
                <a:sym typeface="Canva Sans"/>
              </a:rPr>
              <a:t>Low spend</a:t>
            </a:r>
          </a:p>
        </p:txBody>
      </p:sp>
      <p:sp>
        <p:nvSpPr>
          <p:cNvPr id="23" name="TextBox 23"/>
          <p:cNvSpPr txBox="1"/>
          <p:nvPr/>
        </p:nvSpPr>
        <p:spPr>
          <a:xfrm>
            <a:off x="9390717" y="5544998"/>
            <a:ext cx="806710" cy="200177"/>
          </a:xfrm>
          <a:prstGeom prst="rect">
            <a:avLst/>
          </a:prstGeom>
        </p:spPr>
        <p:txBody>
          <a:bodyPr lIns="0" tIns="0" rIns="0" bIns="0" rtlCol="0" anchor="t">
            <a:spAutoFit/>
          </a:bodyPr>
          <a:lstStyle/>
          <a:p>
            <a:pPr algn="l">
              <a:lnSpc>
                <a:spcPts val="1609"/>
              </a:lnSpc>
            </a:pPr>
            <a:r>
              <a:rPr lang="en-US" sz="1149">
                <a:solidFill>
                  <a:srgbClr val="000000"/>
                </a:solidFill>
                <a:latin typeface="Canva Sans"/>
                <a:ea typeface="Canva Sans"/>
                <a:cs typeface="Canva Sans"/>
                <a:sym typeface="Canva Sans"/>
              </a:rPr>
              <a:t>High spend</a:t>
            </a:r>
          </a:p>
        </p:txBody>
      </p:sp>
      <p:sp>
        <p:nvSpPr>
          <p:cNvPr id="24" name="TextBox 24"/>
          <p:cNvSpPr txBox="1"/>
          <p:nvPr/>
        </p:nvSpPr>
        <p:spPr>
          <a:xfrm>
            <a:off x="9368399" y="2506142"/>
            <a:ext cx="852307" cy="200177"/>
          </a:xfrm>
          <a:prstGeom prst="rect">
            <a:avLst/>
          </a:prstGeom>
        </p:spPr>
        <p:txBody>
          <a:bodyPr lIns="0" tIns="0" rIns="0" bIns="0" rtlCol="0" anchor="t">
            <a:spAutoFit/>
          </a:bodyPr>
          <a:lstStyle/>
          <a:p>
            <a:pPr algn="l">
              <a:lnSpc>
                <a:spcPts val="1609"/>
              </a:lnSpc>
            </a:pPr>
            <a:r>
              <a:rPr lang="en-US" sz="1149" b="1">
                <a:solidFill>
                  <a:srgbClr val="000000"/>
                </a:solidFill>
                <a:latin typeface="Canva Sans Bold"/>
                <a:ea typeface="Canva Sans Bold"/>
                <a:cs typeface="Canva Sans Bold"/>
                <a:sym typeface="Canva Sans Bold"/>
              </a:rPr>
              <a:t>Description</a:t>
            </a:r>
          </a:p>
        </p:txBody>
      </p:sp>
      <p:sp>
        <p:nvSpPr>
          <p:cNvPr id="25" name="TextBox 25"/>
          <p:cNvSpPr txBox="1"/>
          <p:nvPr/>
        </p:nvSpPr>
        <p:spPr>
          <a:xfrm>
            <a:off x="9264958" y="4536529"/>
            <a:ext cx="1063466" cy="200177"/>
          </a:xfrm>
          <a:prstGeom prst="rect">
            <a:avLst/>
          </a:prstGeom>
        </p:spPr>
        <p:txBody>
          <a:bodyPr lIns="0" tIns="0" rIns="0" bIns="0" rtlCol="0" anchor="t">
            <a:spAutoFit/>
          </a:bodyPr>
          <a:lstStyle/>
          <a:p>
            <a:pPr algn="l">
              <a:lnSpc>
                <a:spcPts val="1609"/>
              </a:lnSpc>
            </a:pPr>
            <a:r>
              <a:rPr lang="en-US" sz="1149">
                <a:solidFill>
                  <a:srgbClr val="000000"/>
                </a:solidFill>
                <a:latin typeface="Canva Sans"/>
                <a:ea typeface="Canva Sans"/>
                <a:cs typeface="Canva Sans"/>
                <a:sym typeface="Canva Sans"/>
              </a:rPr>
              <a:t>Medium spend</a:t>
            </a:r>
          </a:p>
        </p:txBody>
      </p:sp>
      <p:sp>
        <p:nvSpPr>
          <p:cNvPr id="26" name="TextBox 26"/>
          <p:cNvSpPr txBox="1"/>
          <p:nvPr/>
        </p:nvSpPr>
        <p:spPr>
          <a:xfrm>
            <a:off x="11173844" y="4536529"/>
            <a:ext cx="1013736" cy="200177"/>
          </a:xfrm>
          <a:prstGeom prst="rect">
            <a:avLst/>
          </a:prstGeom>
        </p:spPr>
        <p:txBody>
          <a:bodyPr lIns="0" tIns="0" rIns="0" bIns="0" rtlCol="0" anchor="t">
            <a:spAutoFit/>
          </a:bodyPr>
          <a:lstStyle/>
          <a:p>
            <a:pPr algn="l">
              <a:lnSpc>
                <a:spcPts val="1609"/>
              </a:lnSpc>
            </a:pPr>
            <a:r>
              <a:rPr lang="en-US" sz="1149">
                <a:solidFill>
                  <a:srgbClr val="000000"/>
                </a:solidFill>
                <a:latin typeface="Canva Sans"/>
                <a:ea typeface="Canva Sans"/>
                <a:cs typeface="Canva Sans"/>
                <a:sym typeface="Canva Sans"/>
              </a:rPr>
              <a:t>R51.00 - R150</a:t>
            </a:r>
          </a:p>
        </p:txBody>
      </p:sp>
      <p:sp>
        <p:nvSpPr>
          <p:cNvPr id="27" name="TextBox 27"/>
          <p:cNvSpPr txBox="1"/>
          <p:nvPr/>
        </p:nvSpPr>
        <p:spPr>
          <a:xfrm>
            <a:off x="11204658" y="6553457"/>
            <a:ext cx="950690" cy="200177"/>
          </a:xfrm>
          <a:prstGeom prst="rect">
            <a:avLst/>
          </a:prstGeom>
        </p:spPr>
        <p:txBody>
          <a:bodyPr lIns="0" tIns="0" rIns="0" bIns="0" rtlCol="0" anchor="t">
            <a:spAutoFit/>
          </a:bodyPr>
          <a:lstStyle/>
          <a:p>
            <a:pPr algn="l">
              <a:lnSpc>
                <a:spcPts val="1609"/>
              </a:lnSpc>
            </a:pPr>
            <a:r>
              <a:rPr lang="en-US" sz="1149">
                <a:solidFill>
                  <a:srgbClr val="000000"/>
                </a:solidFill>
                <a:latin typeface="Canva Sans"/>
                <a:ea typeface="Canva Sans"/>
                <a:cs typeface="Canva Sans"/>
                <a:sym typeface="Canva Sans"/>
              </a:rPr>
              <a:t>R251 or more</a:t>
            </a:r>
          </a:p>
        </p:txBody>
      </p:sp>
      <p:sp>
        <p:nvSpPr>
          <p:cNvPr id="28" name="TextBox 28"/>
          <p:cNvSpPr txBox="1"/>
          <p:nvPr/>
        </p:nvSpPr>
        <p:spPr>
          <a:xfrm>
            <a:off x="11070412" y="3528060"/>
            <a:ext cx="1224677" cy="200177"/>
          </a:xfrm>
          <a:prstGeom prst="rect">
            <a:avLst/>
          </a:prstGeom>
        </p:spPr>
        <p:txBody>
          <a:bodyPr lIns="0" tIns="0" rIns="0" bIns="0" rtlCol="0" anchor="t">
            <a:spAutoFit/>
          </a:bodyPr>
          <a:lstStyle/>
          <a:p>
            <a:pPr algn="l">
              <a:lnSpc>
                <a:spcPts val="1609"/>
              </a:lnSpc>
            </a:pPr>
            <a:r>
              <a:rPr lang="en-US" sz="1149">
                <a:solidFill>
                  <a:srgbClr val="000000"/>
                </a:solidFill>
                <a:latin typeface="Canva Sans"/>
                <a:ea typeface="Canva Sans"/>
                <a:cs typeface="Canva Sans"/>
                <a:sym typeface="Canva Sans"/>
              </a:rPr>
              <a:t>R00.00 - R50.00</a:t>
            </a:r>
          </a:p>
        </p:txBody>
      </p:sp>
      <p:sp>
        <p:nvSpPr>
          <p:cNvPr id="29" name="TextBox 29"/>
          <p:cNvSpPr txBox="1"/>
          <p:nvPr/>
        </p:nvSpPr>
        <p:spPr>
          <a:xfrm>
            <a:off x="11088872" y="2506142"/>
            <a:ext cx="1187082" cy="200177"/>
          </a:xfrm>
          <a:prstGeom prst="rect">
            <a:avLst/>
          </a:prstGeom>
        </p:spPr>
        <p:txBody>
          <a:bodyPr lIns="0" tIns="0" rIns="0" bIns="0" rtlCol="0" anchor="t">
            <a:spAutoFit/>
          </a:bodyPr>
          <a:lstStyle/>
          <a:p>
            <a:pPr algn="l">
              <a:lnSpc>
                <a:spcPts val="1609"/>
              </a:lnSpc>
            </a:pPr>
            <a:r>
              <a:rPr lang="en-US" sz="1149" b="1">
                <a:solidFill>
                  <a:srgbClr val="000000"/>
                </a:solidFill>
                <a:latin typeface="Canva Sans Bold"/>
                <a:ea typeface="Canva Sans Bold"/>
                <a:cs typeface="Canva Sans Bold"/>
                <a:sym typeface="Canva Sans Bold"/>
              </a:rPr>
              <a:t>Spending Levels</a:t>
            </a:r>
          </a:p>
        </p:txBody>
      </p:sp>
      <p:sp>
        <p:nvSpPr>
          <p:cNvPr id="30" name="TextBox 30"/>
          <p:cNvSpPr txBox="1"/>
          <p:nvPr/>
        </p:nvSpPr>
        <p:spPr>
          <a:xfrm>
            <a:off x="11012072" y="5544998"/>
            <a:ext cx="1343787" cy="200177"/>
          </a:xfrm>
          <a:prstGeom prst="rect">
            <a:avLst/>
          </a:prstGeom>
        </p:spPr>
        <p:txBody>
          <a:bodyPr lIns="0" tIns="0" rIns="0" bIns="0" rtlCol="0" anchor="t">
            <a:spAutoFit/>
          </a:bodyPr>
          <a:lstStyle/>
          <a:p>
            <a:pPr algn="l">
              <a:lnSpc>
                <a:spcPts val="1609"/>
              </a:lnSpc>
            </a:pPr>
            <a:r>
              <a:rPr lang="en-US" sz="1149">
                <a:solidFill>
                  <a:srgbClr val="000000"/>
                </a:solidFill>
                <a:latin typeface="Canva Sans"/>
                <a:ea typeface="Canva Sans"/>
                <a:cs typeface="Canva Sans"/>
                <a:sym typeface="Canva Sans"/>
              </a:rPr>
              <a:t>R151.00 - R250.00</a:t>
            </a:r>
          </a:p>
        </p:txBody>
      </p:sp>
      <p:sp>
        <p:nvSpPr>
          <p:cNvPr id="31" name="TextBox 31"/>
          <p:cNvSpPr txBox="1"/>
          <p:nvPr/>
        </p:nvSpPr>
        <p:spPr>
          <a:xfrm>
            <a:off x="13442309" y="5544998"/>
            <a:ext cx="230305" cy="200177"/>
          </a:xfrm>
          <a:prstGeom prst="rect">
            <a:avLst/>
          </a:prstGeom>
        </p:spPr>
        <p:txBody>
          <a:bodyPr lIns="0" tIns="0" rIns="0" bIns="0" rtlCol="0" anchor="t">
            <a:spAutoFit/>
          </a:bodyPr>
          <a:lstStyle/>
          <a:p>
            <a:pPr algn="l">
              <a:lnSpc>
                <a:spcPts val="1609"/>
              </a:lnSpc>
            </a:pPr>
            <a:r>
              <a:rPr lang="en-US" sz="1149">
                <a:solidFill>
                  <a:srgbClr val="000000"/>
                </a:solidFill>
                <a:latin typeface="Canva Sans"/>
                <a:ea typeface="Canva Sans"/>
                <a:cs typeface="Canva Sans"/>
                <a:sym typeface="Canva Sans"/>
              </a:rPr>
              <a:t>0%</a:t>
            </a:r>
          </a:p>
        </p:txBody>
      </p:sp>
      <p:sp>
        <p:nvSpPr>
          <p:cNvPr id="32" name="TextBox 32"/>
          <p:cNvSpPr txBox="1"/>
          <p:nvPr/>
        </p:nvSpPr>
        <p:spPr>
          <a:xfrm>
            <a:off x="13339915" y="4536529"/>
            <a:ext cx="439217" cy="200177"/>
          </a:xfrm>
          <a:prstGeom prst="rect">
            <a:avLst/>
          </a:prstGeom>
        </p:spPr>
        <p:txBody>
          <a:bodyPr lIns="0" tIns="0" rIns="0" bIns="0" rtlCol="0" anchor="t">
            <a:spAutoFit/>
          </a:bodyPr>
          <a:lstStyle/>
          <a:p>
            <a:pPr algn="l">
              <a:lnSpc>
                <a:spcPts val="1609"/>
              </a:lnSpc>
            </a:pPr>
            <a:r>
              <a:rPr lang="en-US" sz="1149">
                <a:solidFill>
                  <a:srgbClr val="000000"/>
                </a:solidFill>
                <a:latin typeface="Canva Sans"/>
                <a:ea typeface="Canva Sans"/>
                <a:cs typeface="Canva Sans"/>
                <a:sym typeface="Canva Sans"/>
              </a:rPr>
              <a:t>0.52%</a:t>
            </a:r>
          </a:p>
        </p:txBody>
      </p:sp>
      <p:sp>
        <p:nvSpPr>
          <p:cNvPr id="33" name="TextBox 33"/>
          <p:cNvSpPr txBox="1"/>
          <p:nvPr/>
        </p:nvSpPr>
        <p:spPr>
          <a:xfrm>
            <a:off x="13328752" y="6553457"/>
            <a:ext cx="462048" cy="200177"/>
          </a:xfrm>
          <a:prstGeom prst="rect">
            <a:avLst/>
          </a:prstGeom>
        </p:spPr>
        <p:txBody>
          <a:bodyPr lIns="0" tIns="0" rIns="0" bIns="0" rtlCol="0" anchor="t">
            <a:spAutoFit/>
          </a:bodyPr>
          <a:lstStyle/>
          <a:p>
            <a:pPr algn="l">
              <a:lnSpc>
                <a:spcPts val="1609"/>
              </a:lnSpc>
            </a:pPr>
            <a:r>
              <a:rPr lang="en-US" sz="1149">
                <a:solidFill>
                  <a:srgbClr val="000000"/>
                </a:solidFill>
                <a:latin typeface="Canva Sans"/>
                <a:ea typeface="Canva Sans"/>
                <a:cs typeface="Canva Sans"/>
                <a:sym typeface="Canva Sans"/>
              </a:rPr>
              <a:t>0.05%</a:t>
            </a:r>
          </a:p>
        </p:txBody>
      </p:sp>
      <p:sp>
        <p:nvSpPr>
          <p:cNvPr id="34" name="TextBox 34"/>
          <p:cNvSpPr txBox="1"/>
          <p:nvPr/>
        </p:nvSpPr>
        <p:spPr>
          <a:xfrm>
            <a:off x="13292138" y="3528060"/>
            <a:ext cx="536505" cy="200177"/>
          </a:xfrm>
          <a:prstGeom prst="rect">
            <a:avLst/>
          </a:prstGeom>
        </p:spPr>
        <p:txBody>
          <a:bodyPr lIns="0" tIns="0" rIns="0" bIns="0" rtlCol="0" anchor="t">
            <a:spAutoFit/>
          </a:bodyPr>
          <a:lstStyle/>
          <a:p>
            <a:pPr algn="l">
              <a:lnSpc>
                <a:spcPts val="1609"/>
              </a:lnSpc>
            </a:pPr>
            <a:r>
              <a:rPr lang="en-US" sz="1149">
                <a:solidFill>
                  <a:srgbClr val="000000"/>
                </a:solidFill>
                <a:latin typeface="Canva Sans"/>
                <a:ea typeface="Canva Sans"/>
                <a:cs typeface="Canva Sans"/>
                <a:sym typeface="Canva Sans"/>
              </a:rPr>
              <a:t>99.44%</a:t>
            </a:r>
          </a:p>
        </p:txBody>
      </p:sp>
      <p:sp>
        <p:nvSpPr>
          <p:cNvPr id="35" name="TextBox 35"/>
          <p:cNvSpPr txBox="1"/>
          <p:nvPr/>
        </p:nvSpPr>
        <p:spPr>
          <a:xfrm>
            <a:off x="13072767" y="2506142"/>
            <a:ext cx="984133" cy="200177"/>
          </a:xfrm>
          <a:prstGeom prst="rect">
            <a:avLst/>
          </a:prstGeom>
        </p:spPr>
        <p:txBody>
          <a:bodyPr lIns="0" tIns="0" rIns="0" bIns="0" rtlCol="0" anchor="t">
            <a:spAutoFit/>
          </a:bodyPr>
          <a:lstStyle/>
          <a:p>
            <a:pPr algn="l">
              <a:lnSpc>
                <a:spcPts val="1609"/>
              </a:lnSpc>
            </a:pPr>
            <a:r>
              <a:rPr lang="en-US" sz="1149" b="1">
                <a:solidFill>
                  <a:srgbClr val="000000"/>
                </a:solidFill>
                <a:latin typeface="Canva Sans Bold"/>
                <a:ea typeface="Canva Sans Bold"/>
                <a:cs typeface="Canva Sans Bold"/>
                <a:sym typeface="Canva Sans Bold"/>
              </a:rPr>
              <a:t>% of Revenue</a:t>
            </a:r>
          </a:p>
        </p:txBody>
      </p:sp>
      <p:sp>
        <p:nvSpPr>
          <p:cNvPr id="36" name="TextBox 36"/>
          <p:cNvSpPr txBox="1"/>
          <p:nvPr/>
        </p:nvSpPr>
        <p:spPr>
          <a:xfrm>
            <a:off x="15326782" y="5544998"/>
            <a:ext cx="230305" cy="200177"/>
          </a:xfrm>
          <a:prstGeom prst="rect">
            <a:avLst/>
          </a:prstGeom>
        </p:spPr>
        <p:txBody>
          <a:bodyPr lIns="0" tIns="0" rIns="0" bIns="0" rtlCol="0" anchor="t">
            <a:spAutoFit/>
          </a:bodyPr>
          <a:lstStyle/>
          <a:p>
            <a:pPr algn="l">
              <a:lnSpc>
                <a:spcPts val="1609"/>
              </a:lnSpc>
            </a:pPr>
            <a:r>
              <a:rPr lang="en-US" sz="1149">
                <a:solidFill>
                  <a:srgbClr val="000000"/>
                </a:solidFill>
                <a:latin typeface="Canva Sans"/>
                <a:ea typeface="Canva Sans"/>
                <a:cs typeface="Canva Sans"/>
                <a:sym typeface="Canva Sans"/>
              </a:rPr>
              <a:t>0%</a:t>
            </a:r>
          </a:p>
        </p:txBody>
      </p:sp>
      <p:sp>
        <p:nvSpPr>
          <p:cNvPr id="37" name="TextBox 37"/>
          <p:cNvSpPr txBox="1"/>
          <p:nvPr/>
        </p:nvSpPr>
        <p:spPr>
          <a:xfrm>
            <a:off x="15217397" y="6553457"/>
            <a:ext cx="453323" cy="200177"/>
          </a:xfrm>
          <a:prstGeom prst="rect">
            <a:avLst/>
          </a:prstGeom>
        </p:spPr>
        <p:txBody>
          <a:bodyPr lIns="0" tIns="0" rIns="0" bIns="0" rtlCol="0" anchor="t">
            <a:spAutoFit/>
          </a:bodyPr>
          <a:lstStyle/>
          <a:p>
            <a:pPr algn="l">
              <a:lnSpc>
                <a:spcPts val="1609"/>
              </a:lnSpc>
            </a:pPr>
            <a:r>
              <a:rPr lang="en-US" sz="1149">
                <a:solidFill>
                  <a:srgbClr val="000000"/>
                </a:solidFill>
                <a:latin typeface="Canva Sans"/>
                <a:ea typeface="Canva Sans"/>
                <a:cs typeface="Canva Sans"/>
                <a:sym typeface="Canva Sans"/>
              </a:rPr>
              <a:t>0.01%</a:t>
            </a:r>
          </a:p>
        </p:txBody>
      </p:sp>
      <p:sp>
        <p:nvSpPr>
          <p:cNvPr id="38" name="TextBox 38"/>
          <p:cNvSpPr txBox="1"/>
          <p:nvPr/>
        </p:nvSpPr>
        <p:spPr>
          <a:xfrm>
            <a:off x="15212187" y="4536529"/>
            <a:ext cx="464153" cy="200177"/>
          </a:xfrm>
          <a:prstGeom prst="rect">
            <a:avLst/>
          </a:prstGeom>
        </p:spPr>
        <p:txBody>
          <a:bodyPr lIns="0" tIns="0" rIns="0" bIns="0" rtlCol="0" anchor="t">
            <a:spAutoFit/>
          </a:bodyPr>
          <a:lstStyle/>
          <a:p>
            <a:pPr algn="l">
              <a:lnSpc>
                <a:spcPts val="1609"/>
              </a:lnSpc>
            </a:pPr>
            <a:r>
              <a:rPr lang="en-US" sz="1149">
                <a:solidFill>
                  <a:srgbClr val="000000"/>
                </a:solidFill>
                <a:latin typeface="Canva Sans"/>
                <a:ea typeface="Canva Sans"/>
                <a:cs typeface="Canva Sans"/>
                <a:sym typeface="Canva Sans"/>
              </a:rPr>
              <a:t>0.04%</a:t>
            </a:r>
          </a:p>
        </p:txBody>
      </p:sp>
      <p:sp>
        <p:nvSpPr>
          <p:cNvPr id="39" name="TextBox 39"/>
          <p:cNvSpPr txBox="1"/>
          <p:nvPr/>
        </p:nvSpPr>
        <p:spPr>
          <a:xfrm>
            <a:off x="15174982" y="3528060"/>
            <a:ext cx="540001" cy="200177"/>
          </a:xfrm>
          <a:prstGeom prst="rect">
            <a:avLst/>
          </a:prstGeom>
        </p:spPr>
        <p:txBody>
          <a:bodyPr lIns="0" tIns="0" rIns="0" bIns="0" rtlCol="0" anchor="t">
            <a:spAutoFit/>
          </a:bodyPr>
          <a:lstStyle/>
          <a:p>
            <a:pPr algn="l">
              <a:lnSpc>
                <a:spcPts val="1609"/>
              </a:lnSpc>
            </a:pPr>
            <a:r>
              <a:rPr lang="en-US" sz="1149">
                <a:solidFill>
                  <a:srgbClr val="000000"/>
                </a:solidFill>
                <a:latin typeface="Canva Sans"/>
                <a:ea typeface="Canva Sans"/>
                <a:cs typeface="Canva Sans"/>
                <a:sym typeface="Canva Sans"/>
              </a:rPr>
              <a:t>99.95%</a:t>
            </a:r>
          </a:p>
        </p:txBody>
      </p:sp>
      <p:sp>
        <p:nvSpPr>
          <p:cNvPr id="40" name="TextBox 40"/>
          <p:cNvSpPr txBox="1"/>
          <p:nvPr/>
        </p:nvSpPr>
        <p:spPr>
          <a:xfrm>
            <a:off x="14681168" y="2506142"/>
            <a:ext cx="1547241" cy="200177"/>
          </a:xfrm>
          <a:prstGeom prst="rect">
            <a:avLst/>
          </a:prstGeom>
        </p:spPr>
        <p:txBody>
          <a:bodyPr lIns="0" tIns="0" rIns="0" bIns="0" rtlCol="0" anchor="t">
            <a:spAutoFit/>
          </a:bodyPr>
          <a:lstStyle/>
          <a:p>
            <a:pPr algn="l">
              <a:lnSpc>
                <a:spcPts val="1609"/>
              </a:lnSpc>
            </a:pPr>
            <a:r>
              <a:rPr lang="en-US" sz="1149" b="1">
                <a:solidFill>
                  <a:srgbClr val="000000"/>
                </a:solidFill>
                <a:latin typeface="Canva Sans Bold"/>
                <a:ea typeface="Canva Sans Bold"/>
                <a:cs typeface="Canva Sans Bold"/>
                <a:sym typeface="Canva Sans Bold"/>
              </a:rPr>
              <a:t>% of Customer Count</a:t>
            </a:r>
          </a:p>
        </p:txBody>
      </p:sp>
      <p:sp>
        <p:nvSpPr>
          <p:cNvPr id="41" name="TextBox 41"/>
          <p:cNvSpPr txBox="1"/>
          <p:nvPr/>
        </p:nvSpPr>
        <p:spPr>
          <a:xfrm>
            <a:off x="269110" y="7072982"/>
            <a:ext cx="1779410" cy="436017"/>
          </a:xfrm>
          <a:prstGeom prst="rect">
            <a:avLst/>
          </a:prstGeom>
        </p:spPr>
        <p:txBody>
          <a:bodyPr wrap="square" lIns="0" tIns="0" rIns="0" bIns="0" rtlCol="0" anchor="t">
            <a:spAutoFit/>
          </a:bodyPr>
          <a:lstStyle/>
          <a:p>
            <a:pPr algn="l">
              <a:lnSpc>
                <a:spcPts val="3358"/>
              </a:lnSpc>
            </a:pPr>
            <a:r>
              <a:rPr lang="en-US" sz="2399" b="1" i="1" dirty="0">
                <a:solidFill>
                  <a:srgbClr val="471C0B"/>
                </a:solidFill>
                <a:latin typeface="Arima Madurai Bold Italics"/>
                <a:ea typeface="Arima Madurai Bold Italics"/>
                <a:cs typeface="Arima Madurai Bold Italics"/>
                <a:sym typeface="Arima Madurai Bold Italics"/>
              </a:rPr>
              <a:t>Key Insights </a:t>
            </a:r>
          </a:p>
        </p:txBody>
      </p:sp>
      <p:sp>
        <p:nvSpPr>
          <p:cNvPr id="42" name="TextBox 42"/>
          <p:cNvSpPr txBox="1"/>
          <p:nvPr/>
        </p:nvSpPr>
        <p:spPr>
          <a:xfrm>
            <a:off x="16360940" y="8420271"/>
            <a:ext cx="1193149" cy="565975"/>
          </a:xfrm>
          <a:prstGeom prst="rect">
            <a:avLst/>
          </a:prstGeom>
        </p:spPr>
        <p:txBody>
          <a:bodyPr lIns="0" tIns="0" rIns="0" bIns="0" rtlCol="0" anchor="t">
            <a:spAutoFit/>
          </a:bodyPr>
          <a:lstStyle/>
          <a:p>
            <a:pPr algn="l">
              <a:lnSpc>
                <a:spcPts val="4932"/>
              </a:lnSpc>
            </a:pPr>
            <a:r>
              <a:rPr lang="en-US" sz="2399" dirty="0">
                <a:solidFill>
                  <a:srgbClr val="471C0B"/>
                </a:solidFill>
                <a:latin typeface="Arima Madurai"/>
                <a:ea typeface="Arima Madurai"/>
                <a:cs typeface="Arima Madurai"/>
                <a:sym typeface="Arima Madurai"/>
              </a:rPr>
              <a:t> </a:t>
            </a:r>
          </a:p>
        </p:txBody>
      </p:sp>
      <p:sp>
        <p:nvSpPr>
          <p:cNvPr id="43" name="TextBox 43"/>
          <p:cNvSpPr txBox="1"/>
          <p:nvPr/>
        </p:nvSpPr>
        <p:spPr>
          <a:xfrm>
            <a:off x="17259300" y="9054932"/>
            <a:ext cx="143904" cy="557746"/>
          </a:xfrm>
          <a:prstGeom prst="rect">
            <a:avLst/>
          </a:prstGeom>
        </p:spPr>
        <p:txBody>
          <a:bodyPr lIns="0" tIns="0" rIns="0" bIns="0" rtlCol="0" anchor="t">
            <a:spAutoFit/>
          </a:bodyPr>
          <a:lstStyle/>
          <a:p>
            <a:pPr algn="l">
              <a:lnSpc>
                <a:spcPts val="4932"/>
              </a:lnSpc>
            </a:pPr>
            <a:r>
              <a:rPr lang="en-US" sz="2399" b="1" i="1">
                <a:solidFill>
                  <a:srgbClr val="3D1700"/>
                </a:solidFill>
                <a:latin typeface="Arima Madurai Bold Italics"/>
                <a:ea typeface="Arima Madurai Bold Italics"/>
                <a:cs typeface="Arima Madurai Bold Italics"/>
                <a:sym typeface="Arima Madurai Bold Italics"/>
              </a:rPr>
              <a:t>4</a:t>
            </a:r>
          </a:p>
        </p:txBody>
      </p:sp>
      <p:sp>
        <p:nvSpPr>
          <p:cNvPr id="44" name="TextBox 44"/>
          <p:cNvSpPr txBox="1"/>
          <p:nvPr/>
        </p:nvSpPr>
        <p:spPr>
          <a:xfrm>
            <a:off x="2881259" y="285424"/>
            <a:ext cx="11899982" cy="807913"/>
          </a:xfrm>
          <a:prstGeom prst="rect">
            <a:avLst/>
          </a:prstGeom>
        </p:spPr>
        <p:txBody>
          <a:bodyPr wrap="square" lIns="0" tIns="0" rIns="0" bIns="0" rtlCol="0" anchor="t">
            <a:spAutoFit/>
          </a:bodyPr>
          <a:lstStyle/>
          <a:p>
            <a:pPr algn="l">
              <a:lnSpc>
                <a:spcPts val="6299"/>
              </a:lnSpc>
            </a:pPr>
            <a:r>
              <a:rPr lang="en-US" sz="4500" b="1" i="1" dirty="0">
                <a:solidFill>
                  <a:srgbClr val="471C0B"/>
                </a:solidFill>
                <a:latin typeface="Arima Madurai Bold Italics"/>
                <a:ea typeface="Arima Madurai Bold Italics"/>
                <a:cs typeface="Arima Madurai Bold Italics"/>
                <a:sym typeface="Arima Madurai Bold Italics"/>
              </a:rPr>
              <a:t>Monthly Sales Growth and Revenue Trends </a:t>
            </a:r>
          </a:p>
        </p:txBody>
      </p:sp>
      <p:sp>
        <p:nvSpPr>
          <p:cNvPr id="46" name="TextBox 46"/>
          <p:cNvSpPr txBox="1"/>
          <p:nvPr/>
        </p:nvSpPr>
        <p:spPr>
          <a:xfrm>
            <a:off x="746102" y="7690749"/>
            <a:ext cx="16170297" cy="1663789"/>
          </a:xfrm>
          <a:prstGeom prst="rect">
            <a:avLst/>
          </a:prstGeom>
        </p:spPr>
        <p:txBody>
          <a:bodyPr wrap="square" lIns="0" tIns="0" rIns="0" bIns="0" rtlCol="0" anchor="t">
            <a:spAutoFit/>
          </a:bodyPr>
          <a:lstStyle/>
          <a:p>
            <a:pPr marL="342900" indent="-342900" algn="l">
              <a:lnSpc>
                <a:spcPts val="3298"/>
              </a:lnSpc>
              <a:buFont typeface="Arial" panose="020B0604020202020204" pitchFamily="34" charset="0"/>
              <a:buChar char="•"/>
            </a:pPr>
            <a:r>
              <a:rPr lang="en-US" sz="2399" dirty="0">
                <a:solidFill>
                  <a:srgbClr val="471C0B"/>
                </a:solidFill>
                <a:latin typeface="Arapey"/>
                <a:ea typeface="Arapey"/>
                <a:cs typeface="Arapey"/>
                <a:sym typeface="Arapey"/>
              </a:rPr>
              <a:t>Strong correlation between sales volume and revenue growth (positive growth trends). </a:t>
            </a:r>
          </a:p>
          <a:p>
            <a:pPr marL="342900" indent="-342900" algn="l">
              <a:lnSpc>
                <a:spcPts val="3298"/>
              </a:lnSpc>
              <a:buFont typeface="Arial" panose="020B0604020202020204" pitchFamily="34" charset="0"/>
              <a:buChar char="•"/>
            </a:pPr>
            <a:r>
              <a:rPr lang="en-US" sz="2399" dirty="0">
                <a:solidFill>
                  <a:srgbClr val="471C0B"/>
                </a:solidFill>
                <a:latin typeface="Arapey"/>
                <a:ea typeface="Arapey"/>
                <a:cs typeface="Arapey"/>
                <a:sym typeface="Arapey"/>
              </a:rPr>
              <a:t>Total revenue contribution increases from </a:t>
            </a:r>
            <a:r>
              <a:rPr lang="en-US" sz="2399" i="1" dirty="0">
                <a:solidFill>
                  <a:srgbClr val="471C0B"/>
                </a:solidFill>
                <a:latin typeface="Arapey Bold Italics"/>
                <a:ea typeface="Arapey Bold Italics"/>
                <a:cs typeface="Arapey Bold Italics"/>
                <a:sym typeface="Arapey Bold Italics"/>
              </a:rPr>
              <a:t>11.69%</a:t>
            </a:r>
            <a:r>
              <a:rPr lang="en-US" sz="2399" dirty="0">
                <a:solidFill>
                  <a:srgbClr val="471C0B"/>
                </a:solidFill>
                <a:latin typeface="Arapey"/>
                <a:ea typeface="Arapey"/>
                <a:cs typeface="Arapey"/>
                <a:sym typeface="Arapey"/>
              </a:rPr>
              <a:t> (Jan) to </a:t>
            </a:r>
            <a:r>
              <a:rPr lang="en-US" sz="2399" i="1" dirty="0">
                <a:solidFill>
                  <a:srgbClr val="471C0B"/>
                </a:solidFill>
                <a:latin typeface="Arapey Bold Italics"/>
                <a:ea typeface="Arapey Bold Italics"/>
                <a:cs typeface="Arapey Bold Italics"/>
                <a:sym typeface="Arapey Bold Italics"/>
              </a:rPr>
              <a:t>23.82%</a:t>
            </a:r>
            <a:r>
              <a:rPr lang="en-US" sz="2399" dirty="0">
                <a:solidFill>
                  <a:srgbClr val="471C0B"/>
                </a:solidFill>
                <a:latin typeface="Arapey"/>
                <a:ea typeface="Arapey"/>
                <a:cs typeface="Arapey"/>
                <a:sym typeface="Arapey"/>
              </a:rPr>
              <a:t> (Jun), with peak performance in June </a:t>
            </a:r>
            <a:r>
              <a:rPr lang="en-US" sz="2399" i="1" dirty="0">
                <a:solidFill>
                  <a:srgbClr val="471C0B"/>
                </a:solidFill>
                <a:latin typeface="Arapey Bold Italics"/>
                <a:ea typeface="Arapey Bold Italics"/>
                <a:cs typeface="Arapey Bold Italics"/>
                <a:sym typeface="Arapey Bold Italics"/>
              </a:rPr>
              <a:t>(23.82%)</a:t>
            </a:r>
            <a:r>
              <a:rPr lang="en-US" sz="2399" dirty="0">
                <a:solidFill>
                  <a:srgbClr val="471C0B"/>
                </a:solidFill>
                <a:latin typeface="Arapey"/>
                <a:ea typeface="Arapey"/>
                <a:cs typeface="Arapey"/>
                <a:sym typeface="Arapey"/>
              </a:rPr>
              <a:t> followed by May</a:t>
            </a:r>
          </a:p>
          <a:p>
            <a:pPr marL="342900" indent="-342900" algn="l">
              <a:lnSpc>
                <a:spcPts val="3298"/>
              </a:lnSpc>
              <a:buFont typeface="Arial" panose="020B0604020202020204" pitchFamily="34" charset="0"/>
              <a:buChar char="•"/>
            </a:pPr>
            <a:r>
              <a:rPr lang="en-US" sz="2399" dirty="0">
                <a:solidFill>
                  <a:srgbClr val="471C0B"/>
                </a:solidFill>
                <a:latin typeface="Arapey"/>
                <a:ea typeface="Arapey"/>
                <a:cs typeface="Arapey"/>
                <a:sym typeface="Arapey"/>
              </a:rPr>
              <a:t> February records the lowest sales and revenue contributing </a:t>
            </a:r>
            <a:r>
              <a:rPr lang="en-US" sz="2399" i="1" dirty="0">
                <a:solidFill>
                  <a:srgbClr val="471C0B"/>
                </a:solidFill>
                <a:latin typeface="Arapey Bold Italics"/>
                <a:ea typeface="Arapey Bold Italics"/>
                <a:cs typeface="Arapey Bold Italics"/>
                <a:sym typeface="Arapey Bold Italics"/>
              </a:rPr>
              <a:t>16308 </a:t>
            </a:r>
            <a:r>
              <a:rPr lang="en-US" sz="2399" dirty="0">
                <a:solidFill>
                  <a:srgbClr val="471C0B"/>
                </a:solidFill>
                <a:latin typeface="Arapey"/>
                <a:ea typeface="Arapey"/>
                <a:cs typeface="Arapey"/>
                <a:sym typeface="Arapey"/>
              </a:rPr>
              <a:t>in sales volume</a:t>
            </a:r>
            <a:r>
              <a:rPr lang="en-US" sz="2399" i="1" dirty="0">
                <a:solidFill>
                  <a:srgbClr val="471C0B"/>
                </a:solidFill>
                <a:latin typeface="Arapey Bold Italics"/>
                <a:ea typeface="Arapey Bold Italics"/>
                <a:cs typeface="Arapey Bold Italics"/>
                <a:sym typeface="Arapey Bold Italics"/>
              </a:rPr>
              <a:t> </a:t>
            </a:r>
            <a:r>
              <a:rPr lang="en-US" sz="2399" dirty="0">
                <a:solidFill>
                  <a:srgbClr val="471C0B"/>
                </a:solidFill>
                <a:latin typeface="Arapey"/>
                <a:ea typeface="Arapey"/>
                <a:cs typeface="Arapey"/>
                <a:sym typeface="Arapey"/>
              </a:rPr>
              <a:t>and </a:t>
            </a:r>
            <a:r>
              <a:rPr lang="en-US" sz="2399" i="1" dirty="0">
                <a:solidFill>
                  <a:srgbClr val="471C0B"/>
                </a:solidFill>
                <a:latin typeface="Arapey Bold Italics"/>
                <a:ea typeface="Arapey Bold Italics"/>
                <a:cs typeface="Arapey Bold Italics"/>
                <a:sym typeface="Arapey Bold Italics"/>
              </a:rPr>
              <a:t>10.90%</a:t>
            </a:r>
            <a:r>
              <a:rPr lang="en-US" sz="2399" dirty="0">
                <a:solidFill>
                  <a:srgbClr val="471C0B"/>
                </a:solidFill>
                <a:latin typeface="Arapey"/>
                <a:ea typeface="Arapey"/>
                <a:cs typeface="Arapey"/>
                <a:sym typeface="Arapey"/>
              </a:rPr>
              <a:t> in revenue. </a:t>
            </a:r>
          </a:p>
          <a:p>
            <a:pPr marL="342900" indent="-342900" algn="l">
              <a:lnSpc>
                <a:spcPts val="3298"/>
              </a:lnSpc>
              <a:buFont typeface="Arial" panose="020B0604020202020204" pitchFamily="34" charset="0"/>
              <a:buChar char="•"/>
            </a:pPr>
            <a:r>
              <a:rPr lang="en-US" sz="2399" dirty="0">
                <a:solidFill>
                  <a:srgbClr val="471C0B"/>
                </a:solidFill>
                <a:latin typeface="Arapey"/>
                <a:ea typeface="Arapey"/>
                <a:cs typeface="Arapey"/>
                <a:sym typeface="Arapey"/>
              </a:rPr>
              <a:t>Most revenue is generated from customers who spend =&lt; </a:t>
            </a:r>
            <a:r>
              <a:rPr lang="en-US" sz="2399" i="1" dirty="0">
                <a:solidFill>
                  <a:srgbClr val="471C0B"/>
                </a:solidFill>
                <a:latin typeface="Arapey Bold Italics"/>
                <a:ea typeface="Arapey Bold Italics"/>
                <a:cs typeface="Arapey Bold Italics"/>
                <a:sym typeface="Arapey Bold Italics"/>
              </a:rPr>
              <a:t>R50 </a:t>
            </a:r>
            <a:r>
              <a:rPr lang="en-US" sz="2399" dirty="0">
                <a:solidFill>
                  <a:srgbClr val="471C0B"/>
                </a:solidFill>
                <a:latin typeface="Arapey"/>
                <a:ea typeface="Arapey"/>
                <a:cs typeface="Arapey"/>
                <a:sym typeface="Arapey"/>
              </a:rPr>
              <a:t>and this segment accounts for </a:t>
            </a:r>
            <a:r>
              <a:rPr lang="en-US" sz="2399" i="1" dirty="0">
                <a:solidFill>
                  <a:srgbClr val="471C0B"/>
                </a:solidFill>
                <a:latin typeface="Arapey Bold Italics"/>
                <a:ea typeface="Arapey Bold Italics"/>
                <a:cs typeface="Arapey Bold Italics"/>
                <a:sym typeface="Arapey Bold Italics"/>
              </a:rPr>
              <a:t>99.95</a:t>
            </a:r>
            <a:r>
              <a:rPr lang="en-US" sz="2399" dirty="0">
                <a:solidFill>
                  <a:srgbClr val="471C0B"/>
                </a:solidFill>
                <a:latin typeface="Arapey"/>
                <a:ea typeface="Arapey"/>
                <a:cs typeface="Arapey"/>
                <a:sym typeface="Arapey"/>
              </a:rPr>
              <a:t>% of customer volume.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a:off x="9388759" y="2049332"/>
            <a:ext cx="8423367" cy="5080302"/>
          </a:xfrm>
          <a:custGeom>
            <a:avLst/>
            <a:gdLst/>
            <a:ahLst/>
            <a:cxnLst/>
            <a:rect l="l" t="t" r="r" b="b"/>
            <a:pathLst>
              <a:path w="8423367" h="5080302">
                <a:moveTo>
                  <a:pt x="0" y="0"/>
                </a:moveTo>
                <a:lnTo>
                  <a:pt x="8423367" y="0"/>
                </a:lnTo>
                <a:lnTo>
                  <a:pt x="8423367" y="5080301"/>
                </a:lnTo>
                <a:lnTo>
                  <a:pt x="0" y="508030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9" name="Group 9"/>
          <p:cNvGrpSpPr/>
          <p:nvPr/>
        </p:nvGrpSpPr>
        <p:grpSpPr>
          <a:xfrm>
            <a:off x="220904" y="2117746"/>
            <a:ext cx="9201150" cy="4943475"/>
            <a:chOff x="0" y="0"/>
            <a:chExt cx="12268200" cy="6591300"/>
          </a:xfrm>
        </p:grpSpPr>
        <p:sp>
          <p:nvSpPr>
            <p:cNvPr id="10" name="Freeform 10"/>
            <p:cNvSpPr/>
            <p:nvPr/>
          </p:nvSpPr>
          <p:spPr>
            <a:xfrm>
              <a:off x="0" y="0"/>
              <a:ext cx="12268200" cy="6591300"/>
            </a:xfrm>
            <a:custGeom>
              <a:avLst/>
              <a:gdLst/>
              <a:ahLst/>
              <a:cxnLst/>
              <a:rect l="l" t="t" r="r" b="b"/>
              <a:pathLst>
                <a:path w="12268200" h="6591300">
                  <a:moveTo>
                    <a:pt x="0" y="0"/>
                  </a:moveTo>
                  <a:lnTo>
                    <a:pt x="12268200" y="0"/>
                  </a:lnTo>
                  <a:lnTo>
                    <a:pt x="12268200" y="6591300"/>
                  </a:lnTo>
                  <a:lnTo>
                    <a:pt x="0" y="6591300"/>
                  </a:lnTo>
                  <a:lnTo>
                    <a:pt x="0" y="0"/>
                  </a:lnTo>
                  <a:close/>
                </a:path>
              </a:pathLst>
            </a:custGeom>
            <a:blipFill>
              <a:blip r:embed="rId3"/>
              <a:stretch>
                <a:fillRect/>
              </a:stretch>
            </a:blipFill>
          </p:spPr>
          <p:txBody>
            <a:bodyPr/>
            <a:lstStyle/>
            <a:p>
              <a:endParaRPr lang="en-US"/>
            </a:p>
          </p:txBody>
        </p:sp>
      </p:grpSp>
      <p:grpSp>
        <p:nvGrpSpPr>
          <p:cNvPr id="11" name="Group 11"/>
          <p:cNvGrpSpPr/>
          <p:nvPr/>
        </p:nvGrpSpPr>
        <p:grpSpPr>
          <a:xfrm>
            <a:off x="544773" y="8343290"/>
            <a:ext cx="85725" cy="85725"/>
            <a:chOff x="0" y="0"/>
            <a:chExt cx="85725" cy="85725"/>
          </a:xfrm>
        </p:grpSpPr>
        <p:sp>
          <p:nvSpPr>
            <p:cNvPr id="12" name="Freeform 12"/>
            <p:cNvSpPr/>
            <p:nvPr/>
          </p:nvSpPr>
          <p:spPr>
            <a:xfrm>
              <a:off x="0" y="0"/>
              <a:ext cx="85725" cy="85725"/>
            </a:xfrm>
            <a:custGeom>
              <a:avLst/>
              <a:gdLst/>
              <a:ahLst/>
              <a:cxnLst/>
              <a:rect l="l" t="t" r="r" b="b"/>
              <a:pathLst>
                <a:path w="85725" h="85725">
                  <a:moveTo>
                    <a:pt x="85725" y="42926"/>
                  </a:moveTo>
                  <a:cubicBezTo>
                    <a:pt x="85725" y="48641"/>
                    <a:pt x="84582" y="54102"/>
                    <a:pt x="82423" y="59309"/>
                  </a:cubicBezTo>
                  <a:cubicBezTo>
                    <a:pt x="80264" y="64516"/>
                    <a:pt x="77089" y="69215"/>
                    <a:pt x="73152" y="73152"/>
                  </a:cubicBezTo>
                  <a:cubicBezTo>
                    <a:pt x="69215" y="77089"/>
                    <a:pt x="64516" y="80264"/>
                    <a:pt x="59309" y="82423"/>
                  </a:cubicBezTo>
                  <a:cubicBezTo>
                    <a:pt x="54102" y="84582"/>
                    <a:pt x="48641" y="85725"/>
                    <a:pt x="42926" y="85725"/>
                  </a:cubicBezTo>
                  <a:cubicBezTo>
                    <a:pt x="37211" y="85725"/>
                    <a:pt x="31750" y="84582"/>
                    <a:pt x="26543" y="82423"/>
                  </a:cubicBezTo>
                  <a:cubicBezTo>
                    <a:pt x="21336" y="80264"/>
                    <a:pt x="16510" y="77216"/>
                    <a:pt x="12573" y="73152"/>
                  </a:cubicBezTo>
                  <a:cubicBezTo>
                    <a:pt x="8636" y="69088"/>
                    <a:pt x="5461" y="64516"/>
                    <a:pt x="3302" y="59309"/>
                  </a:cubicBezTo>
                  <a:cubicBezTo>
                    <a:pt x="1143" y="54102"/>
                    <a:pt x="0" y="48514"/>
                    <a:pt x="0" y="42926"/>
                  </a:cubicBezTo>
                  <a:cubicBezTo>
                    <a:pt x="0" y="37338"/>
                    <a:pt x="1143" y="31750"/>
                    <a:pt x="3302" y="26416"/>
                  </a:cubicBezTo>
                  <a:cubicBezTo>
                    <a:pt x="5461" y="21082"/>
                    <a:pt x="8509" y="16510"/>
                    <a:pt x="12573" y="12573"/>
                  </a:cubicBezTo>
                  <a:cubicBezTo>
                    <a:pt x="16637" y="8636"/>
                    <a:pt x="21209" y="5461"/>
                    <a:pt x="26416" y="3302"/>
                  </a:cubicBezTo>
                  <a:cubicBezTo>
                    <a:pt x="31623" y="1143"/>
                    <a:pt x="37211" y="0"/>
                    <a:pt x="42926" y="0"/>
                  </a:cubicBezTo>
                  <a:cubicBezTo>
                    <a:pt x="48641" y="0"/>
                    <a:pt x="54102" y="1143"/>
                    <a:pt x="59309" y="3302"/>
                  </a:cubicBezTo>
                  <a:cubicBezTo>
                    <a:pt x="64516" y="5461"/>
                    <a:pt x="69215" y="8636"/>
                    <a:pt x="73152" y="12573"/>
                  </a:cubicBezTo>
                  <a:cubicBezTo>
                    <a:pt x="77089" y="16510"/>
                    <a:pt x="80264" y="21209"/>
                    <a:pt x="82423" y="26416"/>
                  </a:cubicBezTo>
                  <a:cubicBezTo>
                    <a:pt x="84582" y="31623"/>
                    <a:pt x="85725" y="37084"/>
                    <a:pt x="85725" y="42799"/>
                  </a:cubicBezTo>
                  <a:close/>
                </a:path>
              </a:pathLst>
            </a:custGeom>
            <a:solidFill>
              <a:srgbClr val="471C0B"/>
            </a:solidFill>
          </p:spPr>
          <p:txBody>
            <a:bodyPr/>
            <a:lstStyle/>
            <a:p>
              <a:endParaRPr lang="en-US"/>
            </a:p>
          </p:txBody>
        </p:sp>
      </p:grpSp>
      <p:grpSp>
        <p:nvGrpSpPr>
          <p:cNvPr id="13" name="Group 13"/>
          <p:cNvGrpSpPr/>
          <p:nvPr/>
        </p:nvGrpSpPr>
        <p:grpSpPr>
          <a:xfrm>
            <a:off x="544773" y="8743340"/>
            <a:ext cx="85725" cy="85725"/>
            <a:chOff x="0" y="0"/>
            <a:chExt cx="85725" cy="85725"/>
          </a:xfrm>
        </p:grpSpPr>
        <p:sp>
          <p:nvSpPr>
            <p:cNvPr id="14" name="Freeform 14"/>
            <p:cNvSpPr/>
            <p:nvPr/>
          </p:nvSpPr>
          <p:spPr>
            <a:xfrm>
              <a:off x="0" y="0"/>
              <a:ext cx="85725" cy="85725"/>
            </a:xfrm>
            <a:custGeom>
              <a:avLst/>
              <a:gdLst/>
              <a:ahLst/>
              <a:cxnLst/>
              <a:rect l="l" t="t" r="r" b="b"/>
              <a:pathLst>
                <a:path w="85725" h="85725">
                  <a:moveTo>
                    <a:pt x="85725" y="42926"/>
                  </a:moveTo>
                  <a:cubicBezTo>
                    <a:pt x="85725" y="48641"/>
                    <a:pt x="84582" y="54102"/>
                    <a:pt x="82423" y="59309"/>
                  </a:cubicBezTo>
                  <a:cubicBezTo>
                    <a:pt x="80264" y="64516"/>
                    <a:pt x="77089" y="69215"/>
                    <a:pt x="73152" y="73152"/>
                  </a:cubicBezTo>
                  <a:cubicBezTo>
                    <a:pt x="69215" y="77089"/>
                    <a:pt x="64516" y="80264"/>
                    <a:pt x="59309" y="82423"/>
                  </a:cubicBezTo>
                  <a:cubicBezTo>
                    <a:pt x="54102" y="84582"/>
                    <a:pt x="48641" y="85725"/>
                    <a:pt x="42926" y="85725"/>
                  </a:cubicBezTo>
                  <a:cubicBezTo>
                    <a:pt x="37211" y="85725"/>
                    <a:pt x="31750" y="84582"/>
                    <a:pt x="26543" y="82423"/>
                  </a:cubicBezTo>
                  <a:cubicBezTo>
                    <a:pt x="21336" y="80264"/>
                    <a:pt x="16510" y="77216"/>
                    <a:pt x="12573" y="73152"/>
                  </a:cubicBezTo>
                  <a:cubicBezTo>
                    <a:pt x="8636" y="69088"/>
                    <a:pt x="5461" y="64516"/>
                    <a:pt x="3302" y="59309"/>
                  </a:cubicBezTo>
                  <a:cubicBezTo>
                    <a:pt x="1143" y="54102"/>
                    <a:pt x="0" y="48514"/>
                    <a:pt x="0" y="42926"/>
                  </a:cubicBezTo>
                  <a:cubicBezTo>
                    <a:pt x="0" y="37338"/>
                    <a:pt x="1143" y="31750"/>
                    <a:pt x="3302" y="26416"/>
                  </a:cubicBezTo>
                  <a:cubicBezTo>
                    <a:pt x="5461" y="21082"/>
                    <a:pt x="8509" y="16510"/>
                    <a:pt x="12573" y="12573"/>
                  </a:cubicBezTo>
                  <a:cubicBezTo>
                    <a:pt x="16637" y="8636"/>
                    <a:pt x="21209" y="5461"/>
                    <a:pt x="26416" y="3302"/>
                  </a:cubicBezTo>
                  <a:cubicBezTo>
                    <a:pt x="31623" y="1143"/>
                    <a:pt x="37211" y="0"/>
                    <a:pt x="42926" y="0"/>
                  </a:cubicBezTo>
                  <a:cubicBezTo>
                    <a:pt x="48641" y="0"/>
                    <a:pt x="54102" y="1143"/>
                    <a:pt x="59309" y="3302"/>
                  </a:cubicBezTo>
                  <a:cubicBezTo>
                    <a:pt x="64516" y="5461"/>
                    <a:pt x="69215" y="8636"/>
                    <a:pt x="73152" y="12573"/>
                  </a:cubicBezTo>
                  <a:cubicBezTo>
                    <a:pt x="77089" y="16510"/>
                    <a:pt x="80264" y="21209"/>
                    <a:pt x="82423" y="26416"/>
                  </a:cubicBezTo>
                  <a:cubicBezTo>
                    <a:pt x="84582" y="31623"/>
                    <a:pt x="85725" y="37084"/>
                    <a:pt x="85725" y="42799"/>
                  </a:cubicBezTo>
                  <a:close/>
                </a:path>
              </a:pathLst>
            </a:custGeom>
            <a:solidFill>
              <a:srgbClr val="471C0B"/>
            </a:solidFill>
          </p:spPr>
          <p:txBody>
            <a:bodyPr/>
            <a:lstStyle/>
            <a:p>
              <a:endParaRPr lang="en-US"/>
            </a:p>
          </p:txBody>
        </p:sp>
      </p:grpSp>
      <p:grpSp>
        <p:nvGrpSpPr>
          <p:cNvPr id="15" name="Group 15"/>
          <p:cNvGrpSpPr/>
          <p:nvPr/>
        </p:nvGrpSpPr>
        <p:grpSpPr>
          <a:xfrm>
            <a:off x="544773" y="9143390"/>
            <a:ext cx="85725" cy="85725"/>
            <a:chOff x="0" y="0"/>
            <a:chExt cx="85725" cy="85725"/>
          </a:xfrm>
        </p:grpSpPr>
        <p:sp>
          <p:nvSpPr>
            <p:cNvPr id="16" name="Freeform 16"/>
            <p:cNvSpPr/>
            <p:nvPr/>
          </p:nvSpPr>
          <p:spPr>
            <a:xfrm>
              <a:off x="0" y="0"/>
              <a:ext cx="85725" cy="85725"/>
            </a:xfrm>
            <a:custGeom>
              <a:avLst/>
              <a:gdLst/>
              <a:ahLst/>
              <a:cxnLst/>
              <a:rect l="l" t="t" r="r" b="b"/>
              <a:pathLst>
                <a:path w="85725" h="85725">
                  <a:moveTo>
                    <a:pt x="85725" y="42926"/>
                  </a:moveTo>
                  <a:cubicBezTo>
                    <a:pt x="85725" y="48641"/>
                    <a:pt x="84582" y="54102"/>
                    <a:pt x="82423" y="59309"/>
                  </a:cubicBezTo>
                  <a:cubicBezTo>
                    <a:pt x="80264" y="64516"/>
                    <a:pt x="77089" y="69215"/>
                    <a:pt x="73152" y="73152"/>
                  </a:cubicBezTo>
                  <a:cubicBezTo>
                    <a:pt x="69215" y="77089"/>
                    <a:pt x="64516" y="80264"/>
                    <a:pt x="59309" y="82423"/>
                  </a:cubicBezTo>
                  <a:cubicBezTo>
                    <a:pt x="54102" y="84582"/>
                    <a:pt x="48641" y="85725"/>
                    <a:pt x="42926" y="85725"/>
                  </a:cubicBezTo>
                  <a:cubicBezTo>
                    <a:pt x="37211" y="85725"/>
                    <a:pt x="31750" y="84582"/>
                    <a:pt x="26543" y="82423"/>
                  </a:cubicBezTo>
                  <a:cubicBezTo>
                    <a:pt x="21336" y="80264"/>
                    <a:pt x="16510" y="77216"/>
                    <a:pt x="12573" y="73152"/>
                  </a:cubicBezTo>
                  <a:cubicBezTo>
                    <a:pt x="8636" y="69088"/>
                    <a:pt x="5461" y="64516"/>
                    <a:pt x="3302" y="59309"/>
                  </a:cubicBezTo>
                  <a:cubicBezTo>
                    <a:pt x="1143" y="54102"/>
                    <a:pt x="0" y="48514"/>
                    <a:pt x="0" y="42926"/>
                  </a:cubicBezTo>
                  <a:cubicBezTo>
                    <a:pt x="0" y="37338"/>
                    <a:pt x="1143" y="31750"/>
                    <a:pt x="3302" y="26416"/>
                  </a:cubicBezTo>
                  <a:cubicBezTo>
                    <a:pt x="5461" y="21082"/>
                    <a:pt x="8509" y="16510"/>
                    <a:pt x="12573" y="12573"/>
                  </a:cubicBezTo>
                  <a:cubicBezTo>
                    <a:pt x="16637" y="8636"/>
                    <a:pt x="21209" y="5461"/>
                    <a:pt x="26416" y="3302"/>
                  </a:cubicBezTo>
                  <a:cubicBezTo>
                    <a:pt x="31623" y="1143"/>
                    <a:pt x="37211" y="0"/>
                    <a:pt x="42926" y="0"/>
                  </a:cubicBezTo>
                  <a:cubicBezTo>
                    <a:pt x="48641" y="0"/>
                    <a:pt x="54102" y="1143"/>
                    <a:pt x="59309" y="3302"/>
                  </a:cubicBezTo>
                  <a:cubicBezTo>
                    <a:pt x="64516" y="5461"/>
                    <a:pt x="69215" y="8636"/>
                    <a:pt x="73152" y="12573"/>
                  </a:cubicBezTo>
                  <a:cubicBezTo>
                    <a:pt x="77089" y="16510"/>
                    <a:pt x="80264" y="21209"/>
                    <a:pt x="82423" y="26416"/>
                  </a:cubicBezTo>
                  <a:cubicBezTo>
                    <a:pt x="84582" y="31623"/>
                    <a:pt x="85725" y="37084"/>
                    <a:pt x="85725" y="42799"/>
                  </a:cubicBezTo>
                  <a:close/>
                </a:path>
              </a:pathLst>
            </a:custGeom>
            <a:solidFill>
              <a:srgbClr val="471C0B"/>
            </a:solidFill>
          </p:spPr>
          <p:txBody>
            <a:bodyPr/>
            <a:lstStyle/>
            <a:p>
              <a:endParaRPr lang="en-US"/>
            </a:p>
          </p:txBody>
        </p:sp>
      </p:grpSp>
      <p:sp>
        <p:nvSpPr>
          <p:cNvPr id="19" name="TextBox 19"/>
          <p:cNvSpPr txBox="1"/>
          <p:nvPr/>
        </p:nvSpPr>
        <p:spPr>
          <a:xfrm>
            <a:off x="10238927" y="6608502"/>
            <a:ext cx="739759" cy="264881"/>
          </a:xfrm>
          <a:prstGeom prst="rect">
            <a:avLst/>
          </a:prstGeom>
        </p:spPr>
        <p:txBody>
          <a:bodyPr lIns="0" tIns="0" rIns="0" bIns="0" rtlCol="0" anchor="t">
            <a:spAutoFit/>
          </a:bodyPr>
          <a:lstStyle/>
          <a:p>
            <a:pPr algn="l">
              <a:lnSpc>
                <a:spcPts val="2100"/>
              </a:lnSpc>
            </a:pPr>
            <a:r>
              <a:rPr lang="en-US" sz="1500">
                <a:solidFill>
                  <a:srgbClr val="000000"/>
                </a:solidFill>
                <a:latin typeface="Canva Sans"/>
                <a:ea typeface="Canva Sans"/>
                <a:cs typeface="Canva Sans"/>
                <a:sym typeface="Canva Sans"/>
              </a:rPr>
              <a:t>Evening</a:t>
            </a:r>
          </a:p>
        </p:txBody>
      </p:sp>
      <p:sp>
        <p:nvSpPr>
          <p:cNvPr id="20" name="TextBox 20"/>
          <p:cNvSpPr txBox="1"/>
          <p:nvPr/>
        </p:nvSpPr>
        <p:spPr>
          <a:xfrm>
            <a:off x="10131771" y="5628799"/>
            <a:ext cx="958263" cy="264881"/>
          </a:xfrm>
          <a:prstGeom prst="rect">
            <a:avLst/>
          </a:prstGeom>
        </p:spPr>
        <p:txBody>
          <a:bodyPr lIns="0" tIns="0" rIns="0" bIns="0" rtlCol="0" anchor="t">
            <a:spAutoFit/>
          </a:bodyPr>
          <a:lstStyle/>
          <a:p>
            <a:pPr algn="l">
              <a:lnSpc>
                <a:spcPts val="2100"/>
              </a:lnSpc>
            </a:pPr>
            <a:r>
              <a:rPr lang="en-US" sz="1500">
                <a:solidFill>
                  <a:srgbClr val="000000"/>
                </a:solidFill>
                <a:latin typeface="Canva Sans"/>
                <a:ea typeface="Canva Sans"/>
                <a:cs typeface="Canva Sans"/>
                <a:sym typeface="Canva Sans"/>
              </a:rPr>
              <a:t>Afternoon</a:t>
            </a:r>
          </a:p>
        </p:txBody>
      </p:sp>
      <p:sp>
        <p:nvSpPr>
          <p:cNvPr id="21" name="TextBox 21"/>
          <p:cNvSpPr txBox="1"/>
          <p:nvPr/>
        </p:nvSpPr>
        <p:spPr>
          <a:xfrm>
            <a:off x="10056466" y="2678344"/>
            <a:ext cx="1112063" cy="264881"/>
          </a:xfrm>
          <a:prstGeom prst="rect">
            <a:avLst/>
          </a:prstGeom>
        </p:spPr>
        <p:txBody>
          <a:bodyPr lIns="0" tIns="0" rIns="0" bIns="0" rtlCol="0" anchor="t">
            <a:spAutoFit/>
          </a:bodyPr>
          <a:lstStyle/>
          <a:p>
            <a:pPr algn="l">
              <a:lnSpc>
                <a:spcPts val="2100"/>
              </a:lnSpc>
            </a:pPr>
            <a:r>
              <a:rPr lang="en-US" sz="1500" b="1">
                <a:solidFill>
                  <a:srgbClr val="000000"/>
                </a:solidFill>
                <a:latin typeface="Canva Sans Bold"/>
                <a:ea typeface="Canva Sans Bold"/>
                <a:cs typeface="Canva Sans Bold"/>
                <a:sym typeface="Canva Sans Bold"/>
              </a:rPr>
              <a:t>Description</a:t>
            </a:r>
          </a:p>
        </p:txBody>
      </p:sp>
      <p:sp>
        <p:nvSpPr>
          <p:cNvPr id="22" name="TextBox 22"/>
          <p:cNvSpPr txBox="1"/>
          <p:nvPr/>
        </p:nvSpPr>
        <p:spPr>
          <a:xfrm>
            <a:off x="9996783" y="4649095"/>
            <a:ext cx="1233792" cy="264881"/>
          </a:xfrm>
          <a:prstGeom prst="rect">
            <a:avLst/>
          </a:prstGeom>
        </p:spPr>
        <p:txBody>
          <a:bodyPr lIns="0" tIns="0" rIns="0" bIns="0" rtlCol="0" anchor="t">
            <a:spAutoFit/>
          </a:bodyPr>
          <a:lstStyle/>
          <a:p>
            <a:pPr algn="l">
              <a:lnSpc>
                <a:spcPts val="2100"/>
              </a:lnSpc>
            </a:pPr>
            <a:r>
              <a:rPr lang="en-US" sz="1500">
                <a:solidFill>
                  <a:srgbClr val="000000"/>
                </a:solidFill>
                <a:latin typeface="Canva Sans"/>
                <a:ea typeface="Canva Sans"/>
                <a:cs typeface="Canva Sans"/>
                <a:sym typeface="Canva Sans"/>
              </a:rPr>
              <a:t>Late Morning</a:t>
            </a:r>
          </a:p>
        </p:txBody>
      </p:sp>
      <p:sp>
        <p:nvSpPr>
          <p:cNvPr id="23" name="TextBox 23"/>
          <p:cNvSpPr txBox="1"/>
          <p:nvPr/>
        </p:nvSpPr>
        <p:spPr>
          <a:xfrm>
            <a:off x="9965379" y="3669392"/>
            <a:ext cx="1297838" cy="264881"/>
          </a:xfrm>
          <a:prstGeom prst="rect">
            <a:avLst/>
          </a:prstGeom>
        </p:spPr>
        <p:txBody>
          <a:bodyPr lIns="0" tIns="0" rIns="0" bIns="0" rtlCol="0" anchor="t">
            <a:spAutoFit/>
          </a:bodyPr>
          <a:lstStyle/>
          <a:p>
            <a:pPr algn="l">
              <a:lnSpc>
                <a:spcPts val="2100"/>
              </a:lnSpc>
            </a:pPr>
            <a:r>
              <a:rPr lang="en-US" sz="1500">
                <a:solidFill>
                  <a:srgbClr val="000000"/>
                </a:solidFill>
                <a:latin typeface="Canva Sans"/>
                <a:ea typeface="Canva Sans"/>
                <a:cs typeface="Canva Sans"/>
                <a:sym typeface="Canva Sans"/>
              </a:rPr>
              <a:t>Early Morning</a:t>
            </a:r>
          </a:p>
        </p:txBody>
      </p:sp>
      <p:sp>
        <p:nvSpPr>
          <p:cNvPr id="24" name="TextBox 24"/>
          <p:cNvSpPr txBox="1"/>
          <p:nvPr/>
        </p:nvSpPr>
        <p:spPr>
          <a:xfrm>
            <a:off x="12056459" y="2678344"/>
            <a:ext cx="1258272" cy="264881"/>
          </a:xfrm>
          <a:prstGeom prst="rect">
            <a:avLst/>
          </a:prstGeom>
        </p:spPr>
        <p:txBody>
          <a:bodyPr lIns="0" tIns="0" rIns="0" bIns="0" rtlCol="0" anchor="t">
            <a:spAutoFit/>
          </a:bodyPr>
          <a:lstStyle/>
          <a:p>
            <a:pPr algn="l">
              <a:lnSpc>
                <a:spcPts val="2100"/>
              </a:lnSpc>
            </a:pPr>
            <a:r>
              <a:rPr lang="en-US" sz="1500" b="1">
                <a:solidFill>
                  <a:srgbClr val="000000"/>
                </a:solidFill>
                <a:latin typeface="Canva Sans Bold"/>
                <a:ea typeface="Canva Sans Bold"/>
                <a:cs typeface="Canva Sans Bold"/>
                <a:sym typeface="Canva Sans Bold"/>
              </a:rPr>
              <a:t>Time Interval</a:t>
            </a:r>
          </a:p>
        </p:txBody>
      </p:sp>
      <p:sp>
        <p:nvSpPr>
          <p:cNvPr id="25" name="TextBox 25"/>
          <p:cNvSpPr txBox="1"/>
          <p:nvPr/>
        </p:nvSpPr>
        <p:spPr>
          <a:xfrm>
            <a:off x="11781730" y="5628799"/>
            <a:ext cx="1818713" cy="264881"/>
          </a:xfrm>
          <a:prstGeom prst="rect">
            <a:avLst/>
          </a:prstGeom>
        </p:spPr>
        <p:txBody>
          <a:bodyPr lIns="0" tIns="0" rIns="0" bIns="0" rtlCol="0" anchor="t">
            <a:spAutoFit/>
          </a:bodyPr>
          <a:lstStyle/>
          <a:p>
            <a:pPr algn="l">
              <a:lnSpc>
                <a:spcPts val="2100"/>
              </a:lnSpc>
            </a:pPr>
            <a:r>
              <a:rPr lang="en-US" sz="1500">
                <a:solidFill>
                  <a:srgbClr val="000000"/>
                </a:solidFill>
                <a:latin typeface="Canva Sans"/>
                <a:ea typeface="Canva Sans"/>
                <a:cs typeface="Canva Sans"/>
                <a:sym typeface="Canva Sans"/>
              </a:rPr>
              <a:t>14:00:00 - 17:59:59</a:t>
            </a:r>
          </a:p>
        </p:txBody>
      </p:sp>
      <p:sp>
        <p:nvSpPr>
          <p:cNvPr id="26" name="TextBox 26"/>
          <p:cNvSpPr txBox="1"/>
          <p:nvPr/>
        </p:nvSpPr>
        <p:spPr>
          <a:xfrm>
            <a:off x="11743925" y="6608502"/>
            <a:ext cx="1895751" cy="264881"/>
          </a:xfrm>
          <a:prstGeom prst="rect">
            <a:avLst/>
          </a:prstGeom>
        </p:spPr>
        <p:txBody>
          <a:bodyPr lIns="0" tIns="0" rIns="0" bIns="0" rtlCol="0" anchor="t">
            <a:spAutoFit/>
          </a:bodyPr>
          <a:lstStyle/>
          <a:p>
            <a:pPr algn="l">
              <a:lnSpc>
                <a:spcPts val="2100"/>
              </a:lnSpc>
            </a:pPr>
            <a:r>
              <a:rPr lang="en-US" sz="1500">
                <a:solidFill>
                  <a:srgbClr val="000000"/>
                </a:solidFill>
                <a:latin typeface="Canva Sans"/>
                <a:ea typeface="Canva Sans"/>
                <a:cs typeface="Canva Sans"/>
                <a:sym typeface="Canva Sans"/>
              </a:rPr>
              <a:t>18:00:00 - 21:00:00</a:t>
            </a:r>
          </a:p>
        </p:txBody>
      </p:sp>
      <p:sp>
        <p:nvSpPr>
          <p:cNvPr id="27" name="TextBox 27"/>
          <p:cNvSpPr txBox="1"/>
          <p:nvPr/>
        </p:nvSpPr>
        <p:spPr>
          <a:xfrm>
            <a:off x="11764166" y="4649095"/>
            <a:ext cx="1854479" cy="264881"/>
          </a:xfrm>
          <a:prstGeom prst="rect">
            <a:avLst/>
          </a:prstGeom>
        </p:spPr>
        <p:txBody>
          <a:bodyPr lIns="0" tIns="0" rIns="0" bIns="0" rtlCol="0" anchor="t">
            <a:spAutoFit/>
          </a:bodyPr>
          <a:lstStyle/>
          <a:p>
            <a:pPr algn="l">
              <a:lnSpc>
                <a:spcPts val="2100"/>
              </a:lnSpc>
            </a:pPr>
            <a:r>
              <a:rPr lang="en-US" sz="1500" dirty="0">
                <a:solidFill>
                  <a:srgbClr val="000000"/>
                </a:solidFill>
                <a:latin typeface="Canva Sans"/>
                <a:ea typeface="Canva Sans"/>
                <a:cs typeface="Canva Sans"/>
                <a:sym typeface="Canva Sans"/>
              </a:rPr>
              <a:t>10:00:00 - 13:59:59</a:t>
            </a:r>
          </a:p>
        </p:txBody>
      </p:sp>
      <p:sp>
        <p:nvSpPr>
          <p:cNvPr id="28" name="TextBox 28"/>
          <p:cNvSpPr txBox="1"/>
          <p:nvPr/>
        </p:nvSpPr>
        <p:spPr>
          <a:xfrm>
            <a:off x="11731571" y="3669392"/>
            <a:ext cx="1921183" cy="264881"/>
          </a:xfrm>
          <a:prstGeom prst="rect">
            <a:avLst/>
          </a:prstGeom>
        </p:spPr>
        <p:txBody>
          <a:bodyPr lIns="0" tIns="0" rIns="0" bIns="0" rtlCol="0" anchor="t">
            <a:spAutoFit/>
          </a:bodyPr>
          <a:lstStyle/>
          <a:p>
            <a:pPr algn="l">
              <a:lnSpc>
                <a:spcPts val="2100"/>
              </a:lnSpc>
            </a:pPr>
            <a:r>
              <a:rPr lang="en-US" sz="1500">
                <a:solidFill>
                  <a:srgbClr val="000000"/>
                </a:solidFill>
                <a:latin typeface="Canva Sans"/>
                <a:ea typeface="Canva Sans"/>
                <a:cs typeface="Canva Sans"/>
                <a:sym typeface="Canva Sans"/>
              </a:rPr>
              <a:t>06:00:00 - 09:59:59</a:t>
            </a:r>
          </a:p>
        </p:txBody>
      </p:sp>
      <p:sp>
        <p:nvSpPr>
          <p:cNvPr id="29" name="TextBox 29"/>
          <p:cNvSpPr txBox="1"/>
          <p:nvPr/>
        </p:nvSpPr>
        <p:spPr>
          <a:xfrm>
            <a:off x="14453835" y="6608502"/>
            <a:ext cx="594027" cy="264881"/>
          </a:xfrm>
          <a:prstGeom prst="rect">
            <a:avLst/>
          </a:prstGeom>
        </p:spPr>
        <p:txBody>
          <a:bodyPr lIns="0" tIns="0" rIns="0" bIns="0" rtlCol="0" anchor="t">
            <a:spAutoFit/>
          </a:bodyPr>
          <a:lstStyle/>
          <a:p>
            <a:pPr algn="l">
              <a:lnSpc>
                <a:spcPts val="2100"/>
              </a:lnSpc>
            </a:pPr>
            <a:r>
              <a:rPr lang="en-US" sz="1500">
                <a:solidFill>
                  <a:srgbClr val="000000"/>
                </a:solidFill>
                <a:latin typeface="Canva Sans"/>
                <a:ea typeface="Canva Sans"/>
                <a:cs typeface="Canva Sans"/>
                <a:sym typeface="Canva Sans"/>
              </a:rPr>
              <a:t>9.40%</a:t>
            </a:r>
          </a:p>
        </p:txBody>
      </p:sp>
      <p:sp>
        <p:nvSpPr>
          <p:cNvPr id="30" name="TextBox 30"/>
          <p:cNvSpPr txBox="1"/>
          <p:nvPr/>
        </p:nvSpPr>
        <p:spPr>
          <a:xfrm>
            <a:off x="14425108" y="5628799"/>
            <a:ext cx="652758" cy="264881"/>
          </a:xfrm>
          <a:prstGeom prst="rect">
            <a:avLst/>
          </a:prstGeom>
        </p:spPr>
        <p:txBody>
          <a:bodyPr lIns="0" tIns="0" rIns="0" bIns="0" rtlCol="0" anchor="t">
            <a:spAutoFit/>
          </a:bodyPr>
          <a:lstStyle/>
          <a:p>
            <a:pPr algn="l">
              <a:lnSpc>
                <a:spcPts val="2100"/>
              </a:lnSpc>
            </a:pPr>
            <a:r>
              <a:rPr lang="en-US" sz="1500">
                <a:solidFill>
                  <a:srgbClr val="000000"/>
                </a:solidFill>
                <a:latin typeface="Canva Sans"/>
                <a:ea typeface="Canva Sans"/>
                <a:cs typeface="Canva Sans"/>
                <a:sym typeface="Canva Sans"/>
              </a:rPr>
              <a:t>23.51%</a:t>
            </a:r>
          </a:p>
        </p:txBody>
      </p:sp>
      <p:sp>
        <p:nvSpPr>
          <p:cNvPr id="31" name="TextBox 31"/>
          <p:cNvSpPr txBox="1"/>
          <p:nvPr/>
        </p:nvSpPr>
        <p:spPr>
          <a:xfrm>
            <a:off x="14414544" y="3669392"/>
            <a:ext cx="674294" cy="264881"/>
          </a:xfrm>
          <a:prstGeom prst="rect">
            <a:avLst/>
          </a:prstGeom>
        </p:spPr>
        <p:txBody>
          <a:bodyPr lIns="0" tIns="0" rIns="0" bIns="0" rtlCol="0" anchor="t">
            <a:spAutoFit/>
          </a:bodyPr>
          <a:lstStyle/>
          <a:p>
            <a:pPr algn="l">
              <a:lnSpc>
                <a:spcPts val="2100"/>
              </a:lnSpc>
            </a:pPr>
            <a:r>
              <a:rPr lang="en-US" sz="1500">
                <a:solidFill>
                  <a:srgbClr val="000000"/>
                </a:solidFill>
                <a:latin typeface="Canva Sans"/>
                <a:ea typeface="Canva Sans"/>
                <a:cs typeface="Canva Sans"/>
                <a:sym typeface="Canva Sans"/>
              </a:rPr>
              <a:t>36.25%</a:t>
            </a:r>
          </a:p>
        </p:txBody>
      </p:sp>
      <p:sp>
        <p:nvSpPr>
          <p:cNvPr id="32" name="TextBox 32"/>
          <p:cNvSpPr txBox="1"/>
          <p:nvPr/>
        </p:nvSpPr>
        <p:spPr>
          <a:xfrm>
            <a:off x="14403524" y="4649095"/>
            <a:ext cx="696497" cy="264881"/>
          </a:xfrm>
          <a:prstGeom prst="rect">
            <a:avLst/>
          </a:prstGeom>
        </p:spPr>
        <p:txBody>
          <a:bodyPr lIns="0" tIns="0" rIns="0" bIns="0" rtlCol="0" anchor="t">
            <a:spAutoFit/>
          </a:bodyPr>
          <a:lstStyle/>
          <a:p>
            <a:pPr algn="l">
              <a:lnSpc>
                <a:spcPts val="2100"/>
              </a:lnSpc>
            </a:pPr>
            <a:r>
              <a:rPr lang="en-US" sz="1500">
                <a:solidFill>
                  <a:srgbClr val="000000"/>
                </a:solidFill>
                <a:latin typeface="Canva Sans"/>
                <a:ea typeface="Canva Sans"/>
                <a:cs typeface="Canva Sans"/>
                <a:sym typeface="Canva Sans"/>
              </a:rPr>
              <a:t>30.85%</a:t>
            </a:r>
          </a:p>
        </p:txBody>
      </p:sp>
      <p:sp>
        <p:nvSpPr>
          <p:cNvPr id="33" name="TextBox 33"/>
          <p:cNvSpPr txBox="1"/>
          <p:nvPr/>
        </p:nvSpPr>
        <p:spPr>
          <a:xfrm>
            <a:off x="14115545" y="2678344"/>
            <a:ext cx="1284075" cy="264881"/>
          </a:xfrm>
          <a:prstGeom prst="rect">
            <a:avLst/>
          </a:prstGeom>
        </p:spPr>
        <p:txBody>
          <a:bodyPr lIns="0" tIns="0" rIns="0" bIns="0" rtlCol="0" anchor="t">
            <a:spAutoFit/>
          </a:bodyPr>
          <a:lstStyle/>
          <a:p>
            <a:pPr algn="l">
              <a:lnSpc>
                <a:spcPts val="2100"/>
              </a:lnSpc>
            </a:pPr>
            <a:r>
              <a:rPr lang="en-US" sz="1500" b="1">
                <a:solidFill>
                  <a:srgbClr val="000000"/>
                </a:solidFill>
                <a:latin typeface="Canva Sans Bold"/>
                <a:ea typeface="Canva Sans Bold"/>
                <a:cs typeface="Canva Sans Bold"/>
                <a:sym typeface="Canva Sans Bold"/>
              </a:rPr>
              <a:t>% of Revenue</a:t>
            </a:r>
          </a:p>
        </p:txBody>
      </p:sp>
      <p:sp>
        <p:nvSpPr>
          <p:cNvPr id="34" name="TextBox 34"/>
          <p:cNvSpPr txBox="1"/>
          <p:nvPr/>
        </p:nvSpPr>
        <p:spPr>
          <a:xfrm>
            <a:off x="16538515" y="6608502"/>
            <a:ext cx="567557" cy="264881"/>
          </a:xfrm>
          <a:prstGeom prst="rect">
            <a:avLst/>
          </a:prstGeom>
        </p:spPr>
        <p:txBody>
          <a:bodyPr lIns="0" tIns="0" rIns="0" bIns="0" rtlCol="0" anchor="t">
            <a:spAutoFit/>
          </a:bodyPr>
          <a:lstStyle/>
          <a:p>
            <a:pPr algn="l">
              <a:lnSpc>
                <a:spcPts val="2100"/>
              </a:lnSpc>
            </a:pPr>
            <a:r>
              <a:rPr lang="en-US" sz="1500">
                <a:solidFill>
                  <a:srgbClr val="000000"/>
                </a:solidFill>
                <a:latin typeface="Canva Sans"/>
                <a:ea typeface="Canva Sans"/>
                <a:cs typeface="Canva Sans"/>
                <a:sym typeface="Canva Sans"/>
              </a:rPr>
              <a:t>9.53%</a:t>
            </a:r>
          </a:p>
        </p:txBody>
      </p:sp>
      <p:sp>
        <p:nvSpPr>
          <p:cNvPr id="35" name="TextBox 35"/>
          <p:cNvSpPr txBox="1"/>
          <p:nvPr/>
        </p:nvSpPr>
        <p:spPr>
          <a:xfrm>
            <a:off x="16505768" y="3669392"/>
            <a:ext cx="634355" cy="264881"/>
          </a:xfrm>
          <a:prstGeom prst="rect">
            <a:avLst/>
          </a:prstGeom>
        </p:spPr>
        <p:txBody>
          <a:bodyPr lIns="0" tIns="0" rIns="0" bIns="0" rtlCol="0" anchor="t">
            <a:spAutoFit/>
          </a:bodyPr>
          <a:lstStyle/>
          <a:p>
            <a:pPr algn="l">
              <a:lnSpc>
                <a:spcPts val="2100"/>
              </a:lnSpc>
            </a:pPr>
            <a:r>
              <a:rPr lang="en-US" sz="1500">
                <a:solidFill>
                  <a:srgbClr val="000000"/>
                </a:solidFill>
                <a:latin typeface="Canva Sans"/>
                <a:ea typeface="Canva Sans"/>
                <a:cs typeface="Canva Sans"/>
                <a:sym typeface="Canva Sans"/>
              </a:rPr>
              <a:t>35.77%</a:t>
            </a:r>
          </a:p>
        </p:txBody>
      </p:sp>
      <p:sp>
        <p:nvSpPr>
          <p:cNvPr id="36" name="TextBox 36"/>
          <p:cNvSpPr txBox="1"/>
          <p:nvPr/>
        </p:nvSpPr>
        <p:spPr>
          <a:xfrm>
            <a:off x="16479279" y="5628799"/>
            <a:ext cx="688534" cy="264881"/>
          </a:xfrm>
          <a:prstGeom prst="rect">
            <a:avLst/>
          </a:prstGeom>
        </p:spPr>
        <p:txBody>
          <a:bodyPr lIns="0" tIns="0" rIns="0" bIns="0" rtlCol="0" anchor="t">
            <a:spAutoFit/>
          </a:bodyPr>
          <a:lstStyle/>
          <a:p>
            <a:pPr algn="l">
              <a:lnSpc>
                <a:spcPts val="2100"/>
              </a:lnSpc>
            </a:pPr>
            <a:r>
              <a:rPr lang="en-US" sz="1500">
                <a:solidFill>
                  <a:srgbClr val="000000"/>
                </a:solidFill>
                <a:latin typeface="Canva Sans"/>
                <a:ea typeface="Canva Sans"/>
                <a:cs typeface="Canva Sans"/>
                <a:sym typeface="Canva Sans"/>
              </a:rPr>
              <a:t>24.03%</a:t>
            </a:r>
          </a:p>
        </p:txBody>
      </p:sp>
      <p:sp>
        <p:nvSpPr>
          <p:cNvPr id="37" name="TextBox 37"/>
          <p:cNvSpPr txBox="1"/>
          <p:nvPr/>
        </p:nvSpPr>
        <p:spPr>
          <a:xfrm>
            <a:off x="16466630" y="4649095"/>
            <a:ext cx="714242" cy="264881"/>
          </a:xfrm>
          <a:prstGeom prst="rect">
            <a:avLst/>
          </a:prstGeom>
        </p:spPr>
        <p:txBody>
          <a:bodyPr lIns="0" tIns="0" rIns="0" bIns="0" rtlCol="0" anchor="t">
            <a:spAutoFit/>
          </a:bodyPr>
          <a:lstStyle/>
          <a:p>
            <a:pPr algn="l">
              <a:lnSpc>
                <a:spcPts val="2100"/>
              </a:lnSpc>
            </a:pPr>
            <a:r>
              <a:rPr lang="en-US" sz="1500">
                <a:solidFill>
                  <a:srgbClr val="000000"/>
                </a:solidFill>
                <a:latin typeface="Canva Sans"/>
                <a:ea typeface="Canva Sans"/>
                <a:cs typeface="Canva Sans"/>
                <a:sym typeface="Canva Sans"/>
              </a:rPr>
              <a:t>30.66%</a:t>
            </a:r>
          </a:p>
        </p:txBody>
      </p:sp>
      <p:sp>
        <p:nvSpPr>
          <p:cNvPr id="38" name="TextBox 38"/>
          <p:cNvSpPr txBox="1"/>
          <p:nvPr/>
        </p:nvSpPr>
        <p:spPr>
          <a:xfrm>
            <a:off x="16135188" y="2544994"/>
            <a:ext cx="1390345" cy="531581"/>
          </a:xfrm>
          <a:prstGeom prst="rect">
            <a:avLst/>
          </a:prstGeom>
        </p:spPr>
        <p:txBody>
          <a:bodyPr lIns="0" tIns="0" rIns="0" bIns="0" rtlCol="0" anchor="t">
            <a:spAutoFit/>
          </a:bodyPr>
          <a:lstStyle/>
          <a:p>
            <a:pPr algn="ctr">
              <a:lnSpc>
                <a:spcPts val="2100"/>
              </a:lnSpc>
            </a:pPr>
            <a:r>
              <a:rPr lang="en-US" sz="1500" b="1">
                <a:solidFill>
                  <a:srgbClr val="000000"/>
                </a:solidFill>
                <a:latin typeface="Canva Sans Bold"/>
                <a:ea typeface="Canva Sans Bold"/>
                <a:cs typeface="Canva Sans Bold"/>
                <a:sym typeface="Canva Sans Bold"/>
              </a:rPr>
              <a:t>% of Customer Count</a:t>
            </a:r>
          </a:p>
        </p:txBody>
      </p:sp>
      <p:sp>
        <p:nvSpPr>
          <p:cNvPr id="39" name="TextBox 39"/>
          <p:cNvSpPr txBox="1"/>
          <p:nvPr/>
        </p:nvSpPr>
        <p:spPr>
          <a:xfrm>
            <a:off x="17259300" y="9207332"/>
            <a:ext cx="143904" cy="405346"/>
          </a:xfrm>
          <a:prstGeom prst="rect">
            <a:avLst/>
          </a:prstGeom>
        </p:spPr>
        <p:txBody>
          <a:bodyPr lIns="0" tIns="0" rIns="0" bIns="0" rtlCol="0" anchor="t">
            <a:spAutoFit/>
          </a:bodyPr>
          <a:lstStyle/>
          <a:p>
            <a:pPr algn="l">
              <a:lnSpc>
                <a:spcPts val="3358"/>
              </a:lnSpc>
            </a:pPr>
            <a:r>
              <a:rPr lang="en-US" sz="2399" b="1" i="1">
                <a:solidFill>
                  <a:srgbClr val="3D1700"/>
                </a:solidFill>
                <a:latin typeface="Arima Madurai Bold Italics"/>
                <a:ea typeface="Arima Madurai Bold Italics"/>
                <a:cs typeface="Arima Madurai Bold Italics"/>
                <a:sym typeface="Arima Madurai Bold Italics"/>
              </a:rPr>
              <a:t>5</a:t>
            </a:r>
          </a:p>
        </p:txBody>
      </p:sp>
      <p:sp>
        <p:nvSpPr>
          <p:cNvPr id="40" name="TextBox 40"/>
          <p:cNvSpPr txBox="1"/>
          <p:nvPr/>
        </p:nvSpPr>
        <p:spPr>
          <a:xfrm>
            <a:off x="2590800" y="422544"/>
            <a:ext cx="12666402" cy="807913"/>
          </a:xfrm>
          <a:prstGeom prst="rect">
            <a:avLst/>
          </a:prstGeom>
        </p:spPr>
        <p:txBody>
          <a:bodyPr wrap="square" lIns="0" tIns="0" rIns="0" bIns="0" rtlCol="0" anchor="t">
            <a:spAutoFit/>
          </a:bodyPr>
          <a:lstStyle/>
          <a:p>
            <a:pPr algn="l">
              <a:lnSpc>
                <a:spcPts val="6299"/>
              </a:lnSpc>
            </a:pPr>
            <a:r>
              <a:rPr lang="en-US" sz="4500" b="1" i="1" dirty="0">
                <a:solidFill>
                  <a:srgbClr val="471C0B"/>
                </a:solidFill>
                <a:latin typeface="Arima Madurai Bold Italics"/>
                <a:ea typeface="Arima Madurai Bold Italics"/>
                <a:cs typeface="Arima Madurai Bold Italics"/>
                <a:sym typeface="Arima Madurai Bold Italics"/>
              </a:rPr>
              <a:t>Sales Trends Across Time Intervals (Jan–Jun) </a:t>
            </a:r>
          </a:p>
        </p:txBody>
      </p:sp>
      <p:sp>
        <p:nvSpPr>
          <p:cNvPr id="41" name="TextBox 41"/>
          <p:cNvSpPr txBox="1"/>
          <p:nvPr/>
        </p:nvSpPr>
        <p:spPr>
          <a:xfrm>
            <a:off x="287598" y="7553379"/>
            <a:ext cx="1758772" cy="410369"/>
          </a:xfrm>
          <a:prstGeom prst="rect">
            <a:avLst/>
          </a:prstGeom>
        </p:spPr>
        <p:txBody>
          <a:bodyPr wrap="square" lIns="0" tIns="0" rIns="0" bIns="0" rtlCol="0" anchor="t">
            <a:spAutoFit/>
          </a:bodyPr>
          <a:lstStyle/>
          <a:p>
            <a:pPr algn="l">
              <a:lnSpc>
                <a:spcPts val="3219"/>
              </a:lnSpc>
            </a:pPr>
            <a:r>
              <a:rPr lang="en-US" sz="2299" b="1" i="1" dirty="0">
                <a:solidFill>
                  <a:srgbClr val="471C0B"/>
                </a:solidFill>
                <a:latin typeface="Arima Madurai Bold Italics"/>
                <a:ea typeface="Arima Madurai Bold Italics"/>
                <a:cs typeface="Arima Madurai Bold Italics"/>
                <a:sym typeface="Arima Madurai Bold Italics"/>
              </a:rPr>
              <a:t>Key Insights </a:t>
            </a:r>
          </a:p>
        </p:txBody>
      </p:sp>
      <p:sp>
        <p:nvSpPr>
          <p:cNvPr id="43" name="TextBox 43"/>
          <p:cNvSpPr txBox="1"/>
          <p:nvPr/>
        </p:nvSpPr>
        <p:spPr>
          <a:xfrm>
            <a:off x="784088" y="8164134"/>
            <a:ext cx="15682542" cy="1202124"/>
          </a:xfrm>
          <a:prstGeom prst="rect">
            <a:avLst/>
          </a:prstGeom>
        </p:spPr>
        <p:txBody>
          <a:bodyPr wrap="square" lIns="0" tIns="0" rIns="0" bIns="0" rtlCol="0" anchor="t">
            <a:spAutoFit/>
          </a:bodyPr>
          <a:lstStyle/>
          <a:p>
            <a:pPr algn="l">
              <a:lnSpc>
                <a:spcPts val="3150"/>
              </a:lnSpc>
            </a:pPr>
            <a:r>
              <a:rPr lang="en-US" sz="2299" dirty="0">
                <a:solidFill>
                  <a:srgbClr val="471C0B"/>
                </a:solidFill>
                <a:latin typeface="Arapey"/>
                <a:ea typeface="Arapey"/>
                <a:cs typeface="Arapey"/>
                <a:sym typeface="Arapey"/>
              </a:rPr>
              <a:t>Early Morning has the highest share of revenue at </a:t>
            </a:r>
            <a:r>
              <a:rPr lang="en-US" sz="2299" i="1" dirty="0">
                <a:solidFill>
                  <a:srgbClr val="471C0B"/>
                </a:solidFill>
                <a:latin typeface="Arapey Bold Italics"/>
                <a:ea typeface="Arapey Bold Italics"/>
                <a:cs typeface="Arapey Bold Italics"/>
                <a:sym typeface="Arapey Bold Italics"/>
              </a:rPr>
              <a:t>36.25%</a:t>
            </a:r>
            <a:r>
              <a:rPr lang="en-US" sz="2299" dirty="0">
                <a:solidFill>
                  <a:srgbClr val="471C0B"/>
                </a:solidFill>
                <a:latin typeface="Arapey"/>
                <a:ea typeface="Arapey"/>
                <a:cs typeface="Arapey"/>
                <a:sym typeface="Arapey"/>
              </a:rPr>
              <a:t>, followed by Late Morning at </a:t>
            </a:r>
            <a:r>
              <a:rPr lang="en-US" sz="2299" i="1" dirty="0">
                <a:solidFill>
                  <a:srgbClr val="471C0B"/>
                </a:solidFill>
                <a:latin typeface="Arapey Bold Italics"/>
                <a:ea typeface="Arapey Bold Italics"/>
                <a:cs typeface="Arapey Bold Italics"/>
                <a:sym typeface="Arapey Bold Italics"/>
              </a:rPr>
              <a:t>30.85%</a:t>
            </a:r>
            <a:r>
              <a:rPr lang="en-US" sz="2299" dirty="0">
                <a:solidFill>
                  <a:srgbClr val="471C0B"/>
                </a:solidFill>
                <a:latin typeface="Arapey"/>
                <a:ea typeface="Arapey"/>
                <a:cs typeface="Arapey"/>
                <a:sym typeface="Arapey"/>
              </a:rPr>
              <a:t>. The Evening period has the lowest revenue share of </a:t>
            </a:r>
            <a:r>
              <a:rPr lang="en-US" sz="2299" i="1" dirty="0">
                <a:solidFill>
                  <a:srgbClr val="471C0B"/>
                </a:solidFill>
                <a:latin typeface="Arapey Bold Italics"/>
                <a:ea typeface="Arapey Bold Italics"/>
                <a:cs typeface="Arapey Bold Italics"/>
                <a:sym typeface="Arapey Bold Italics"/>
              </a:rPr>
              <a:t>9.40%:</a:t>
            </a:r>
            <a:r>
              <a:rPr lang="en-US" sz="2299" dirty="0">
                <a:solidFill>
                  <a:srgbClr val="471C0B"/>
                </a:solidFill>
                <a:latin typeface="Arapey"/>
                <a:ea typeface="Arapey"/>
                <a:cs typeface="Arapey"/>
                <a:sym typeface="Arapey"/>
              </a:rPr>
              <a:t> indicating lower sales activity. Early Morning and Late Morning account for the majority of customers by </a:t>
            </a:r>
            <a:r>
              <a:rPr lang="en-US" sz="2299" i="1" dirty="0">
                <a:solidFill>
                  <a:srgbClr val="471C0B"/>
                </a:solidFill>
                <a:latin typeface="Arapey Bold Italics"/>
                <a:ea typeface="Arapey Bold Italics"/>
                <a:cs typeface="Arapey Bold Italics"/>
                <a:sym typeface="Arapey Bold Italics"/>
              </a:rPr>
              <a:t>66.43:</a:t>
            </a:r>
            <a:r>
              <a:rPr lang="en-US" sz="2299" dirty="0">
                <a:solidFill>
                  <a:srgbClr val="471C0B"/>
                </a:solidFill>
                <a:latin typeface="Arapey"/>
                <a:ea typeface="Arapey"/>
                <a:cs typeface="Arapey"/>
                <a:sym typeface="Arapey"/>
              </a:rPr>
              <a:t> highlighting that morning is the peak period.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4" name="Group 4"/>
          <p:cNvGrpSpPr/>
          <p:nvPr/>
        </p:nvGrpSpPr>
        <p:grpSpPr>
          <a:xfrm>
            <a:off x="1028700" y="1899352"/>
            <a:ext cx="9667875" cy="5181600"/>
            <a:chOff x="0" y="0"/>
            <a:chExt cx="12890500" cy="6908800"/>
          </a:xfrm>
        </p:grpSpPr>
        <p:sp>
          <p:nvSpPr>
            <p:cNvPr id="5" name="Freeform 5"/>
            <p:cNvSpPr/>
            <p:nvPr/>
          </p:nvSpPr>
          <p:spPr>
            <a:xfrm>
              <a:off x="0" y="0"/>
              <a:ext cx="12890500" cy="6908800"/>
            </a:xfrm>
            <a:custGeom>
              <a:avLst/>
              <a:gdLst/>
              <a:ahLst/>
              <a:cxnLst/>
              <a:rect l="l" t="t" r="r" b="b"/>
              <a:pathLst>
                <a:path w="12890500" h="6908800">
                  <a:moveTo>
                    <a:pt x="0" y="0"/>
                  </a:moveTo>
                  <a:lnTo>
                    <a:pt x="12890500" y="0"/>
                  </a:lnTo>
                  <a:lnTo>
                    <a:pt x="12890500" y="6908800"/>
                  </a:lnTo>
                  <a:lnTo>
                    <a:pt x="0" y="6908800"/>
                  </a:lnTo>
                  <a:lnTo>
                    <a:pt x="0" y="0"/>
                  </a:lnTo>
                  <a:close/>
                </a:path>
              </a:pathLst>
            </a:custGeom>
            <a:blipFill>
              <a:blip r:embed="rId2"/>
              <a:stretch>
                <a:fillRect/>
              </a:stretch>
            </a:blipFill>
          </p:spPr>
          <p:txBody>
            <a:bodyPr/>
            <a:lstStyle/>
            <a:p>
              <a:endParaRPr lang="en-US"/>
            </a:p>
          </p:txBody>
        </p:sp>
      </p:grpSp>
      <p:grpSp>
        <p:nvGrpSpPr>
          <p:cNvPr id="15" name="Group 15"/>
          <p:cNvGrpSpPr/>
          <p:nvPr/>
        </p:nvGrpSpPr>
        <p:grpSpPr>
          <a:xfrm>
            <a:off x="11760013" y="2490111"/>
            <a:ext cx="751456" cy="715147"/>
            <a:chOff x="0" y="0"/>
            <a:chExt cx="751459" cy="715150"/>
          </a:xfrm>
        </p:grpSpPr>
        <p:sp>
          <p:nvSpPr>
            <p:cNvPr id="16" name="Freeform 16"/>
            <p:cNvSpPr/>
            <p:nvPr/>
          </p:nvSpPr>
          <p:spPr>
            <a:xfrm>
              <a:off x="0" y="0"/>
              <a:ext cx="750315" cy="715143"/>
            </a:xfrm>
            <a:custGeom>
              <a:avLst/>
              <a:gdLst/>
              <a:ahLst/>
              <a:cxnLst/>
              <a:rect l="l" t="t" r="r" b="b"/>
              <a:pathLst>
                <a:path w="750315" h="715143">
                  <a:moveTo>
                    <a:pt x="375157" y="0"/>
                  </a:moveTo>
                  <a:lnTo>
                    <a:pt x="286638" y="273179"/>
                  </a:lnTo>
                  <a:lnTo>
                    <a:pt x="0" y="273179"/>
                  </a:lnTo>
                  <a:lnTo>
                    <a:pt x="231902" y="441964"/>
                  </a:lnTo>
                  <a:lnTo>
                    <a:pt x="143256" y="715143"/>
                  </a:lnTo>
                  <a:lnTo>
                    <a:pt x="375157" y="546358"/>
                  </a:lnTo>
                  <a:lnTo>
                    <a:pt x="607059" y="715143"/>
                  </a:lnTo>
                  <a:lnTo>
                    <a:pt x="518413" y="441964"/>
                  </a:lnTo>
                  <a:lnTo>
                    <a:pt x="750315" y="273179"/>
                  </a:lnTo>
                  <a:lnTo>
                    <a:pt x="463676" y="273179"/>
                  </a:lnTo>
                  <a:lnTo>
                    <a:pt x="375157" y="0"/>
                  </a:lnTo>
                  <a:close/>
                </a:path>
              </a:pathLst>
            </a:custGeom>
            <a:solidFill>
              <a:srgbClr val="EBE09A"/>
            </a:solidFill>
          </p:spPr>
          <p:txBody>
            <a:bodyPr/>
            <a:lstStyle/>
            <a:p>
              <a:endParaRPr lang="en-US"/>
            </a:p>
          </p:txBody>
        </p:sp>
      </p:grpSp>
      <p:sp>
        <p:nvSpPr>
          <p:cNvPr id="17" name="TextBox 17"/>
          <p:cNvSpPr txBox="1"/>
          <p:nvPr/>
        </p:nvSpPr>
        <p:spPr>
          <a:xfrm>
            <a:off x="287598" y="7243620"/>
            <a:ext cx="1988877" cy="436017"/>
          </a:xfrm>
          <a:prstGeom prst="rect">
            <a:avLst/>
          </a:prstGeom>
        </p:spPr>
        <p:txBody>
          <a:bodyPr wrap="square" lIns="0" tIns="0" rIns="0" bIns="0" rtlCol="0" anchor="t">
            <a:spAutoFit/>
          </a:bodyPr>
          <a:lstStyle/>
          <a:p>
            <a:pPr algn="l">
              <a:lnSpc>
                <a:spcPts val="3358"/>
              </a:lnSpc>
            </a:pPr>
            <a:r>
              <a:rPr lang="en-US" sz="2399" b="1" i="1" dirty="0">
                <a:solidFill>
                  <a:srgbClr val="471C0B"/>
                </a:solidFill>
                <a:latin typeface="Arima Madurai Bold Italics"/>
                <a:ea typeface="Arima Madurai Bold Italics"/>
                <a:cs typeface="Arima Madurai Bold Italics"/>
                <a:sym typeface="Arima Madurai Bold Italics"/>
              </a:rPr>
              <a:t>Key Insights</a:t>
            </a:r>
          </a:p>
        </p:txBody>
      </p:sp>
      <p:sp>
        <p:nvSpPr>
          <p:cNvPr id="18" name="TextBox 18"/>
          <p:cNvSpPr txBox="1"/>
          <p:nvPr/>
        </p:nvSpPr>
        <p:spPr>
          <a:xfrm>
            <a:off x="3215611" y="431880"/>
            <a:ext cx="11856777" cy="807913"/>
          </a:xfrm>
          <a:prstGeom prst="rect">
            <a:avLst/>
          </a:prstGeom>
        </p:spPr>
        <p:txBody>
          <a:bodyPr wrap="square" lIns="0" tIns="0" rIns="0" bIns="0" rtlCol="0" anchor="t">
            <a:spAutoFit/>
          </a:bodyPr>
          <a:lstStyle/>
          <a:p>
            <a:pPr algn="l">
              <a:lnSpc>
                <a:spcPts val="6299"/>
              </a:lnSpc>
            </a:pPr>
            <a:r>
              <a:rPr lang="en-US" sz="4500" b="1" i="1" dirty="0">
                <a:solidFill>
                  <a:srgbClr val="471C0B"/>
                </a:solidFill>
                <a:latin typeface="Arima Madurai Bold Italics"/>
                <a:ea typeface="Arima Madurai Bold Italics"/>
                <a:cs typeface="Arima Madurai Bold Italics"/>
                <a:sym typeface="Arima Madurai Bold Italics"/>
              </a:rPr>
              <a:t>Product Category Performance Overview</a:t>
            </a:r>
          </a:p>
        </p:txBody>
      </p:sp>
      <p:sp>
        <p:nvSpPr>
          <p:cNvPr id="19" name="TextBox 19"/>
          <p:cNvSpPr txBox="1"/>
          <p:nvPr/>
        </p:nvSpPr>
        <p:spPr>
          <a:xfrm>
            <a:off x="10950302" y="1690507"/>
            <a:ext cx="5182000" cy="543716"/>
          </a:xfrm>
          <a:prstGeom prst="rect">
            <a:avLst/>
          </a:prstGeom>
        </p:spPr>
        <p:txBody>
          <a:bodyPr lIns="0" tIns="0" rIns="0" bIns="0" rtlCol="0" anchor="t">
            <a:spAutoFit/>
          </a:bodyPr>
          <a:lstStyle/>
          <a:p>
            <a:pPr algn="l">
              <a:lnSpc>
                <a:spcPts val="4479"/>
              </a:lnSpc>
            </a:pPr>
            <a:r>
              <a:rPr lang="en-US" sz="3199">
                <a:solidFill>
                  <a:srgbClr val="000000"/>
                </a:solidFill>
                <a:latin typeface="Arapey"/>
                <a:ea typeface="Arapey"/>
                <a:cs typeface="Arapey"/>
                <a:sym typeface="Arapey"/>
              </a:rPr>
              <a:t>Top 3 Best Performing Products</a:t>
            </a:r>
          </a:p>
        </p:txBody>
      </p:sp>
      <p:sp>
        <p:nvSpPr>
          <p:cNvPr id="20" name="TextBox 20"/>
          <p:cNvSpPr txBox="1"/>
          <p:nvPr/>
        </p:nvSpPr>
        <p:spPr>
          <a:xfrm>
            <a:off x="10950302" y="4462939"/>
            <a:ext cx="6174591" cy="543716"/>
          </a:xfrm>
          <a:prstGeom prst="rect">
            <a:avLst/>
          </a:prstGeom>
        </p:spPr>
        <p:txBody>
          <a:bodyPr lIns="0" tIns="0" rIns="0" bIns="0" rtlCol="0" anchor="t">
            <a:spAutoFit/>
          </a:bodyPr>
          <a:lstStyle/>
          <a:p>
            <a:pPr algn="l">
              <a:lnSpc>
                <a:spcPts val="4479"/>
              </a:lnSpc>
            </a:pPr>
            <a:r>
              <a:rPr lang="en-US" sz="3199">
                <a:solidFill>
                  <a:srgbClr val="000000"/>
                </a:solidFill>
                <a:latin typeface="Arapey"/>
                <a:ea typeface="Arapey"/>
                <a:cs typeface="Arapey"/>
                <a:sym typeface="Arapey"/>
              </a:rPr>
              <a:t>Bottom 3 Worst Performing Products </a:t>
            </a:r>
          </a:p>
        </p:txBody>
      </p:sp>
      <p:sp>
        <p:nvSpPr>
          <p:cNvPr id="21" name="TextBox 21"/>
          <p:cNvSpPr txBox="1"/>
          <p:nvPr/>
        </p:nvSpPr>
        <p:spPr>
          <a:xfrm>
            <a:off x="13322170" y="2386755"/>
            <a:ext cx="1233164" cy="489461"/>
          </a:xfrm>
          <a:prstGeom prst="rect">
            <a:avLst/>
          </a:prstGeom>
        </p:spPr>
        <p:txBody>
          <a:bodyPr lIns="0" tIns="0" rIns="0" bIns="0" rtlCol="0" anchor="t">
            <a:spAutoFit/>
          </a:bodyPr>
          <a:lstStyle/>
          <a:p>
            <a:pPr algn="l">
              <a:lnSpc>
                <a:spcPts val="4059"/>
              </a:lnSpc>
            </a:pPr>
            <a:r>
              <a:rPr lang="en-US" sz="2899">
                <a:solidFill>
                  <a:srgbClr val="000000"/>
                </a:solidFill>
                <a:latin typeface="Arapey"/>
                <a:ea typeface="Arapey"/>
                <a:cs typeface="Arapey"/>
                <a:sym typeface="Arapey"/>
              </a:rPr>
              <a:t>1. Coffee</a:t>
            </a:r>
          </a:p>
        </p:txBody>
      </p:sp>
      <p:sp>
        <p:nvSpPr>
          <p:cNvPr id="22" name="TextBox 22"/>
          <p:cNvSpPr txBox="1"/>
          <p:nvPr/>
        </p:nvSpPr>
        <p:spPr>
          <a:xfrm>
            <a:off x="13346430" y="2897086"/>
            <a:ext cx="1370009" cy="1062238"/>
          </a:xfrm>
          <a:prstGeom prst="rect">
            <a:avLst/>
          </a:prstGeom>
        </p:spPr>
        <p:txBody>
          <a:bodyPr lIns="0" tIns="0" rIns="0" bIns="0" rtlCol="0" anchor="t">
            <a:spAutoFit/>
          </a:bodyPr>
          <a:lstStyle/>
          <a:p>
            <a:pPr algn="l">
              <a:lnSpc>
                <a:spcPts val="4274"/>
              </a:lnSpc>
            </a:pPr>
            <a:r>
              <a:rPr lang="en-US" sz="3099" spc="6">
                <a:solidFill>
                  <a:srgbClr val="000000"/>
                </a:solidFill>
                <a:latin typeface="Arapey"/>
                <a:ea typeface="Arapey"/>
                <a:cs typeface="Arapey"/>
                <a:sym typeface="Arapey"/>
              </a:rPr>
              <a:t>2.Tea 3.Bakery</a:t>
            </a:r>
          </a:p>
        </p:txBody>
      </p:sp>
      <p:sp>
        <p:nvSpPr>
          <p:cNvPr id="23" name="TextBox 23"/>
          <p:cNvSpPr txBox="1"/>
          <p:nvPr/>
        </p:nvSpPr>
        <p:spPr>
          <a:xfrm>
            <a:off x="13346430" y="5080444"/>
            <a:ext cx="3648065" cy="1605163"/>
          </a:xfrm>
          <a:prstGeom prst="rect">
            <a:avLst/>
          </a:prstGeom>
        </p:spPr>
        <p:txBody>
          <a:bodyPr lIns="0" tIns="0" rIns="0" bIns="0" rtlCol="0" anchor="t">
            <a:spAutoFit/>
          </a:bodyPr>
          <a:lstStyle/>
          <a:p>
            <a:pPr algn="l">
              <a:lnSpc>
                <a:spcPts val="4274"/>
              </a:lnSpc>
            </a:pPr>
            <a:r>
              <a:rPr lang="en-US" sz="3099" spc="15">
                <a:solidFill>
                  <a:srgbClr val="000000"/>
                </a:solidFill>
                <a:latin typeface="Arapey"/>
                <a:ea typeface="Arapey"/>
                <a:cs typeface="Arapey"/>
                <a:sym typeface="Arapey"/>
              </a:rPr>
              <a:t>1. Packaged Chocolate 2. Flavours 3. Loose Tea </a:t>
            </a:r>
          </a:p>
        </p:txBody>
      </p:sp>
      <p:sp>
        <p:nvSpPr>
          <p:cNvPr id="25" name="TextBox 25"/>
          <p:cNvSpPr txBox="1"/>
          <p:nvPr/>
        </p:nvSpPr>
        <p:spPr>
          <a:xfrm>
            <a:off x="457200" y="7724070"/>
            <a:ext cx="17686287" cy="2089975"/>
          </a:xfrm>
          <a:prstGeom prst="rect">
            <a:avLst/>
          </a:prstGeom>
        </p:spPr>
        <p:txBody>
          <a:bodyPr wrap="square" lIns="0" tIns="0" rIns="0" bIns="0" rtlCol="0" anchor="t">
            <a:spAutoFit/>
          </a:bodyPr>
          <a:lstStyle/>
          <a:p>
            <a:pPr marL="342900" indent="-342900" algn="l">
              <a:lnSpc>
                <a:spcPts val="3298"/>
              </a:lnSpc>
              <a:buFont typeface="Arial" panose="020B0604020202020204" pitchFamily="34" charset="0"/>
              <a:buChar char="•"/>
            </a:pPr>
            <a:r>
              <a:rPr lang="en-US" sz="2399" dirty="0">
                <a:solidFill>
                  <a:srgbClr val="471C0B"/>
                </a:solidFill>
                <a:latin typeface="Arapey"/>
                <a:ea typeface="Arapey"/>
                <a:cs typeface="Arapey"/>
                <a:sym typeface="Arapey"/>
              </a:rPr>
              <a:t>Coffee generates the highest revenue at </a:t>
            </a:r>
            <a:r>
              <a:rPr lang="en-US" sz="2399" i="1" dirty="0">
                <a:solidFill>
                  <a:srgbClr val="471C0B"/>
                </a:solidFill>
                <a:latin typeface="Arapey Bold Italics"/>
                <a:ea typeface="Arapey Bold Italics"/>
                <a:cs typeface="Arapey Bold Italics"/>
                <a:sym typeface="Arapey Bold Italics"/>
              </a:rPr>
              <a:t>38.63%</a:t>
            </a:r>
            <a:r>
              <a:rPr lang="en-US" sz="2399" dirty="0">
                <a:solidFill>
                  <a:srgbClr val="471C0B"/>
                </a:solidFill>
                <a:latin typeface="Arapey"/>
                <a:ea typeface="Arapey"/>
                <a:cs typeface="Arapey"/>
                <a:sym typeface="Arapey"/>
              </a:rPr>
              <a:t>, making it the top-performing product category. Tea follows with </a:t>
            </a:r>
            <a:r>
              <a:rPr lang="en-US" sz="2399" i="1" dirty="0">
                <a:solidFill>
                  <a:srgbClr val="471C0B"/>
                </a:solidFill>
                <a:latin typeface="Arapey Bold Italics"/>
                <a:ea typeface="Arapey Bold Italics"/>
                <a:cs typeface="Arapey Bold Italics"/>
                <a:sym typeface="Arapey Bold Italics"/>
              </a:rPr>
              <a:t>28.11% </a:t>
            </a:r>
            <a:r>
              <a:rPr lang="en-US" sz="2399" dirty="0">
                <a:solidFill>
                  <a:srgbClr val="471C0B"/>
                </a:solidFill>
                <a:latin typeface="Arapey"/>
                <a:ea typeface="Arapey"/>
                <a:cs typeface="Arapey"/>
                <a:sym typeface="Arapey"/>
              </a:rPr>
              <a:t>of the total revenue. Loose Tea, </a:t>
            </a:r>
            <a:r>
              <a:rPr lang="en-US" sz="2399" dirty="0" err="1">
                <a:solidFill>
                  <a:srgbClr val="471C0B"/>
                </a:solidFill>
                <a:latin typeface="Arapey"/>
                <a:ea typeface="Arapey"/>
                <a:cs typeface="Arapey"/>
                <a:sym typeface="Arapey"/>
              </a:rPr>
              <a:t>Flavours</a:t>
            </a:r>
            <a:r>
              <a:rPr lang="en-US" sz="2399" dirty="0">
                <a:solidFill>
                  <a:srgbClr val="471C0B"/>
                </a:solidFill>
                <a:latin typeface="Arapey"/>
                <a:ea typeface="Arapey"/>
                <a:cs typeface="Arapey"/>
                <a:sym typeface="Arapey"/>
              </a:rPr>
              <a:t> and Packaged Chocolate represents low revenue products accounting for combined </a:t>
            </a:r>
            <a:r>
              <a:rPr lang="en-US" sz="2399" i="1" dirty="0">
                <a:solidFill>
                  <a:srgbClr val="471C0B"/>
                </a:solidFill>
                <a:latin typeface="Arapey Bold Italics"/>
                <a:ea typeface="Arapey Bold Italics"/>
                <a:cs typeface="Arapey Bold Italics"/>
                <a:sym typeface="Arapey Bold Italics"/>
              </a:rPr>
              <a:t>3.43%</a:t>
            </a:r>
            <a:r>
              <a:rPr lang="en-US" sz="2399" dirty="0">
                <a:solidFill>
                  <a:srgbClr val="471C0B"/>
                </a:solidFill>
                <a:latin typeface="Arapey"/>
                <a:ea typeface="Arapey"/>
                <a:cs typeface="Arapey"/>
                <a:sym typeface="Arapey"/>
              </a:rPr>
              <a:t> revenue. </a:t>
            </a:r>
          </a:p>
          <a:p>
            <a:pPr marL="342900" indent="-342900" algn="l">
              <a:lnSpc>
                <a:spcPts val="3298"/>
              </a:lnSpc>
              <a:buFont typeface="Arial" panose="020B0604020202020204" pitchFamily="34" charset="0"/>
              <a:buChar char="•"/>
            </a:pPr>
            <a:r>
              <a:rPr lang="en-US" sz="2399" dirty="0">
                <a:solidFill>
                  <a:srgbClr val="471C0B"/>
                </a:solidFill>
                <a:latin typeface="Arapey"/>
                <a:ea typeface="Arapey"/>
                <a:cs typeface="Arapey"/>
                <a:sym typeface="Arapey"/>
              </a:rPr>
              <a:t>Coffee</a:t>
            </a:r>
            <a:r>
              <a:rPr lang="en-US" sz="2399" i="1" dirty="0">
                <a:solidFill>
                  <a:srgbClr val="471C0B"/>
                </a:solidFill>
                <a:latin typeface="Arapey Bold Italics"/>
                <a:ea typeface="Arapey Bold Italics"/>
                <a:cs typeface="Arapey Bold Italics"/>
                <a:sym typeface="Arapey Bold Italics"/>
              </a:rPr>
              <a:t>(39.21%)</a:t>
            </a:r>
            <a:r>
              <a:rPr lang="en-US" sz="2399" dirty="0">
                <a:solidFill>
                  <a:srgbClr val="471C0B"/>
                </a:solidFill>
                <a:latin typeface="Arapey"/>
                <a:ea typeface="Arapey"/>
                <a:cs typeface="Arapey"/>
                <a:sym typeface="Arapey"/>
              </a:rPr>
              <a:t> and Tea </a:t>
            </a:r>
            <a:r>
              <a:rPr lang="en-US" sz="2399" i="1" dirty="0">
                <a:solidFill>
                  <a:srgbClr val="471C0B"/>
                </a:solidFill>
                <a:latin typeface="Arapey Bold Italics"/>
                <a:ea typeface="Arapey Bold Italics"/>
                <a:cs typeface="Arapey Bold Italics"/>
                <a:sym typeface="Arapey Bold Italics"/>
              </a:rPr>
              <a:t>(30.54%)</a:t>
            </a:r>
            <a:r>
              <a:rPr lang="en-US" sz="2399" dirty="0">
                <a:solidFill>
                  <a:srgbClr val="471C0B"/>
                </a:solidFill>
                <a:latin typeface="Arapey"/>
                <a:ea typeface="Arapey"/>
                <a:cs typeface="Arapey"/>
                <a:sym typeface="Arapey"/>
              </a:rPr>
              <a:t> dominate product sales followed by Bakery (15.16%) and Drinking Chocolate (7.71%) indicating these are popular complementary items.. </a:t>
            </a:r>
          </a:p>
          <a:p>
            <a:pPr marL="342900" indent="-342900" algn="l">
              <a:lnSpc>
                <a:spcPts val="3298"/>
              </a:lnSpc>
              <a:buFont typeface="Arial" panose="020B0604020202020204" pitchFamily="34" charset="0"/>
              <a:buChar char="•"/>
            </a:pPr>
            <a:r>
              <a:rPr lang="en-US" sz="2399" dirty="0">
                <a:solidFill>
                  <a:srgbClr val="471C0B"/>
                </a:solidFill>
                <a:latin typeface="Arapey"/>
                <a:ea typeface="Arapey"/>
                <a:cs typeface="Arapey"/>
                <a:sym typeface="Arapey"/>
              </a:rPr>
              <a:t> Loose Tea, </a:t>
            </a:r>
            <a:r>
              <a:rPr lang="en-US" sz="2399" dirty="0" err="1">
                <a:solidFill>
                  <a:srgbClr val="471C0B"/>
                </a:solidFill>
                <a:latin typeface="Arapey"/>
                <a:ea typeface="Arapey"/>
                <a:cs typeface="Arapey"/>
                <a:sym typeface="Arapey"/>
              </a:rPr>
              <a:t>Flavours</a:t>
            </a:r>
            <a:r>
              <a:rPr lang="en-US" sz="2399" dirty="0">
                <a:solidFill>
                  <a:srgbClr val="471C0B"/>
                </a:solidFill>
                <a:latin typeface="Arapey"/>
                <a:ea typeface="Arapey"/>
                <a:cs typeface="Arapey"/>
                <a:sym typeface="Arapey"/>
              </a:rPr>
              <a:t> and Packaged Chocolate have minimal share of product sold contributing by </a:t>
            </a:r>
            <a:r>
              <a:rPr lang="en-US" sz="2399" i="1" dirty="0">
                <a:solidFill>
                  <a:srgbClr val="471C0B"/>
                </a:solidFill>
                <a:latin typeface="Arapey Bold Italics"/>
                <a:ea typeface="Arapey Bold Italics"/>
                <a:cs typeface="Arapey Bold Italics"/>
                <a:sym typeface="Arapey Bold Italics"/>
              </a:rPr>
              <a:t>1.64%</a:t>
            </a:r>
            <a:r>
              <a:rPr lang="en-US" sz="2399" dirty="0">
                <a:solidFill>
                  <a:srgbClr val="471C0B"/>
                </a:solidFill>
                <a:latin typeface="Arapey"/>
                <a:ea typeface="Arapey"/>
                <a:cs typeface="Arapey"/>
                <a:sym typeface="Arapey"/>
              </a:rPr>
              <a:t>.</a:t>
            </a:r>
          </a:p>
        </p:txBody>
      </p:sp>
      <p:sp>
        <p:nvSpPr>
          <p:cNvPr id="26" name="TextBox 26"/>
          <p:cNvSpPr txBox="1"/>
          <p:nvPr/>
        </p:nvSpPr>
        <p:spPr>
          <a:xfrm>
            <a:off x="17259300" y="9216857"/>
            <a:ext cx="143904" cy="395821"/>
          </a:xfrm>
          <a:prstGeom prst="rect">
            <a:avLst/>
          </a:prstGeom>
        </p:spPr>
        <p:txBody>
          <a:bodyPr lIns="0" tIns="0" rIns="0" bIns="0" rtlCol="0" anchor="t">
            <a:spAutoFit/>
          </a:bodyPr>
          <a:lstStyle/>
          <a:p>
            <a:pPr algn="l">
              <a:lnSpc>
                <a:spcPts val="3298"/>
              </a:lnSpc>
            </a:pPr>
            <a:r>
              <a:rPr lang="en-US" sz="2399" b="1" i="1">
                <a:solidFill>
                  <a:srgbClr val="3D1700"/>
                </a:solidFill>
                <a:latin typeface="Arima Madurai Bold Italics"/>
                <a:ea typeface="Arima Madurai Bold Italics"/>
                <a:cs typeface="Arima Madurai Bold Italics"/>
                <a:sym typeface="Arima Madurai Bold Italics"/>
              </a:rPr>
              <a:t>6</a:t>
            </a:r>
          </a:p>
        </p:txBody>
      </p:sp>
      <p:sp>
        <p:nvSpPr>
          <p:cNvPr id="27" name="TextBox 27"/>
          <p:cNvSpPr txBox="1"/>
          <p:nvPr/>
        </p:nvSpPr>
        <p:spPr>
          <a:xfrm>
            <a:off x="11800818" y="5406981"/>
            <a:ext cx="688800" cy="942451"/>
          </a:xfrm>
          <a:prstGeom prst="rect">
            <a:avLst/>
          </a:prstGeom>
        </p:spPr>
        <p:txBody>
          <a:bodyPr lIns="0" tIns="0" rIns="0" bIns="0" rtlCol="0" anchor="t">
            <a:spAutoFit/>
          </a:bodyPr>
          <a:lstStyle/>
          <a:p>
            <a:pPr algn="l">
              <a:lnSpc>
                <a:spcPts val="7444"/>
              </a:lnSpc>
            </a:pPr>
            <a:r>
              <a:rPr lang="en-US" sz="5317">
                <a:solidFill>
                  <a:srgbClr val="FC0000"/>
                </a:solidFill>
                <a:latin typeface="Noto Sans"/>
                <a:ea typeface="Noto Sans"/>
                <a:cs typeface="Noto Sans"/>
                <a:sym typeface="Noto Sans"/>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5" name="Group 5"/>
          <p:cNvGrpSpPr/>
          <p:nvPr/>
        </p:nvGrpSpPr>
        <p:grpSpPr>
          <a:xfrm>
            <a:off x="287598" y="1981457"/>
            <a:ext cx="17534944" cy="5400675"/>
            <a:chOff x="0" y="0"/>
            <a:chExt cx="23379925" cy="7200900"/>
          </a:xfrm>
        </p:grpSpPr>
        <p:sp>
          <p:nvSpPr>
            <p:cNvPr id="6" name="Freeform 6"/>
            <p:cNvSpPr/>
            <p:nvPr/>
          </p:nvSpPr>
          <p:spPr>
            <a:xfrm>
              <a:off x="0" y="0"/>
              <a:ext cx="23379937" cy="7200900"/>
            </a:xfrm>
            <a:custGeom>
              <a:avLst/>
              <a:gdLst/>
              <a:ahLst/>
              <a:cxnLst/>
              <a:rect l="l" t="t" r="r" b="b"/>
              <a:pathLst>
                <a:path w="23379937" h="7200900">
                  <a:moveTo>
                    <a:pt x="0" y="0"/>
                  </a:moveTo>
                  <a:lnTo>
                    <a:pt x="23379937" y="0"/>
                  </a:lnTo>
                  <a:lnTo>
                    <a:pt x="23379937" y="7200900"/>
                  </a:lnTo>
                  <a:lnTo>
                    <a:pt x="0" y="7200900"/>
                  </a:lnTo>
                  <a:lnTo>
                    <a:pt x="0" y="0"/>
                  </a:lnTo>
                  <a:close/>
                </a:path>
              </a:pathLst>
            </a:custGeom>
            <a:blipFill>
              <a:blip r:embed="rId2"/>
              <a:stretch>
                <a:fillRect/>
              </a:stretch>
            </a:blipFill>
          </p:spPr>
          <p:txBody>
            <a:bodyPr/>
            <a:lstStyle/>
            <a:p>
              <a:endParaRPr lang="en-US"/>
            </a:p>
          </p:txBody>
        </p:sp>
      </p:grpSp>
      <p:sp>
        <p:nvSpPr>
          <p:cNvPr id="15" name="TextBox 15"/>
          <p:cNvSpPr txBox="1"/>
          <p:nvPr/>
        </p:nvSpPr>
        <p:spPr>
          <a:xfrm>
            <a:off x="305886" y="7641249"/>
            <a:ext cx="2841831" cy="436017"/>
          </a:xfrm>
          <a:prstGeom prst="rect">
            <a:avLst/>
          </a:prstGeom>
        </p:spPr>
        <p:txBody>
          <a:bodyPr wrap="square" lIns="0" tIns="0" rIns="0" bIns="0" rtlCol="0" anchor="t">
            <a:spAutoFit/>
          </a:bodyPr>
          <a:lstStyle/>
          <a:p>
            <a:pPr algn="l">
              <a:lnSpc>
                <a:spcPts val="3358"/>
              </a:lnSpc>
            </a:pPr>
            <a:r>
              <a:rPr lang="en-US" sz="2399" b="1" i="1" dirty="0">
                <a:solidFill>
                  <a:srgbClr val="471C0B"/>
                </a:solidFill>
                <a:latin typeface="Arima Madurai Bold Italics"/>
                <a:ea typeface="Arima Madurai Bold Italics"/>
                <a:cs typeface="Arima Madurai Bold Italics"/>
                <a:sym typeface="Arima Madurai Bold Italics"/>
              </a:rPr>
              <a:t>Key Insights </a:t>
            </a:r>
          </a:p>
        </p:txBody>
      </p:sp>
      <p:sp>
        <p:nvSpPr>
          <p:cNvPr id="17" name="TextBox 17"/>
          <p:cNvSpPr txBox="1"/>
          <p:nvPr/>
        </p:nvSpPr>
        <p:spPr>
          <a:xfrm>
            <a:off x="17259300" y="9207332"/>
            <a:ext cx="143904" cy="405346"/>
          </a:xfrm>
          <a:prstGeom prst="rect">
            <a:avLst/>
          </a:prstGeom>
        </p:spPr>
        <p:txBody>
          <a:bodyPr lIns="0" tIns="0" rIns="0" bIns="0" rtlCol="0" anchor="t">
            <a:spAutoFit/>
          </a:bodyPr>
          <a:lstStyle/>
          <a:p>
            <a:pPr algn="l">
              <a:lnSpc>
                <a:spcPts val="3358"/>
              </a:lnSpc>
            </a:pPr>
            <a:r>
              <a:rPr lang="en-US" sz="2399" b="1" i="1">
                <a:solidFill>
                  <a:srgbClr val="3D1700"/>
                </a:solidFill>
                <a:latin typeface="Arima Madurai Bold Italics"/>
                <a:ea typeface="Arima Madurai Bold Italics"/>
                <a:cs typeface="Arima Madurai Bold Italics"/>
                <a:sym typeface="Arima Madurai Bold Italics"/>
              </a:rPr>
              <a:t>7</a:t>
            </a:r>
          </a:p>
        </p:txBody>
      </p:sp>
      <p:sp>
        <p:nvSpPr>
          <p:cNvPr id="18" name="TextBox 18"/>
          <p:cNvSpPr txBox="1"/>
          <p:nvPr/>
        </p:nvSpPr>
        <p:spPr>
          <a:xfrm>
            <a:off x="2505999" y="375035"/>
            <a:ext cx="13276002" cy="807913"/>
          </a:xfrm>
          <a:prstGeom prst="rect">
            <a:avLst/>
          </a:prstGeom>
        </p:spPr>
        <p:txBody>
          <a:bodyPr wrap="square" lIns="0" tIns="0" rIns="0" bIns="0" rtlCol="0" anchor="t">
            <a:spAutoFit/>
          </a:bodyPr>
          <a:lstStyle/>
          <a:p>
            <a:pPr algn="l">
              <a:lnSpc>
                <a:spcPts val="6299"/>
              </a:lnSpc>
            </a:pPr>
            <a:r>
              <a:rPr lang="en-US" sz="4500" b="1" i="1" dirty="0">
                <a:solidFill>
                  <a:srgbClr val="471C0B"/>
                </a:solidFill>
                <a:latin typeface="Arima Madurai Bold Italics"/>
                <a:ea typeface="Arima Madurai Bold Italics"/>
                <a:cs typeface="Arima Madurai Bold Italics"/>
                <a:sym typeface="Arima Madurai Bold Italics"/>
              </a:rPr>
              <a:t>Weekly Revenue Insights: Top Performing Days</a:t>
            </a:r>
          </a:p>
        </p:txBody>
      </p:sp>
      <p:sp>
        <p:nvSpPr>
          <p:cNvPr id="20" name="TextBox 20"/>
          <p:cNvSpPr txBox="1"/>
          <p:nvPr/>
        </p:nvSpPr>
        <p:spPr>
          <a:xfrm>
            <a:off x="457200" y="8171238"/>
            <a:ext cx="15269605" cy="1240596"/>
          </a:xfrm>
          <a:prstGeom prst="rect">
            <a:avLst/>
          </a:prstGeom>
        </p:spPr>
        <p:txBody>
          <a:bodyPr wrap="square" lIns="0" tIns="0" rIns="0" bIns="0" rtlCol="0" anchor="t">
            <a:spAutoFit/>
          </a:bodyPr>
          <a:lstStyle/>
          <a:p>
            <a:pPr marL="342900" indent="-342900" algn="l">
              <a:lnSpc>
                <a:spcPts val="3298"/>
              </a:lnSpc>
              <a:buFont typeface="Arial" panose="020B0604020202020204" pitchFamily="34" charset="0"/>
              <a:buChar char="•"/>
            </a:pPr>
            <a:r>
              <a:rPr lang="en-US" sz="2399" dirty="0">
                <a:solidFill>
                  <a:srgbClr val="471C0B"/>
                </a:solidFill>
                <a:latin typeface="Arapey"/>
                <a:ea typeface="Arapey"/>
                <a:cs typeface="Arapey"/>
                <a:sym typeface="Arapey"/>
              </a:rPr>
              <a:t>Mondays generates the most revenue</a:t>
            </a:r>
            <a:r>
              <a:rPr lang="en-US" sz="2399" i="1" dirty="0">
                <a:solidFill>
                  <a:srgbClr val="471C0B"/>
                </a:solidFill>
                <a:latin typeface="Arapey Bold Italics"/>
                <a:ea typeface="Arapey Bold Italics"/>
                <a:cs typeface="Arapey Bold Italics"/>
                <a:sym typeface="Arapey Bold Italics"/>
              </a:rPr>
              <a:t> (R101,677)</a:t>
            </a:r>
            <a:r>
              <a:rPr lang="en-US" sz="2399" dirty="0">
                <a:solidFill>
                  <a:srgbClr val="471C0B"/>
                </a:solidFill>
                <a:latin typeface="Arapey"/>
                <a:ea typeface="Arapey"/>
                <a:cs typeface="Arapey"/>
                <a:sym typeface="Arapey"/>
              </a:rPr>
              <a:t> , closely followed by Fridays </a:t>
            </a:r>
            <a:r>
              <a:rPr lang="en-US" sz="2399" i="1" dirty="0">
                <a:solidFill>
                  <a:srgbClr val="471C0B"/>
                </a:solidFill>
                <a:latin typeface="Arapey Bold Italics"/>
                <a:ea typeface="Arapey Bold Italics"/>
                <a:cs typeface="Arapey Bold Italics"/>
                <a:sym typeface="Arapey Bold Italics"/>
              </a:rPr>
              <a:t>R101,373</a:t>
            </a:r>
            <a:r>
              <a:rPr lang="en-US" sz="2399" dirty="0">
                <a:solidFill>
                  <a:srgbClr val="471C0B"/>
                </a:solidFill>
                <a:latin typeface="Arapey"/>
                <a:ea typeface="Arapey"/>
                <a:cs typeface="Arapey"/>
                <a:sym typeface="Arapey"/>
              </a:rPr>
              <a:t>. </a:t>
            </a:r>
          </a:p>
          <a:p>
            <a:pPr marL="342900" indent="-342900" algn="l">
              <a:lnSpc>
                <a:spcPts val="3298"/>
              </a:lnSpc>
              <a:buFont typeface="Arial" panose="020B0604020202020204" pitchFamily="34" charset="0"/>
              <a:buChar char="•"/>
            </a:pPr>
            <a:r>
              <a:rPr lang="en-US" sz="2399" dirty="0">
                <a:solidFill>
                  <a:srgbClr val="471C0B"/>
                </a:solidFill>
                <a:latin typeface="Arapey"/>
                <a:ea typeface="Arapey"/>
                <a:cs typeface="Arapey"/>
                <a:sym typeface="Arapey"/>
              </a:rPr>
              <a:t>Saturday generates the least revenue </a:t>
            </a:r>
            <a:r>
              <a:rPr lang="en-US" sz="2399" i="1" dirty="0">
                <a:solidFill>
                  <a:srgbClr val="471C0B"/>
                </a:solidFill>
                <a:latin typeface="Arapey Bold Italics"/>
                <a:ea typeface="Arapey Bold Italics"/>
                <a:cs typeface="Arapey Bold Italics"/>
                <a:sym typeface="Arapey Bold Italics"/>
              </a:rPr>
              <a:t>"R96,894". </a:t>
            </a:r>
          </a:p>
          <a:p>
            <a:pPr marL="342900" indent="-342900" algn="l">
              <a:lnSpc>
                <a:spcPts val="3298"/>
              </a:lnSpc>
              <a:buFont typeface="Arial" panose="020B0604020202020204" pitchFamily="34" charset="0"/>
              <a:buChar char="•"/>
            </a:pPr>
            <a:r>
              <a:rPr lang="en-US" sz="2399" dirty="0">
                <a:solidFill>
                  <a:srgbClr val="471C0B"/>
                </a:solidFill>
                <a:latin typeface="Arapey"/>
                <a:ea typeface="Arapey"/>
                <a:cs typeface="Arapey"/>
                <a:sym typeface="Arapey"/>
              </a:rPr>
              <a:t>Weekdays generate the highest revenue accounting for </a:t>
            </a:r>
            <a:r>
              <a:rPr lang="en-US" sz="2399" i="1" dirty="0">
                <a:solidFill>
                  <a:srgbClr val="471C0B"/>
                </a:solidFill>
                <a:latin typeface="Arapey Bold Italics"/>
                <a:ea typeface="Arapey Bold Italics"/>
                <a:cs typeface="Arapey Bold Italics"/>
                <a:sym typeface="Arapey Bold Italics"/>
              </a:rPr>
              <a:t>72.06%</a:t>
            </a:r>
            <a:r>
              <a:rPr lang="en-US" sz="2399" dirty="0">
                <a:solidFill>
                  <a:srgbClr val="471C0B"/>
                </a:solidFill>
                <a:latin typeface="Arapey"/>
                <a:ea typeface="Arapey"/>
                <a:cs typeface="Arapey"/>
                <a:sym typeface="Arapey"/>
              </a:rPr>
              <a:t> of the total revenue and </a:t>
            </a:r>
            <a:r>
              <a:rPr lang="en-US" sz="2399" b="1" dirty="0">
                <a:solidFill>
                  <a:srgbClr val="471C0B"/>
                </a:solidFill>
                <a:latin typeface="Arapey"/>
                <a:ea typeface="Arapey"/>
                <a:cs typeface="Arapey"/>
                <a:sym typeface="Arapey"/>
              </a:rPr>
              <a:t>72.09% </a:t>
            </a:r>
            <a:r>
              <a:rPr lang="en-US" sz="2399" dirty="0">
                <a:solidFill>
                  <a:srgbClr val="471C0B"/>
                </a:solidFill>
                <a:latin typeface="Arapey"/>
                <a:ea typeface="Arapey"/>
                <a:cs typeface="Arapey"/>
                <a:sym typeface="Arapey"/>
              </a:rPr>
              <a:t>of products sold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4" name="Group 4"/>
          <p:cNvGrpSpPr/>
          <p:nvPr/>
        </p:nvGrpSpPr>
        <p:grpSpPr>
          <a:xfrm>
            <a:off x="251707" y="2244620"/>
            <a:ext cx="17784585" cy="5124450"/>
            <a:chOff x="0" y="0"/>
            <a:chExt cx="23712780" cy="6832600"/>
          </a:xfrm>
        </p:grpSpPr>
        <p:sp>
          <p:nvSpPr>
            <p:cNvPr id="5" name="Freeform 5"/>
            <p:cNvSpPr/>
            <p:nvPr/>
          </p:nvSpPr>
          <p:spPr>
            <a:xfrm>
              <a:off x="0" y="0"/>
              <a:ext cx="23712805" cy="6832600"/>
            </a:xfrm>
            <a:custGeom>
              <a:avLst/>
              <a:gdLst/>
              <a:ahLst/>
              <a:cxnLst/>
              <a:rect l="l" t="t" r="r" b="b"/>
              <a:pathLst>
                <a:path w="23712805" h="6832600">
                  <a:moveTo>
                    <a:pt x="0" y="0"/>
                  </a:moveTo>
                  <a:lnTo>
                    <a:pt x="23712805" y="0"/>
                  </a:lnTo>
                  <a:lnTo>
                    <a:pt x="23712805" y="6832600"/>
                  </a:lnTo>
                  <a:lnTo>
                    <a:pt x="0" y="6832600"/>
                  </a:lnTo>
                  <a:lnTo>
                    <a:pt x="0" y="0"/>
                  </a:lnTo>
                  <a:close/>
                </a:path>
              </a:pathLst>
            </a:custGeom>
            <a:blipFill>
              <a:blip r:embed="rId2"/>
              <a:stretch>
                <a:fillRect/>
              </a:stretch>
            </a:blipFill>
          </p:spPr>
          <p:txBody>
            <a:bodyPr/>
            <a:lstStyle/>
            <a:p>
              <a:endParaRPr lang="en-US"/>
            </a:p>
          </p:txBody>
        </p:sp>
      </p:grpSp>
      <p:sp>
        <p:nvSpPr>
          <p:cNvPr id="13" name="TextBox 13"/>
          <p:cNvSpPr txBox="1"/>
          <p:nvPr/>
        </p:nvSpPr>
        <p:spPr>
          <a:xfrm>
            <a:off x="17259300" y="9207332"/>
            <a:ext cx="143904" cy="405346"/>
          </a:xfrm>
          <a:prstGeom prst="rect">
            <a:avLst/>
          </a:prstGeom>
        </p:spPr>
        <p:txBody>
          <a:bodyPr lIns="0" tIns="0" rIns="0" bIns="0" rtlCol="0" anchor="t">
            <a:spAutoFit/>
          </a:bodyPr>
          <a:lstStyle/>
          <a:p>
            <a:pPr algn="l">
              <a:lnSpc>
                <a:spcPts val="3358"/>
              </a:lnSpc>
            </a:pPr>
            <a:r>
              <a:rPr lang="en-US" sz="2399" b="1" i="1">
                <a:solidFill>
                  <a:srgbClr val="3D1700"/>
                </a:solidFill>
                <a:latin typeface="Arima Madurai Bold Italics"/>
                <a:ea typeface="Arima Madurai Bold Italics"/>
                <a:cs typeface="Arima Madurai Bold Italics"/>
                <a:sym typeface="Arima Madurai Bold Italics"/>
              </a:rPr>
              <a:t>8</a:t>
            </a:r>
          </a:p>
        </p:txBody>
      </p:sp>
      <p:sp>
        <p:nvSpPr>
          <p:cNvPr id="14" name="TextBox 14"/>
          <p:cNvSpPr txBox="1"/>
          <p:nvPr/>
        </p:nvSpPr>
        <p:spPr>
          <a:xfrm>
            <a:off x="2696499" y="270365"/>
            <a:ext cx="12895002" cy="807913"/>
          </a:xfrm>
          <a:prstGeom prst="rect">
            <a:avLst/>
          </a:prstGeom>
        </p:spPr>
        <p:txBody>
          <a:bodyPr wrap="square" lIns="0" tIns="0" rIns="0" bIns="0" rtlCol="0" anchor="t">
            <a:spAutoFit/>
          </a:bodyPr>
          <a:lstStyle/>
          <a:p>
            <a:pPr algn="l">
              <a:lnSpc>
                <a:spcPts val="6299"/>
              </a:lnSpc>
            </a:pPr>
            <a:r>
              <a:rPr lang="en-US" sz="4500" b="1" i="1" dirty="0">
                <a:solidFill>
                  <a:srgbClr val="471C0B"/>
                </a:solidFill>
                <a:latin typeface="Arima Madurai Bold Italics"/>
                <a:ea typeface="Arima Madurai Bold Italics"/>
                <a:cs typeface="Arima Madurai Bold Italics"/>
                <a:sym typeface="Arima Madurai Bold Italics"/>
              </a:rPr>
              <a:t>Revenue Performance Across Store Locations</a:t>
            </a:r>
          </a:p>
        </p:txBody>
      </p:sp>
      <p:sp>
        <p:nvSpPr>
          <p:cNvPr id="15" name="TextBox 15"/>
          <p:cNvSpPr txBox="1"/>
          <p:nvPr/>
        </p:nvSpPr>
        <p:spPr>
          <a:xfrm>
            <a:off x="287597" y="7825972"/>
            <a:ext cx="2369877" cy="410369"/>
          </a:xfrm>
          <a:prstGeom prst="rect">
            <a:avLst/>
          </a:prstGeom>
        </p:spPr>
        <p:txBody>
          <a:bodyPr wrap="square" lIns="0" tIns="0" rIns="0" bIns="0" rtlCol="0" anchor="t">
            <a:spAutoFit/>
          </a:bodyPr>
          <a:lstStyle/>
          <a:p>
            <a:pPr algn="l">
              <a:lnSpc>
                <a:spcPts val="3219"/>
              </a:lnSpc>
            </a:pPr>
            <a:r>
              <a:rPr lang="en-US" sz="2299" b="1" i="1" dirty="0">
                <a:solidFill>
                  <a:srgbClr val="471C0B"/>
                </a:solidFill>
                <a:latin typeface="Arima Madurai Bold Italics"/>
                <a:ea typeface="Arima Madurai Bold Italics"/>
                <a:cs typeface="Arima Madurai Bold Italics"/>
                <a:sym typeface="Arima Madurai Bold Italics"/>
              </a:rPr>
              <a:t>Key Insights </a:t>
            </a:r>
          </a:p>
        </p:txBody>
      </p:sp>
      <p:sp>
        <p:nvSpPr>
          <p:cNvPr id="20" name="TextBox 20"/>
          <p:cNvSpPr txBox="1"/>
          <p:nvPr/>
        </p:nvSpPr>
        <p:spPr>
          <a:xfrm>
            <a:off x="287597" y="8410554"/>
            <a:ext cx="16320227" cy="1202124"/>
          </a:xfrm>
          <a:prstGeom prst="rect">
            <a:avLst/>
          </a:prstGeom>
        </p:spPr>
        <p:txBody>
          <a:bodyPr wrap="square" lIns="0" tIns="0" rIns="0" bIns="0" rtlCol="0" anchor="t">
            <a:spAutoFit/>
          </a:bodyPr>
          <a:lstStyle/>
          <a:p>
            <a:pPr marL="342900" indent="-342900">
              <a:lnSpc>
                <a:spcPts val="3150"/>
              </a:lnSpc>
              <a:buFont typeface="Arial" panose="020B0604020202020204" pitchFamily="34" charset="0"/>
              <a:buChar char="•"/>
            </a:pPr>
            <a:r>
              <a:rPr lang="en-US" sz="2299" dirty="0">
                <a:solidFill>
                  <a:srgbClr val="471C0B"/>
                </a:solidFill>
                <a:latin typeface="Arapey"/>
                <a:ea typeface="Arapey"/>
                <a:cs typeface="Arapey"/>
                <a:sym typeface="Arapey"/>
              </a:rPr>
              <a:t>Hell's Kitchen slightly leads in revenue by </a:t>
            </a:r>
            <a:r>
              <a:rPr lang="en-US" sz="2299" i="1" dirty="0">
                <a:solidFill>
                  <a:srgbClr val="471C0B"/>
                </a:solidFill>
                <a:latin typeface="Arapey Bold Italics"/>
                <a:ea typeface="Arapey Bold Italics"/>
                <a:cs typeface="Arapey Bold Italics"/>
                <a:sym typeface="Arapey Bold Italics"/>
              </a:rPr>
              <a:t>33.84%</a:t>
            </a:r>
            <a:r>
              <a:rPr lang="en-US" sz="2299" dirty="0">
                <a:solidFill>
                  <a:srgbClr val="471C0B"/>
                </a:solidFill>
                <a:latin typeface="Arapey"/>
                <a:ea typeface="Arapey"/>
                <a:cs typeface="Arapey"/>
                <a:sym typeface="Arapey"/>
              </a:rPr>
              <a:t>. Astoria follows by </a:t>
            </a:r>
            <a:r>
              <a:rPr lang="en-US" sz="2299" b="1" dirty="0">
                <a:solidFill>
                  <a:srgbClr val="471C0B"/>
                </a:solidFill>
                <a:latin typeface="Arapey"/>
                <a:ea typeface="Arapey"/>
                <a:cs typeface="Arapey"/>
                <a:sym typeface="Arapey"/>
              </a:rPr>
              <a:t>33.23%. </a:t>
            </a:r>
          </a:p>
          <a:p>
            <a:pPr marL="342900" indent="-342900">
              <a:lnSpc>
                <a:spcPts val="3150"/>
              </a:lnSpc>
              <a:buFont typeface="Arial" panose="020B0604020202020204" pitchFamily="34" charset="0"/>
              <a:buChar char="•"/>
            </a:pPr>
            <a:r>
              <a:rPr lang="en-US" sz="2299" dirty="0">
                <a:solidFill>
                  <a:srgbClr val="471C0B"/>
                </a:solidFill>
                <a:latin typeface="Arapey"/>
                <a:ea typeface="Arapey"/>
                <a:cs typeface="Arapey"/>
                <a:sym typeface="Arapey"/>
              </a:rPr>
              <a:t>Sales performance is low across all stores during the evening contributing </a:t>
            </a:r>
            <a:r>
              <a:rPr lang="en-US" sz="2299" b="1" dirty="0">
                <a:solidFill>
                  <a:srgbClr val="471C0B"/>
                </a:solidFill>
                <a:latin typeface="Arapey"/>
                <a:ea typeface="Arapey"/>
                <a:cs typeface="Arapey"/>
                <a:sym typeface="Arapey"/>
              </a:rPr>
              <a:t>9.53% </a:t>
            </a:r>
            <a:r>
              <a:rPr lang="en-US" sz="2299" dirty="0">
                <a:solidFill>
                  <a:srgbClr val="471C0B"/>
                </a:solidFill>
                <a:latin typeface="Arapey"/>
                <a:ea typeface="Arapey"/>
                <a:cs typeface="Arapey"/>
                <a:sym typeface="Arapey"/>
              </a:rPr>
              <a:t>of total revenue</a:t>
            </a:r>
          </a:p>
          <a:p>
            <a:pPr marL="342900" indent="-342900" algn="l">
              <a:lnSpc>
                <a:spcPts val="3150"/>
              </a:lnSpc>
              <a:buFont typeface="Arial" panose="020B0604020202020204" pitchFamily="34" charset="0"/>
              <a:buChar char="•"/>
            </a:pPr>
            <a:r>
              <a:rPr lang="en-US" sz="2299" dirty="0">
                <a:solidFill>
                  <a:srgbClr val="471C0B"/>
                </a:solidFill>
                <a:latin typeface="Arapey"/>
                <a:ea typeface="Arapey"/>
                <a:cs typeface="Arapey"/>
                <a:sym typeface="Arapey"/>
              </a:rPr>
              <a:t>All stores peak during the morning drive with Lower Manhattan contributing </a:t>
            </a:r>
            <a:r>
              <a:rPr lang="en-US" sz="2299" b="1" dirty="0">
                <a:solidFill>
                  <a:srgbClr val="471C0B"/>
                </a:solidFill>
                <a:latin typeface="Arapey"/>
                <a:ea typeface="Arapey"/>
                <a:cs typeface="Arapey"/>
                <a:sym typeface="Arapey"/>
              </a:rPr>
              <a:t>24.24% </a:t>
            </a:r>
            <a:r>
              <a:rPr lang="en-US" sz="2299" dirty="0">
                <a:solidFill>
                  <a:srgbClr val="471C0B"/>
                </a:solidFill>
                <a:latin typeface="Arapey"/>
                <a:ea typeface="Arapey"/>
                <a:cs typeface="Arapey"/>
                <a:sym typeface="Arapey"/>
              </a:rPr>
              <a:t>of total revenue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5" name="Group 5"/>
          <p:cNvGrpSpPr/>
          <p:nvPr/>
        </p:nvGrpSpPr>
        <p:grpSpPr>
          <a:xfrm>
            <a:off x="1981200" y="1531830"/>
            <a:ext cx="12192000" cy="5350890"/>
            <a:chOff x="0" y="0"/>
            <a:chExt cx="11506200" cy="7264400"/>
          </a:xfrm>
        </p:grpSpPr>
        <p:sp>
          <p:nvSpPr>
            <p:cNvPr id="6" name="Freeform 6"/>
            <p:cNvSpPr/>
            <p:nvPr/>
          </p:nvSpPr>
          <p:spPr>
            <a:xfrm>
              <a:off x="0" y="0"/>
              <a:ext cx="11506200" cy="7264400"/>
            </a:xfrm>
            <a:custGeom>
              <a:avLst/>
              <a:gdLst/>
              <a:ahLst/>
              <a:cxnLst/>
              <a:rect l="l" t="t" r="r" b="b"/>
              <a:pathLst>
                <a:path w="11506200" h="7264400">
                  <a:moveTo>
                    <a:pt x="0" y="0"/>
                  </a:moveTo>
                  <a:lnTo>
                    <a:pt x="11506200" y="0"/>
                  </a:lnTo>
                  <a:lnTo>
                    <a:pt x="11506200" y="7264400"/>
                  </a:lnTo>
                  <a:lnTo>
                    <a:pt x="0" y="7264400"/>
                  </a:lnTo>
                  <a:lnTo>
                    <a:pt x="0" y="0"/>
                  </a:lnTo>
                  <a:close/>
                </a:path>
              </a:pathLst>
            </a:custGeom>
            <a:blipFill>
              <a:blip r:embed="rId2"/>
              <a:stretch>
                <a:fillRect/>
              </a:stretch>
            </a:blipFill>
          </p:spPr>
          <p:txBody>
            <a:bodyPr/>
            <a:lstStyle/>
            <a:p>
              <a:endParaRPr lang="en-US"/>
            </a:p>
          </p:txBody>
        </p:sp>
      </p:grpSp>
      <p:grpSp>
        <p:nvGrpSpPr>
          <p:cNvPr id="13" name="Group 13"/>
          <p:cNvGrpSpPr/>
          <p:nvPr/>
        </p:nvGrpSpPr>
        <p:grpSpPr>
          <a:xfrm>
            <a:off x="1519838" y="1194606"/>
            <a:ext cx="6331277" cy="38100"/>
            <a:chOff x="0" y="0"/>
            <a:chExt cx="6331280" cy="38100"/>
          </a:xfrm>
        </p:grpSpPr>
        <p:sp>
          <p:nvSpPr>
            <p:cNvPr id="14" name="Freeform 14"/>
            <p:cNvSpPr/>
            <p:nvPr/>
          </p:nvSpPr>
          <p:spPr>
            <a:xfrm>
              <a:off x="0" y="0"/>
              <a:ext cx="6331334" cy="38100"/>
            </a:xfrm>
            <a:custGeom>
              <a:avLst/>
              <a:gdLst/>
              <a:ahLst/>
              <a:cxnLst/>
              <a:rect l="l" t="t" r="r" b="b"/>
              <a:pathLst>
                <a:path w="6331334" h="38100">
                  <a:moveTo>
                    <a:pt x="0" y="38100"/>
                  </a:moveTo>
                  <a:lnTo>
                    <a:pt x="6331334" y="38100"/>
                  </a:lnTo>
                  <a:lnTo>
                    <a:pt x="6331334" y="0"/>
                  </a:lnTo>
                  <a:lnTo>
                    <a:pt x="0" y="0"/>
                  </a:lnTo>
                  <a:close/>
                </a:path>
              </a:pathLst>
            </a:custGeom>
            <a:solidFill>
              <a:srgbClr val="000000">
                <a:alpha val="0"/>
              </a:srgbClr>
            </a:solidFill>
          </p:spPr>
          <p:txBody>
            <a:bodyPr/>
            <a:lstStyle/>
            <a:p>
              <a:endParaRPr lang="en-US"/>
            </a:p>
          </p:txBody>
        </p:sp>
      </p:grpSp>
      <p:sp>
        <p:nvSpPr>
          <p:cNvPr id="15" name="TextBox 15"/>
          <p:cNvSpPr txBox="1"/>
          <p:nvPr/>
        </p:nvSpPr>
        <p:spPr>
          <a:xfrm>
            <a:off x="287598" y="7024722"/>
            <a:ext cx="2419255" cy="451379"/>
          </a:xfrm>
          <a:prstGeom prst="rect">
            <a:avLst/>
          </a:prstGeom>
        </p:spPr>
        <p:txBody>
          <a:bodyPr wrap="square" lIns="0" tIns="0" rIns="0" bIns="0" rtlCol="0" anchor="t">
            <a:spAutoFit/>
          </a:bodyPr>
          <a:lstStyle/>
          <a:p>
            <a:pPr algn="l">
              <a:lnSpc>
                <a:spcPts val="3358"/>
              </a:lnSpc>
            </a:pPr>
            <a:r>
              <a:rPr lang="en-US" sz="2399" b="1" i="1" dirty="0">
                <a:solidFill>
                  <a:srgbClr val="471C0B"/>
                </a:solidFill>
                <a:latin typeface="Arima Madurai Bold Italics"/>
                <a:ea typeface="Arima Madurai Bold Italics"/>
                <a:cs typeface="Arima Madurai Bold Italics"/>
                <a:sym typeface="Arima Madurai Bold Italics"/>
              </a:rPr>
              <a:t>Key Insights</a:t>
            </a:r>
          </a:p>
        </p:txBody>
      </p:sp>
      <p:sp>
        <p:nvSpPr>
          <p:cNvPr id="16" name="TextBox 16"/>
          <p:cNvSpPr txBox="1"/>
          <p:nvPr/>
        </p:nvSpPr>
        <p:spPr>
          <a:xfrm>
            <a:off x="17259300" y="9207332"/>
            <a:ext cx="143904" cy="405346"/>
          </a:xfrm>
          <a:prstGeom prst="rect">
            <a:avLst/>
          </a:prstGeom>
        </p:spPr>
        <p:txBody>
          <a:bodyPr lIns="0" tIns="0" rIns="0" bIns="0" rtlCol="0" anchor="t">
            <a:spAutoFit/>
          </a:bodyPr>
          <a:lstStyle/>
          <a:p>
            <a:pPr algn="l">
              <a:lnSpc>
                <a:spcPts val="3358"/>
              </a:lnSpc>
            </a:pPr>
            <a:r>
              <a:rPr lang="en-US" sz="2399" b="1" i="1">
                <a:solidFill>
                  <a:srgbClr val="3D1700"/>
                </a:solidFill>
                <a:latin typeface="Arima Madurai Bold Italics"/>
                <a:ea typeface="Arima Madurai Bold Italics"/>
                <a:cs typeface="Arima Madurai Bold Italics"/>
                <a:sym typeface="Arima Madurai Bold Italics"/>
              </a:rPr>
              <a:t>9</a:t>
            </a:r>
          </a:p>
        </p:txBody>
      </p:sp>
      <p:sp>
        <p:nvSpPr>
          <p:cNvPr id="17" name="TextBox 17"/>
          <p:cNvSpPr txBox="1"/>
          <p:nvPr/>
        </p:nvSpPr>
        <p:spPr>
          <a:xfrm>
            <a:off x="3229899" y="251520"/>
            <a:ext cx="11828202" cy="807913"/>
          </a:xfrm>
          <a:prstGeom prst="rect">
            <a:avLst/>
          </a:prstGeom>
        </p:spPr>
        <p:txBody>
          <a:bodyPr wrap="square" lIns="0" tIns="0" rIns="0" bIns="0" rtlCol="0" anchor="t">
            <a:spAutoFit/>
          </a:bodyPr>
          <a:lstStyle/>
          <a:p>
            <a:pPr algn="l">
              <a:lnSpc>
                <a:spcPts val="6299"/>
              </a:lnSpc>
            </a:pPr>
            <a:r>
              <a:rPr lang="en-US" sz="4500" b="1" i="1" dirty="0">
                <a:solidFill>
                  <a:srgbClr val="471C0B"/>
                </a:solidFill>
                <a:latin typeface="Arima Madurai Bold Italics"/>
                <a:ea typeface="Arima Madurai Bold Italics"/>
                <a:cs typeface="Arima Madurai Bold Italics"/>
                <a:sym typeface="Arima Madurai Bold Italics"/>
              </a:rPr>
              <a:t>Product Performance Across Store Location</a:t>
            </a:r>
          </a:p>
        </p:txBody>
      </p:sp>
      <p:sp>
        <p:nvSpPr>
          <p:cNvPr id="19" name="TextBox 19"/>
          <p:cNvSpPr txBox="1"/>
          <p:nvPr/>
        </p:nvSpPr>
        <p:spPr>
          <a:xfrm>
            <a:off x="1655426" y="7835760"/>
            <a:ext cx="77695" cy="405346"/>
          </a:xfrm>
          <a:prstGeom prst="rect">
            <a:avLst/>
          </a:prstGeom>
        </p:spPr>
        <p:txBody>
          <a:bodyPr lIns="0" tIns="0" rIns="0" bIns="0" rtlCol="0" anchor="t">
            <a:spAutoFit/>
          </a:bodyPr>
          <a:lstStyle/>
          <a:p>
            <a:pPr algn="l">
              <a:lnSpc>
                <a:spcPts val="3298"/>
              </a:lnSpc>
            </a:pPr>
            <a:r>
              <a:rPr lang="en-US" sz="2399">
                <a:solidFill>
                  <a:srgbClr val="471C0B"/>
                </a:solidFill>
                <a:latin typeface="Arapey"/>
                <a:ea typeface="Arapey"/>
                <a:cs typeface="Arapey"/>
                <a:sym typeface="Arapey"/>
              </a:rPr>
              <a:t> </a:t>
            </a:r>
          </a:p>
        </p:txBody>
      </p:sp>
      <p:sp>
        <p:nvSpPr>
          <p:cNvPr id="21" name="TextBox 21"/>
          <p:cNvSpPr txBox="1"/>
          <p:nvPr/>
        </p:nvSpPr>
        <p:spPr>
          <a:xfrm>
            <a:off x="287598" y="7746447"/>
            <a:ext cx="15473115" cy="2086982"/>
          </a:xfrm>
          <a:prstGeom prst="rect">
            <a:avLst/>
          </a:prstGeom>
        </p:spPr>
        <p:txBody>
          <a:bodyPr lIns="0" tIns="0" rIns="0" bIns="0" rtlCol="0" anchor="t">
            <a:spAutoFit/>
          </a:bodyPr>
          <a:lstStyle/>
          <a:p>
            <a:pPr marL="342900" indent="-342900">
              <a:lnSpc>
                <a:spcPts val="3298"/>
              </a:lnSpc>
              <a:buFont typeface="Arial" panose="020B0604020202020204" pitchFamily="34" charset="0"/>
              <a:buChar char="•"/>
            </a:pPr>
            <a:r>
              <a:rPr lang="en-US" sz="2399" dirty="0">
                <a:solidFill>
                  <a:srgbClr val="471C0B"/>
                </a:solidFill>
                <a:latin typeface="Arapey"/>
                <a:ea typeface="Arapey"/>
                <a:cs typeface="Arapey"/>
                <a:sym typeface="Arapey"/>
              </a:rPr>
              <a:t>Coffee is the top-selling product category across all locations, accounting for </a:t>
            </a:r>
            <a:r>
              <a:rPr lang="en-US" sz="2399" i="1" dirty="0">
                <a:solidFill>
                  <a:srgbClr val="471C0B"/>
                </a:solidFill>
                <a:latin typeface="Arapey Bold Italics"/>
                <a:ea typeface="Arapey Bold Italics"/>
                <a:cs typeface="Arapey Bold Italics"/>
                <a:sym typeface="Arapey Bold Italics"/>
              </a:rPr>
              <a:t>38.63%</a:t>
            </a:r>
            <a:r>
              <a:rPr lang="en-US" sz="2399" dirty="0">
                <a:solidFill>
                  <a:srgbClr val="471C0B"/>
                </a:solidFill>
                <a:latin typeface="Arapey"/>
                <a:ea typeface="Arapey"/>
                <a:cs typeface="Arapey"/>
                <a:sym typeface="Arapey"/>
              </a:rPr>
              <a:t>. Hell’s Kitchen accounts for the highest revenue by </a:t>
            </a:r>
            <a:r>
              <a:rPr lang="en-US" sz="2399" i="1" dirty="0">
                <a:solidFill>
                  <a:srgbClr val="471C0B"/>
                </a:solidFill>
                <a:latin typeface="Arapey Bold Italics"/>
                <a:ea typeface="Arapey Bold Italics"/>
                <a:cs typeface="Arapey Bold Italics"/>
                <a:sym typeface="Arapey Bold Italics"/>
              </a:rPr>
              <a:t>13.05%</a:t>
            </a:r>
            <a:r>
              <a:rPr lang="en-US" sz="2399" dirty="0">
                <a:solidFill>
                  <a:srgbClr val="471C0B"/>
                </a:solidFill>
                <a:latin typeface="Arapey"/>
                <a:ea typeface="Arapey"/>
                <a:cs typeface="Arapey"/>
                <a:sym typeface="Arapey"/>
              </a:rPr>
              <a:t>followed Astoria with </a:t>
            </a:r>
            <a:r>
              <a:rPr lang="en-US" sz="2399" i="1" dirty="0">
                <a:solidFill>
                  <a:srgbClr val="471C0B"/>
                </a:solidFill>
                <a:latin typeface="Arapey Bold Italics"/>
                <a:ea typeface="Arapey Bold Italics"/>
                <a:cs typeface="Arapey Bold Italics"/>
                <a:sym typeface="Arapey Bold Italics"/>
              </a:rPr>
              <a:t>12.84%</a:t>
            </a:r>
            <a:r>
              <a:rPr lang="en-US" sz="2399" dirty="0">
                <a:solidFill>
                  <a:srgbClr val="471C0B"/>
                </a:solidFill>
                <a:latin typeface="Arapey"/>
                <a:ea typeface="Arapey"/>
                <a:cs typeface="Arapey"/>
                <a:sym typeface="Arapey"/>
              </a:rPr>
              <a:t>. </a:t>
            </a:r>
          </a:p>
          <a:p>
            <a:pPr marL="342900" indent="-342900">
              <a:lnSpc>
                <a:spcPts val="3298"/>
              </a:lnSpc>
              <a:buFont typeface="Arial" panose="020B0604020202020204" pitchFamily="34" charset="0"/>
              <a:buChar char="•"/>
            </a:pPr>
            <a:r>
              <a:rPr lang="en-US" sz="2399" dirty="0">
                <a:solidFill>
                  <a:srgbClr val="471C0B"/>
                </a:solidFill>
                <a:latin typeface="Arapey"/>
                <a:ea typeface="Arapey"/>
                <a:cs typeface="Arapey"/>
                <a:sym typeface="Arapey"/>
              </a:rPr>
              <a:t>Tea contributes the second highest revenue by </a:t>
            </a:r>
            <a:r>
              <a:rPr lang="en-US" sz="2399" i="1" dirty="0">
                <a:solidFill>
                  <a:srgbClr val="471C0B"/>
                </a:solidFill>
                <a:latin typeface="Arapey Bold Italics"/>
                <a:ea typeface="Arapey Bold Italics"/>
                <a:cs typeface="Arapey Bold Italics"/>
                <a:sym typeface="Arapey Bold Italics"/>
              </a:rPr>
              <a:t>9.71%</a:t>
            </a:r>
            <a:r>
              <a:rPr lang="en-US" sz="2399" dirty="0">
                <a:solidFill>
                  <a:srgbClr val="471C0B"/>
                </a:solidFill>
                <a:latin typeface="Arapey"/>
                <a:ea typeface="Arapey"/>
                <a:cs typeface="Arapey"/>
                <a:sym typeface="Arapey"/>
              </a:rPr>
              <a:t> in Astoria and Hell’s Kitchen contributes </a:t>
            </a:r>
            <a:r>
              <a:rPr lang="en-US" sz="2399" i="1" dirty="0">
                <a:solidFill>
                  <a:srgbClr val="471C0B"/>
                </a:solidFill>
                <a:latin typeface="Arapey Bold Italics"/>
                <a:ea typeface="Arapey Bold Italics"/>
                <a:cs typeface="Arapey Bold Italics"/>
                <a:sym typeface="Arapey Bold Italics"/>
              </a:rPr>
              <a:t>9.24%</a:t>
            </a:r>
            <a:r>
              <a:rPr lang="en-US" sz="2399" dirty="0">
                <a:solidFill>
                  <a:srgbClr val="471C0B"/>
                </a:solidFill>
                <a:latin typeface="Arapey"/>
                <a:ea typeface="Arapey"/>
                <a:cs typeface="Arapey"/>
                <a:sym typeface="Arapey"/>
              </a:rPr>
              <a:t>. </a:t>
            </a:r>
          </a:p>
          <a:p>
            <a:pPr marL="342900" indent="-342900">
              <a:lnSpc>
                <a:spcPts val="3298"/>
              </a:lnSpc>
              <a:buFont typeface="Arial" panose="020B0604020202020204" pitchFamily="34" charset="0"/>
              <a:buChar char="•"/>
            </a:pPr>
            <a:r>
              <a:rPr lang="en-US" sz="2399" dirty="0">
                <a:solidFill>
                  <a:srgbClr val="3D1700"/>
                </a:solidFill>
                <a:latin typeface="Arapey"/>
                <a:ea typeface="Arapey"/>
                <a:cs typeface="Arapey"/>
                <a:sym typeface="Arapey"/>
              </a:rPr>
              <a:t>Branded, Loose Tea, </a:t>
            </a:r>
            <a:r>
              <a:rPr lang="en-US" sz="2399" dirty="0" err="1">
                <a:solidFill>
                  <a:srgbClr val="3D1700"/>
                </a:solidFill>
                <a:latin typeface="Arapey"/>
                <a:ea typeface="Arapey"/>
                <a:cs typeface="Arapey"/>
                <a:sym typeface="Arapey"/>
              </a:rPr>
              <a:t>Flavours</a:t>
            </a:r>
            <a:r>
              <a:rPr lang="en-US" sz="2399" dirty="0">
                <a:solidFill>
                  <a:srgbClr val="3D1700"/>
                </a:solidFill>
                <a:latin typeface="Arapey"/>
                <a:ea typeface="Arapey"/>
                <a:cs typeface="Arapey"/>
                <a:sym typeface="Arapey"/>
              </a:rPr>
              <a:t> and Packaged Chocolate contribute minimally (under </a:t>
            </a:r>
            <a:r>
              <a:rPr lang="en-US" sz="2399" i="1" dirty="0">
                <a:solidFill>
                  <a:srgbClr val="3D1700"/>
                </a:solidFill>
                <a:latin typeface="Arapey Bold Italics"/>
                <a:ea typeface="Arapey Bold Italics"/>
                <a:cs typeface="Arapey Bold Italics"/>
                <a:sym typeface="Arapey Bold Italics"/>
              </a:rPr>
              <a:t>2% </a:t>
            </a:r>
            <a:r>
              <a:rPr lang="en-US" sz="2399" dirty="0">
                <a:solidFill>
                  <a:srgbClr val="3D1700"/>
                </a:solidFill>
                <a:latin typeface="Arapey"/>
                <a:ea typeface="Arapey"/>
                <a:cs typeface="Arapey"/>
                <a:sym typeface="Arapey"/>
              </a:rPr>
              <a:t>individually), suggesting these are less popular items.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5" name="Group 5"/>
          <p:cNvGrpSpPr/>
          <p:nvPr/>
        </p:nvGrpSpPr>
        <p:grpSpPr>
          <a:xfrm>
            <a:off x="4195267" y="1851146"/>
            <a:ext cx="9182100" cy="5524500"/>
            <a:chOff x="0" y="0"/>
            <a:chExt cx="12242800" cy="7366000"/>
          </a:xfrm>
        </p:grpSpPr>
        <p:sp>
          <p:nvSpPr>
            <p:cNvPr id="6" name="Freeform 6"/>
            <p:cNvSpPr/>
            <p:nvPr/>
          </p:nvSpPr>
          <p:spPr>
            <a:xfrm>
              <a:off x="0" y="0"/>
              <a:ext cx="12242800" cy="7366000"/>
            </a:xfrm>
            <a:custGeom>
              <a:avLst/>
              <a:gdLst/>
              <a:ahLst/>
              <a:cxnLst/>
              <a:rect l="l" t="t" r="r" b="b"/>
              <a:pathLst>
                <a:path w="12242800" h="7366000">
                  <a:moveTo>
                    <a:pt x="0" y="0"/>
                  </a:moveTo>
                  <a:lnTo>
                    <a:pt x="12242800" y="0"/>
                  </a:lnTo>
                  <a:lnTo>
                    <a:pt x="12242800" y="7366000"/>
                  </a:lnTo>
                  <a:lnTo>
                    <a:pt x="0" y="7366000"/>
                  </a:lnTo>
                  <a:lnTo>
                    <a:pt x="0" y="0"/>
                  </a:lnTo>
                  <a:close/>
                </a:path>
              </a:pathLst>
            </a:custGeom>
            <a:blipFill>
              <a:blip r:embed="rId2"/>
              <a:stretch>
                <a:fillRect/>
              </a:stretch>
            </a:blipFill>
          </p:spPr>
          <p:txBody>
            <a:bodyPr/>
            <a:lstStyle/>
            <a:p>
              <a:endParaRPr lang="en-US"/>
            </a:p>
          </p:txBody>
        </p:sp>
      </p:grpSp>
      <p:grpSp>
        <p:nvGrpSpPr>
          <p:cNvPr id="7" name="Group 7"/>
          <p:cNvGrpSpPr/>
          <p:nvPr/>
        </p:nvGrpSpPr>
        <p:grpSpPr>
          <a:xfrm>
            <a:off x="835200" y="8209645"/>
            <a:ext cx="85725" cy="85725"/>
            <a:chOff x="0" y="0"/>
            <a:chExt cx="85725" cy="85725"/>
          </a:xfrm>
        </p:grpSpPr>
        <p:sp>
          <p:nvSpPr>
            <p:cNvPr id="8" name="Freeform 8"/>
            <p:cNvSpPr/>
            <p:nvPr/>
          </p:nvSpPr>
          <p:spPr>
            <a:xfrm>
              <a:off x="0" y="0"/>
              <a:ext cx="85725" cy="85725"/>
            </a:xfrm>
            <a:custGeom>
              <a:avLst/>
              <a:gdLst/>
              <a:ahLst/>
              <a:cxnLst/>
              <a:rect l="l" t="t" r="r" b="b"/>
              <a:pathLst>
                <a:path w="85725" h="85725">
                  <a:moveTo>
                    <a:pt x="85725" y="42926"/>
                  </a:moveTo>
                  <a:cubicBezTo>
                    <a:pt x="85725" y="48641"/>
                    <a:pt x="84582" y="54102"/>
                    <a:pt x="82423" y="59309"/>
                  </a:cubicBezTo>
                  <a:cubicBezTo>
                    <a:pt x="80264" y="64516"/>
                    <a:pt x="77089" y="69215"/>
                    <a:pt x="73152" y="73152"/>
                  </a:cubicBezTo>
                  <a:cubicBezTo>
                    <a:pt x="69215" y="77089"/>
                    <a:pt x="64516" y="80264"/>
                    <a:pt x="59309" y="82423"/>
                  </a:cubicBezTo>
                  <a:cubicBezTo>
                    <a:pt x="54102" y="84582"/>
                    <a:pt x="48641" y="85725"/>
                    <a:pt x="42926" y="85725"/>
                  </a:cubicBezTo>
                  <a:cubicBezTo>
                    <a:pt x="37211" y="85725"/>
                    <a:pt x="31750" y="84582"/>
                    <a:pt x="26543" y="82423"/>
                  </a:cubicBezTo>
                  <a:cubicBezTo>
                    <a:pt x="21336" y="80264"/>
                    <a:pt x="16510" y="77216"/>
                    <a:pt x="12573" y="73152"/>
                  </a:cubicBezTo>
                  <a:cubicBezTo>
                    <a:pt x="8636" y="69088"/>
                    <a:pt x="5461" y="64516"/>
                    <a:pt x="3302" y="59309"/>
                  </a:cubicBezTo>
                  <a:cubicBezTo>
                    <a:pt x="1143" y="54102"/>
                    <a:pt x="0" y="48514"/>
                    <a:pt x="0" y="42926"/>
                  </a:cubicBezTo>
                  <a:cubicBezTo>
                    <a:pt x="0" y="37338"/>
                    <a:pt x="1143" y="31750"/>
                    <a:pt x="3302" y="26416"/>
                  </a:cubicBezTo>
                  <a:cubicBezTo>
                    <a:pt x="5461" y="21082"/>
                    <a:pt x="8509" y="16510"/>
                    <a:pt x="12573" y="12573"/>
                  </a:cubicBezTo>
                  <a:cubicBezTo>
                    <a:pt x="16637" y="8636"/>
                    <a:pt x="21209" y="5461"/>
                    <a:pt x="26416" y="3302"/>
                  </a:cubicBezTo>
                  <a:cubicBezTo>
                    <a:pt x="31623" y="1143"/>
                    <a:pt x="37211" y="0"/>
                    <a:pt x="42926" y="0"/>
                  </a:cubicBezTo>
                  <a:cubicBezTo>
                    <a:pt x="48641" y="0"/>
                    <a:pt x="54102" y="1143"/>
                    <a:pt x="59309" y="3302"/>
                  </a:cubicBezTo>
                  <a:cubicBezTo>
                    <a:pt x="64516" y="5461"/>
                    <a:pt x="69215" y="8636"/>
                    <a:pt x="73152" y="12573"/>
                  </a:cubicBezTo>
                  <a:cubicBezTo>
                    <a:pt x="77089" y="16510"/>
                    <a:pt x="80264" y="21209"/>
                    <a:pt x="82423" y="26416"/>
                  </a:cubicBezTo>
                  <a:cubicBezTo>
                    <a:pt x="84582" y="31623"/>
                    <a:pt x="85725" y="37084"/>
                    <a:pt x="85725" y="42799"/>
                  </a:cubicBezTo>
                  <a:close/>
                </a:path>
              </a:pathLst>
            </a:custGeom>
            <a:solidFill>
              <a:srgbClr val="471C0B"/>
            </a:solidFill>
          </p:spPr>
          <p:txBody>
            <a:bodyPr/>
            <a:lstStyle/>
            <a:p>
              <a:endParaRPr lang="en-US"/>
            </a:p>
          </p:txBody>
        </p:sp>
      </p:grpSp>
      <p:grpSp>
        <p:nvGrpSpPr>
          <p:cNvPr id="9" name="Group 9"/>
          <p:cNvGrpSpPr/>
          <p:nvPr/>
        </p:nvGrpSpPr>
        <p:grpSpPr>
          <a:xfrm>
            <a:off x="835200" y="8628745"/>
            <a:ext cx="85725" cy="85725"/>
            <a:chOff x="0" y="0"/>
            <a:chExt cx="85725" cy="85725"/>
          </a:xfrm>
        </p:grpSpPr>
        <p:sp>
          <p:nvSpPr>
            <p:cNvPr id="10" name="Freeform 10"/>
            <p:cNvSpPr/>
            <p:nvPr/>
          </p:nvSpPr>
          <p:spPr>
            <a:xfrm>
              <a:off x="0" y="0"/>
              <a:ext cx="85725" cy="85725"/>
            </a:xfrm>
            <a:custGeom>
              <a:avLst/>
              <a:gdLst/>
              <a:ahLst/>
              <a:cxnLst/>
              <a:rect l="l" t="t" r="r" b="b"/>
              <a:pathLst>
                <a:path w="85725" h="85725">
                  <a:moveTo>
                    <a:pt x="85725" y="42926"/>
                  </a:moveTo>
                  <a:cubicBezTo>
                    <a:pt x="85725" y="48641"/>
                    <a:pt x="84582" y="54102"/>
                    <a:pt x="82423" y="59309"/>
                  </a:cubicBezTo>
                  <a:cubicBezTo>
                    <a:pt x="80264" y="64516"/>
                    <a:pt x="77089" y="69215"/>
                    <a:pt x="73152" y="73152"/>
                  </a:cubicBezTo>
                  <a:cubicBezTo>
                    <a:pt x="69215" y="77089"/>
                    <a:pt x="64516" y="80264"/>
                    <a:pt x="59309" y="82423"/>
                  </a:cubicBezTo>
                  <a:cubicBezTo>
                    <a:pt x="54102" y="84582"/>
                    <a:pt x="48641" y="85725"/>
                    <a:pt x="42926" y="85725"/>
                  </a:cubicBezTo>
                  <a:cubicBezTo>
                    <a:pt x="37211" y="85725"/>
                    <a:pt x="31750" y="84582"/>
                    <a:pt x="26543" y="82423"/>
                  </a:cubicBezTo>
                  <a:cubicBezTo>
                    <a:pt x="21336" y="80264"/>
                    <a:pt x="16510" y="77216"/>
                    <a:pt x="12573" y="73152"/>
                  </a:cubicBezTo>
                  <a:cubicBezTo>
                    <a:pt x="8636" y="69088"/>
                    <a:pt x="5461" y="64516"/>
                    <a:pt x="3302" y="59309"/>
                  </a:cubicBezTo>
                  <a:cubicBezTo>
                    <a:pt x="1143" y="54102"/>
                    <a:pt x="0" y="48514"/>
                    <a:pt x="0" y="42926"/>
                  </a:cubicBezTo>
                  <a:cubicBezTo>
                    <a:pt x="0" y="37338"/>
                    <a:pt x="1143" y="31750"/>
                    <a:pt x="3302" y="26416"/>
                  </a:cubicBezTo>
                  <a:cubicBezTo>
                    <a:pt x="5461" y="21082"/>
                    <a:pt x="8509" y="16510"/>
                    <a:pt x="12573" y="12573"/>
                  </a:cubicBezTo>
                  <a:cubicBezTo>
                    <a:pt x="16637" y="8636"/>
                    <a:pt x="21209" y="5461"/>
                    <a:pt x="26416" y="3302"/>
                  </a:cubicBezTo>
                  <a:cubicBezTo>
                    <a:pt x="31623" y="1143"/>
                    <a:pt x="37211" y="0"/>
                    <a:pt x="42926" y="0"/>
                  </a:cubicBezTo>
                  <a:cubicBezTo>
                    <a:pt x="48641" y="0"/>
                    <a:pt x="54102" y="1143"/>
                    <a:pt x="59309" y="3302"/>
                  </a:cubicBezTo>
                  <a:cubicBezTo>
                    <a:pt x="64516" y="5461"/>
                    <a:pt x="69215" y="8636"/>
                    <a:pt x="73152" y="12573"/>
                  </a:cubicBezTo>
                  <a:cubicBezTo>
                    <a:pt x="77089" y="16510"/>
                    <a:pt x="80264" y="21209"/>
                    <a:pt x="82423" y="26416"/>
                  </a:cubicBezTo>
                  <a:cubicBezTo>
                    <a:pt x="84582" y="31623"/>
                    <a:pt x="85725" y="37084"/>
                    <a:pt x="85725" y="42799"/>
                  </a:cubicBezTo>
                  <a:close/>
                </a:path>
              </a:pathLst>
            </a:custGeom>
            <a:solidFill>
              <a:srgbClr val="471C0B"/>
            </a:solidFill>
          </p:spPr>
          <p:txBody>
            <a:bodyPr/>
            <a:lstStyle/>
            <a:p>
              <a:endParaRPr lang="en-US"/>
            </a:p>
          </p:txBody>
        </p:sp>
      </p:grpSp>
      <p:grpSp>
        <p:nvGrpSpPr>
          <p:cNvPr id="11" name="Group 11"/>
          <p:cNvGrpSpPr/>
          <p:nvPr/>
        </p:nvGrpSpPr>
        <p:grpSpPr>
          <a:xfrm>
            <a:off x="835200" y="9047845"/>
            <a:ext cx="85725" cy="85725"/>
            <a:chOff x="0" y="0"/>
            <a:chExt cx="85725" cy="85725"/>
          </a:xfrm>
        </p:grpSpPr>
        <p:sp>
          <p:nvSpPr>
            <p:cNvPr id="12" name="Freeform 12"/>
            <p:cNvSpPr/>
            <p:nvPr/>
          </p:nvSpPr>
          <p:spPr>
            <a:xfrm>
              <a:off x="0" y="0"/>
              <a:ext cx="85725" cy="85725"/>
            </a:xfrm>
            <a:custGeom>
              <a:avLst/>
              <a:gdLst/>
              <a:ahLst/>
              <a:cxnLst/>
              <a:rect l="l" t="t" r="r" b="b"/>
              <a:pathLst>
                <a:path w="85725" h="85725">
                  <a:moveTo>
                    <a:pt x="85725" y="42926"/>
                  </a:moveTo>
                  <a:cubicBezTo>
                    <a:pt x="85725" y="48641"/>
                    <a:pt x="84582" y="54102"/>
                    <a:pt x="82423" y="59309"/>
                  </a:cubicBezTo>
                  <a:cubicBezTo>
                    <a:pt x="80264" y="64516"/>
                    <a:pt x="77089" y="69215"/>
                    <a:pt x="73152" y="73152"/>
                  </a:cubicBezTo>
                  <a:cubicBezTo>
                    <a:pt x="69215" y="77089"/>
                    <a:pt x="64516" y="80264"/>
                    <a:pt x="59309" y="82423"/>
                  </a:cubicBezTo>
                  <a:cubicBezTo>
                    <a:pt x="54102" y="84582"/>
                    <a:pt x="48641" y="85725"/>
                    <a:pt x="42926" y="85725"/>
                  </a:cubicBezTo>
                  <a:cubicBezTo>
                    <a:pt x="37211" y="85725"/>
                    <a:pt x="31750" y="84582"/>
                    <a:pt x="26543" y="82423"/>
                  </a:cubicBezTo>
                  <a:cubicBezTo>
                    <a:pt x="21336" y="80264"/>
                    <a:pt x="16510" y="77216"/>
                    <a:pt x="12573" y="73152"/>
                  </a:cubicBezTo>
                  <a:cubicBezTo>
                    <a:pt x="8636" y="69088"/>
                    <a:pt x="5461" y="64516"/>
                    <a:pt x="3302" y="59309"/>
                  </a:cubicBezTo>
                  <a:cubicBezTo>
                    <a:pt x="1143" y="54102"/>
                    <a:pt x="0" y="48514"/>
                    <a:pt x="0" y="42926"/>
                  </a:cubicBezTo>
                  <a:cubicBezTo>
                    <a:pt x="0" y="37338"/>
                    <a:pt x="1143" y="31750"/>
                    <a:pt x="3302" y="26416"/>
                  </a:cubicBezTo>
                  <a:cubicBezTo>
                    <a:pt x="5461" y="21082"/>
                    <a:pt x="8509" y="16510"/>
                    <a:pt x="12573" y="12573"/>
                  </a:cubicBezTo>
                  <a:cubicBezTo>
                    <a:pt x="16637" y="8636"/>
                    <a:pt x="21209" y="5461"/>
                    <a:pt x="26416" y="3302"/>
                  </a:cubicBezTo>
                  <a:cubicBezTo>
                    <a:pt x="31623" y="1143"/>
                    <a:pt x="37211" y="0"/>
                    <a:pt x="42926" y="0"/>
                  </a:cubicBezTo>
                  <a:cubicBezTo>
                    <a:pt x="48641" y="0"/>
                    <a:pt x="54102" y="1143"/>
                    <a:pt x="59309" y="3302"/>
                  </a:cubicBezTo>
                  <a:cubicBezTo>
                    <a:pt x="64516" y="5461"/>
                    <a:pt x="69215" y="8636"/>
                    <a:pt x="73152" y="12573"/>
                  </a:cubicBezTo>
                  <a:cubicBezTo>
                    <a:pt x="77089" y="16510"/>
                    <a:pt x="80264" y="21209"/>
                    <a:pt x="82423" y="26416"/>
                  </a:cubicBezTo>
                  <a:cubicBezTo>
                    <a:pt x="84582" y="31623"/>
                    <a:pt x="85725" y="37084"/>
                    <a:pt x="85725" y="42799"/>
                  </a:cubicBezTo>
                  <a:close/>
                </a:path>
              </a:pathLst>
            </a:custGeom>
            <a:solidFill>
              <a:srgbClr val="471C0B"/>
            </a:solidFill>
          </p:spPr>
          <p:txBody>
            <a:bodyPr/>
            <a:lstStyle/>
            <a:p>
              <a:endParaRPr lang="en-US"/>
            </a:p>
          </p:txBody>
        </p:sp>
      </p:grpSp>
      <p:grpSp>
        <p:nvGrpSpPr>
          <p:cNvPr id="13" name="Group 13"/>
          <p:cNvGrpSpPr/>
          <p:nvPr/>
        </p:nvGrpSpPr>
        <p:grpSpPr>
          <a:xfrm>
            <a:off x="1519838" y="1194606"/>
            <a:ext cx="6331277" cy="38100"/>
            <a:chOff x="0" y="0"/>
            <a:chExt cx="6331280" cy="38100"/>
          </a:xfrm>
        </p:grpSpPr>
        <p:sp>
          <p:nvSpPr>
            <p:cNvPr id="14" name="Freeform 14"/>
            <p:cNvSpPr/>
            <p:nvPr/>
          </p:nvSpPr>
          <p:spPr>
            <a:xfrm>
              <a:off x="0" y="0"/>
              <a:ext cx="6331334" cy="38100"/>
            </a:xfrm>
            <a:custGeom>
              <a:avLst/>
              <a:gdLst/>
              <a:ahLst/>
              <a:cxnLst/>
              <a:rect l="l" t="t" r="r" b="b"/>
              <a:pathLst>
                <a:path w="6331334" h="38100">
                  <a:moveTo>
                    <a:pt x="0" y="38100"/>
                  </a:moveTo>
                  <a:lnTo>
                    <a:pt x="6331334" y="38100"/>
                  </a:lnTo>
                  <a:lnTo>
                    <a:pt x="6331334" y="0"/>
                  </a:lnTo>
                  <a:lnTo>
                    <a:pt x="0" y="0"/>
                  </a:lnTo>
                  <a:close/>
                </a:path>
              </a:pathLst>
            </a:custGeom>
            <a:solidFill>
              <a:srgbClr val="000000">
                <a:alpha val="0"/>
              </a:srgbClr>
            </a:solidFill>
          </p:spPr>
          <p:txBody>
            <a:bodyPr/>
            <a:lstStyle/>
            <a:p>
              <a:endParaRPr lang="en-US"/>
            </a:p>
          </p:txBody>
        </p:sp>
      </p:grpSp>
      <p:sp>
        <p:nvSpPr>
          <p:cNvPr id="15" name="TextBox 15"/>
          <p:cNvSpPr txBox="1"/>
          <p:nvPr/>
        </p:nvSpPr>
        <p:spPr>
          <a:xfrm>
            <a:off x="558975" y="7608132"/>
            <a:ext cx="2108025" cy="436017"/>
          </a:xfrm>
          <a:prstGeom prst="rect">
            <a:avLst/>
          </a:prstGeom>
        </p:spPr>
        <p:txBody>
          <a:bodyPr wrap="square" lIns="0" tIns="0" rIns="0" bIns="0" rtlCol="0" anchor="t">
            <a:spAutoFit/>
          </a:bodyPr>
          <a:lstStyle/>
          <a:p>
            <a:pPr algn="l">
              <a:lnSpc>
                <a:spcPts val="3358"/>
              </a:lnSpc>
            </a:pPr>
            <a:r>
              <a:rPr lang="en-US" sz="2399" b="1" i="1" dirty="0">
                <a:solidFill>
                  <a:srgbClr val="471C0B"/>
                </a:solidFill>
                <a:latin typeface="Arima Madurai Bold Italics"/>
                <a:ea typeface="Arima Madurai Bold Italics"/>
                <a:cs typeface="Arima Madurai Bold Italics"/>
                <a:sym typeface="Arima Madurai Bold Italics"/>
              </a:rPr>
              <a:t>Key Insights </a:t>
            </a:r>
          </a:p>
        </p:txBody>
      </p:sp>
      <p:sp>
        <p:nvSpPr>
          <p:cNvPr id="16" name="TextBox 16"/>
          <p:cNvSpPr txBox="1"/>
          <p:nvPr/>
        </p:nvSpPr>
        <p:spPr>
          <a:xfrm>
            <a:off x="17259300" y="9207331"/>
            <a:ext cx="448523" cy="436017"/>
          </a:xfrm>
          <a:prstGeom prst="rect">
            <a:avLst/>
          </a:prstGeom>
        </p:spPr>
        <p:txBody>
          <a:bodyPr wrap="square" lIns="0" tIns="0" rIns="0" bIns="0" rtlCol="0" anchor="t">
            <a:spAutoFit/>
          </a:bodyPr>
          <a:lstStyle/>
          <a:p>
            <a:pPr algn="l">
              <a:lnSpc>
                <a:spcPts val="3358"/>
              </a:lnSpc>
            </a:pPr>
            <a:r>
              <a:rPr lang="en-US" sz="2399" b="1" i="1" dirty="0">
                <a:solidFill>
                  <a:srgbClr val="3D1700"/>
                </a:solidFill>
                <a:latin typeface="Arima Madurai Bold Italics"/>
                <a:ea typeface="Arima Madurai Bold Italics"/>
                <a:cs typeface="Arima Madurai Bold Italics"/>
                <a:sym typeface="Arima Madurai Bold Italics"/>
              </a:rPr>
              <a:t>10</a:t>
            </a:r>
          </a:p>
        </p:txBody>
      </p:sp>
      <p:sp>
        <p:nvSpPr>
          <p:cNvPr id="17" name="TextBox 17"/>
          <p:cNvSpPr txBox="1"/>
          <p:nvPr/>
        </p:nvSpPr>
        <p:spPr>
          <a:xfrm>
            <a:off x="1407437" y="458637"/>
            <a:ext cx="16076124" cy="807913"/>
          </a:xfrm>
          <a:prstGeom prst="rect">
            <a:avLst/>
          </a:prstGeom>
        </p:spPr>
        <p:txBody>
          <a:bodyPr wrap="square" lIns="0" tIns="0" rIns="0" bIns="0" rtlCol="0" anchor="t">
            <a:spAutoFit/>
          </a:bodyPr>
          <a:lstStyle/>
          <a:p>
            <a:pPr algn="l">
              <a:lnSpc>
                <a:spcPts val="6299"/>
              </a:lnSpc>
            </a:pPr>
            <a:r>
              <a:rPr lang="en-US" sz="4500" b="1" i="1" dirty="0">
                <a:solidFill>
                  <a:srgbClr val="471C0B"/>
                </a:solidFill>
                <a:latin typeface="Arima Madurai Bold Italics"/>
                <a:ea typeface="Arima Madurai Bold Italics"/>
                <a:cs typeface="Arima Madurai Bold Italics"/>
                <a:sym typeface="Arima Madurai Bold Italics"/>
              </a:rPr>
              <a:t>Revenue Trends by Day Classification Across Store Location</a:t>
            </a:r>
          </a:p>
        </p:txBody>
      </p:sp>
      <p:sp>
        <p:nvSpPr>
          <p:cNvPr id="19" name="TextBox 19"/>
          <p:cNvSpPr txBox="1"/>
          <p:nvPr/>
        </p:nvSpPr>
        <p:spPr>
          <a:xfrm>
            <a:off x="1077049" y="8019002"/>
            <a:ext cx="16112700" cy="1670875"/>
          </a:xfrm>
          <a:prstGeom prst="rect">
            <a:avLst/>
          </a:prstGeom>
        </p:spPr>
        <p:txBody>
          <a:bodyPr lIns="0" tIns="0" rIns="0" bIns="0" rtlCol="0" anchor="t">
            <a:spAutoFit/>
          </a:bodyPr>
          <a:lstStyle/>
          <a:p>
            <a:pPr algn="l">
              <a:lnSpc>
                <a:spcPts val="3298"/>
              </a:lnSpc>
            </a:pPr>
            <a:r>
              <a:rPr lang="en-US" sz="2399" dirty="0">
                <a:solidFill>
                  <a:srgbClr val="471C0B"/>
                </a:solidFill>
                <a:latin typeface="Arapey"/>
                <a:ea typeface="Arapey"/>
                <a:cs typeface="Arapey"/>
                <a:sym typeface="Arapey"/>
              </a:rPr>
              <a:t>Hell’s Kitchen generates the highest revenue accounting for </a:t>
            </a:r>
            <a:r>
              <a:rPr lang="en-US" sz="2399" i="1" dirty="0">
                <a:solidFill>
                  <a:srgbClr val="471C0B"/>
                </a:solidFill>
                <a:latin typeface="Arapey Bold Italics"/>
                <a:ea typeface="Arapey Bold Italics"/>
                <a:cs typeface="Arapey Bold Italics"/>
                <a:sym typeface="Arapey Bold Italics"/>
              </a:rPr>
              <a:t>24.39%</a:t>
            </a:r>
            <a:r>
              <a:rPr lang="en-US" sz="2399" dirty="0">
                <a:solidFill>
                  <a:srgbClr val="471C0B"/>
                </a:solidFill>
                <a:latin typeface="Arapey"/>
                <a:ea typeface="Arapey"/>
                <a:cs typeface="Arapey"/>
                <a:sym typeface="Arapey"/>
              </a:rPr>
              <a:t> followed by Astoria </a:t>
            </a:r>
            <a:r>
              <a:rPr lang="en-US" sz="2399" i="1" dirty="0">
                <a:solidFill>
                  <a:srgbClr val="471C0B"/>
                </a:solidFill>
                <a:latin typeface="Arapey Bold Italics"/>
                <a:ea typeface="Arapey Bold Italics"/>
                <a:cs typeface="Arapey Bold Italics"/>
                <a:sym typeface="Arapey Bold Italics"/>
              </a:rPr>
              <a:t>(23.98%)</a:t>
            </a:r>
            <a:r>
              <a:rPr lang="en-US" sz="2399" dirty="0">
                <a:solidFill>
                  <a:srgbClr val="471C0B"/>
                </a:solidFill>
                <a:latin typeface="Arapey"/>
                <a:ea typeface="Arapey"/>
                <a:cs typeface="Arapey"/>
                <a:sym typeface="Arapey"/>
              </a:rPr>
              <a:t>. </a:t>
            </a:r>
          </a:p>
          <a:p>
            <a:pPr algn="l">
              <a:lnSpc>
                <a:spcPts val="3298"/>
              </a:lnSpc>
            </a:pPr>
            <a:r>
              <a:rPr lang="en-US" sz="2399" dirty="0">
                <a:solidFill>
                  <a:srgbClr val="471C0B"/>
                </a:solidFill>
                <a:latin typeface="Arapey"/>
                <a:ea typeface="Arapey"/>
                <a:cs typeface="Arapey"/>
                <a:sym typeface="Arapey"/>
              </a:rPr>
              <a:t>Lower Manhattan generates slightly lower revenue compared to the two store </a:t>
            </a:r>
            <a:r>
              <a:rPr lang="en-US" sz="2399" i="1" dirty="0">
                <a:solidFill>
                  <a:srgbClr val="471C0B"/>
                </a:solidFill>
                <a:latin typeface="Arapey Bold Italics"/>
                <a:ea typeface="Arapey Bold Italics"/>
                <a:cs typeface="Arapey Bold Italics"/>
                <a:sym typeface="Arapey Bold Italics"/>
              </a:rPr>
              <a:t>(23.72%)</a:t>
            </a:r>
            <a:r>
              <a:rPr lang="en-US" sz="2399" dirty="0">
                <a:solidFill>
                  <a:srgbClr val="471C0B"/>
                </a:solidFill>
                <a:latin typeface="Arapey"/>
                <a:ea typeface="Arapey"/>
                <a:cs typeface="Arapey"/>
                <a:sym typeface="Arapey"/>
              </a:rPr>
              <a:t>. </a:t>
            </a:r>
          </a:p>
          <a:p>
            <a:pPr algn="l">
              <a:lnSpc>
                <a:spcPts val="3298"/>
              </a:lnSpc>
            </a:pPr>
            <a:r>
              <a:rPr lang="en-US" sz="2399" dirty="0">
                <a:solidFill>
                  <a:srgbClr val="471C0B"/>
                </a:solidFill>
                <a:latin typeface="Arapey"/>
                <a:ea typeface="Arapey"/>
                <a:cs typeface="Arapey"/>
                <a:sym typeface="Arapey"/>
              </a:rPr>
              <a:t>Weekdays are the primary revenue driver, making up nearly three-quarters of total sales (72.09%). Astoria accounts for the highest number of sales </a:t>
            </a:r>
            <a:r>
              <a:rPr lang="en-US" sz="2399" i="1" dirty="0">
                <a:solidFill>
                  <a:srgbClr val="471C0B"/>
                </a:solidFill>
                <a:latin typeface="Arapey Bold Italics"/>
                <a:ea typeface="Arapey Bold Italics"/>
                <a:cs typeface="Arapey Bold Italics"/>
                <a:sym typeface="Arapey Bold Italics"/>
              </a:rPr>
              <a:t>(24.52%)</a:t>
            </a:r>
            <a:r>
              <a:rPr lang="en-US" sz="2399" dirty="0">
                <a:solidFill>
                  <a:srgbClr val="471C0B"/>
                </a:solidFill>
                <a:latin typeface="Arapey"/>
                <a:ea typeface="Arapey"/>
                <a:cs typeface="Arapey"/>
                <a:sym typeface="Arapey"/>
              </a:rPr>
              <a:t> followed by Hell’s Kitchen </a:t>
            </a:r>
            <a:r>
              <a:rPr lang="en-US" sz="2399" i="1" dirty="0">
                <a:solidFill>
                  <a:srgbClr val="471C0B"/>
                </a:solidFill>
                <a:latin typeface="Arapey Bold Italics"/>
                <a:ea typeface="Arapey Bold Italics"/>
                <a:cs typeface="Arapey Bold Italics"/>
                <a:sym typeface="Arapey Bold Italics"/>
              </a:rPr>
              <a:t>(24.51%)</a:t>
            </a:r>
            <a:r>
              <a:rPr lang="en-US" sz="2399" dirty="0">
                <a:solidFill>
                  <a:srgbClr val="471C0B"/>
                </a:solidFill>
                <a:latin typeface="Arapey"/>
                <a:ea typeface="Arapey"/>
                <a:cs typeface="Arapey"/>
                <a:sym typeface="Arapey"/>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4" name="Group 4"/>
          <p:cNvGrpSpPr/>
          <p:nvPr/>
        </p:nvGrpSpPr>
        <p:grpSpPr>
          <a:xfrm>
            <a:off x="643595" y="2161394"/>
            <a:ext cx="75981" cy="75981"/>
            <a:chOff x="0" y="0"/>
            <a:chExt cx="75984" cy="75984"/>
          </a:xfrm>
        </p:grpSpPr>
        <p:sp>
          <p:nvSpPr>
            <p:cNvPr id="5" name="Freeform 5"/>
            <p:cNvSpPr/>
            <p:nvPr/>
          </p:nvSpPr>
          <p:spPr>
            <a:xfrm>
              <a:off x="0" y="0"/>
              <a:ext cx="75945" cy="75946"/>
            </a:xfrm>
            <a:custGeom>
              <a:avLst/>
              <a:gdLst/>
              <a:ahLst/>
              <a:cxnLst/>
              <a:rect l="l" t="t" r="r" b="b"/>
              <a:pathLst>
                <a:path w="75945" h="75946">
                  <a:moveTo>
                    <a:pt x="75945" y="37973"/>
                  </a:moveTo>
                  <a:cubicBezTo>
                    <a:pt x="75945" y="43053"/>
                    <a:pt x="74929" y="47879"/>
                    <a:pt x="73024" y="52451"/>
                  </a:cubicBezTo>
                  <a:cubicBezTo>
                    <a:pt x="71119" y="57023"/>
                    <a:pt x="68325" y="61214"/>
                    <a:pt x="64769" y="64770"/>
                  </a:cubicBezTo>
                  <a:cubicBezTo>
                    <a:pt x="61213" y="68326"/>
                    <a:pt x="57150" y="71120"/>
                    <a:pt x="52451" y="73025"/>
                  </a:cubicBezTo>
                  <a:cubicBezTo>
                    <a:pt x="47752" y="74930"/>
                    <a:pt x="42926" y="75946"/>
                    <a:pt x="37973" y="75946"/>
                  </a:cubicBezTo>
                  <a:cubicBezTo>
                    <a:pt x="33020" y="75946"/>
                    <a:pt x="28067" y="74930"/>
                    <a:pt x="23495" y="73025"/>
                  </a:cubicBezTo>
                  <a:cubicBezTo>
                    <a:pt x="18923" y="71120"/>
                    <a:pt x="14732" y="68326"/>
                    <a:pt x="11176" y="64770"/>
                  </a:cubicBezTo>
                  <a:cubicBezTo>
                    <a:pt x="7620" y="61214"/>
                    <a:pt x="4826" y="57150"/>
                    <a:pt x="2921" y="52451"/>
                  </a:cubicBezTo>
                  <a:cubicBezTo>
                    <a:pt x="1016" y="47752"/>
                    <a:pt x="0" y="43053"/>
                    <a:pt x="0" y="37973"/>
                  </a:cubicBezTo>
                  <a:cubicBezTo>
                    <a:pt x="0" y="32893"/>
                    <a:pt x="1016" y="28067"/>
                    <a:pt x="2921" y="23495"/>
                  </a:cubicBezTo>
                  <a:cubicBezTo>
                    <a:pt x="4826" y="18923"/>
                    <a:pt x="7620" y="14732"/>
                    <a:pt x="11176" y="11176"/>
                  </a:cubicBezTo>
                  <a:cubicBezTo>
                    <a:pt x="14732" y="7620"/>
                    <a:pt x="18796" y="4826"/>
                    <a:pt x="23495" y="2921"/>
                  </a:cubicBezTo>
                  <a:cubicBezTo>
                    <a:pt x="28194" y="1016"/>
                    <a:pt x="32893" y="0"/>
                    <a:pt x="37973" y="0"/>
                  </a:cubicBezTo>
                  <a:cubicBezTo>
                    <a:pt x="43053" y="0"/>
                    <a:pt x="47879" y="1016"/>
                    <a:pt x="52451" y="2921"/>
                  </a:cubicBezTo>
                  <a:cubicBezTo>
                    <a:pt x="57023" y="4826"/>
                    <a:pt x="61213" y="7620"/>
                    <a:pt x="64769" y="11176"/>
                  </a:cubicBezTo>
                  <a:cubicBezTo>
                    <a:pt x="68325" y="14732"/>
                    <a:pt x="71119" y="18796"/>
                    <a:pt x="73024" y="23495"/>
                  </a:cubicBezTo>
                  <a:cubicBezTo>
                    <a:pt x="74929" y="28194"/>
                    <a:pt x="75945" y="33020"/>
                    <a:pt x="75945" y="37973"/>
                  </a:cubicBezTo>
                  <a:close/>
                </a:path>
              </a:pathLst>
            </a:custGeom>
            <a:solidFill>
              <a:srgbClr val="3D1700"/>
            </a:solidFill>
          </p:spPr>
          <p:txBody>
            <a:bodyPr/>
            <a:lstStyle/>
            <a:p>
              <a:endParaRPr lang="en-US"/>
            </a:p>
          </p:txBody>
        </p:sp>
      </p:grpSp>
      <p:grpSp>
        <p:nvGrpSpPr>
          <p:cNvPr id="6" name="Group 6"/>
          <p:cNvGrpSpPr/>
          <p:nvPr/>
        </p:nvGrpSpPr>
        <p:grpSpPr>
          <a:xfrm>
            <a:off x="643595" y="2940234"/>
            <a:ext cx="75981" cy="75981"/>
            <a:chOff x="0" y="0"/>
            <a:chExt cx="75984" cy="75984"/>
          </a:xfrm>
        </p:grpSpPr>
        <p:sp>
          <p:nvSpPr>
            <p:cNvPr id="7" name="Freeform 7"/>
            <p:cNvSpPr/>
            <p:nvPr/>
          </p:nvSpPr>
          <p:spPr>
            <a:xfrm>
              <a:off x="0" y="0"/>
              <a:ext cx="75945" cy="75946"/>
            </a:xfrm>
            <a:custGeom>
              <a:avLst/>
              <a:gdLst/>
              <a:ahLst/>
              <a:cxnLst/>
              <a:rect l="l" t="t" r="r" b="b"/>
              <a:pathLst>
                <a:path w="75945" h="75946">
                  <a:moveTo>
                    <a:pt x="75945" y="37973"/>
                  </a:moveTo>
                  <a:cubicBezTo>
                    <a:pt x="75945" y="43053"/>
                    <a:pt x="74929" y="47879"/>
                    <a:pt x="73024" y="52451"/>
                  </a:cubicBezTo>
                  <a:cubicBezTo>
                    <a:pt x="71119" y="57023"/>
                    <a:pt x="68325" y="61214"/>
                    <a:pt x="64769" y="64770"/>
                  </a:cubicBezTo>
                  <a:cubicBezTo>
                    <a:pt x="61213" y="68326"/>
                    <a:pt x="57150" y="71120"/>
                    <a:pt x="52451" y="73025"/>
                  </a:cubicBezTo>
                  <a:cubicBezTo>
                    <a:pt x="47752" y="74930"/>
                    <a:pt x="42926" y="75946"/>
                    <a:pt x="37973" y="75946"/>
                  </a:cubicBezTo>
                  <a:cubicBezTo>
                    <a:pt x="33020" y="75946"/>
                    <a:pt x="28067" y="74930"/>
                    <a:pt x="23495" y="73025"/>
                  </a:cubicBezTo>
                  <a:cubicBezTo>
                    <a:pt x="18923" y="71120"/>
                    <a:pt x="14732" y="68326"/>
                    <a:pt x="11176" y="64770"/>
                  </a:cubicBezTo>
                  <a:cubicBezTo>
                    <a:pt x="7620" y="61214"/>
                    <a:pt x="4826" y="57150"/>
                    <a:pt x="2921" y="52451"/>
                  </a:cubicBezTo>
                  <a:cubicBezTo>
                    <a:pt x="1016" y="47752"/>
                    <a:pt x="0" y="43053"/>
                    <a:pt x="0" y="37973"/>
                  </a:cubicBezTo>
                  <a:cubicBezTo>
                    <a:pt x="0" y="32893"/>
                    <a:pt x="1016" y="28067"/>
                    <a:pt x="2921" y="23495"/>
                  </a:cubicBezTo>
                  <a:cubicBezTo>
                    <a:pt x="4826" y="18923"/>
                    <a:pt x="7620" y="14732"/>
                    <a:pt x="11176" y="11176"/>
                  </a:cubicBezTo>
                  <a:cubicBezTo>
                    <a:pt x="14732" y="7620"/>
                    <a:pt x="18796" y="4826"/>
                    <a:pt x="23495" y="2921"/>
                  </a:cubicBezTo>
                  <a:cubicBezTo>
                    <a:pt x="28194" y="1016"/>
                    <a:pt x="32893" y="0"/>
                    <a:pt x="37973" y="0"/>
                  </a:cubicBezTo>
                  <a:cubicBezTo>
                    <a:pt x="43053" y="0"/>
                    <a:pt x="47879" y="1016"/>
                    <a:pt x="52451" y="2921"/>
                  </a:cubicBezTo>
                  <a:cubicBezTo>
                    <a:pt x="57023" y="4826"/>
                    <a:pt x="61213" y="7620"/>
                    <a:pt x="64769" y="11176"/>
                  </a:cubicBezTo>
                  <a:cubicBezTo>
                    <a:pt x="68325" y="14732"/>
                    <a:pt x="71119" y="18796"/>
                    <a:pt x="73024" y="23495"/>
                  </a:cubicBezTo>
                  <a:cubicBezTo>
                    <a:pt x="74929" y="28194"/>
                    <a:pt x="75945" y="33020"/>
                    <a:pt x="75945" y="37973"/>
                  </a:cubicBezTo>
                  <a:close/>
                </a:path>
              </a:pathLst>
            </a:custGeom>
            <a:solidFill>
              <a:srgbClr val="3D1700"/>
            </a:solidFill>
          </p:spPr>
          <p:txBody>
            <a:bodyPr/>
            <a:lstStyle/>
            <a:p>
              <a:endParaRPr lang="en-US"/>
            </a:p>
          </p:txBody>
        </p:sp>
      </p:grpSp>
      <p:grpSp>
        <p:nvGrpSpPr>
          <p:cNvPr id="8" name="Group 8"/>
          <p:cNvGrpSpPr/>
          <p:nvPr/>
        </p:nvGrpSpPr>
        <p:grpSpPr>
          <a:xfrm>
            <a:off x="643595" y="3719074"/>
            <a:ext cx="75981" cy="75981"/>
            <a:chOff x="0" y="0"/>
            <a:chExt cx="75984" cy="75984"/>
          </a:xfrm>
        </p:grpSpPr>
        <p:sp>
          <p:nvSpPr>
            <p:cNvPr id="9" name="Freeform 9"/>
            <p:cNvSpPr/>
            <p:nvPr/>
          </p:nvSpPr>
          <p:spPr>
            <a:xfrm>
              <a:off x="0" y="0"/>
              <a:ext cx="75945" cy="75945"/>
            </a:xfrm>
            <a:custGeom>
              <a:avLst/>
              <a:gdLst/>
              <a:ahLst/>
              <a:cxnLst/>
              <a:rect l="l" t="t" r="r" b="b"/>
              <a:pathLst>
                <a:path w="75945" h="75945">
                  <a:moveTo>
                    <a:pt x="75945" y="37972"/>
                  </a:moveTo>
                  <a:cubicBezTo>
                    <a:pt x="75945" y="43052"/>
                    <a:pt x="74929" y="47878"/>
                    <a:pt x="73024" y="52450"/>
                  </a:cubicBezTo>
                  <a:cubicBezTo>
                    <a:pt x="71119" y="57022"/>
                    <a:pt x="68325" y="61213"/>
                    <a:pt x="64769" y="64769"/>
                  </a:cubicBezTo>
                  <a:cubicBezTo>
                    <a:pt x="61213" y="68325"/>
                    <a:pt x="57150" y="71119"/>
                    <a:pt x="52451" y="73024"/>
                  </a:cubicBezTo>
                  <a:cubicBezTo>
                    <a:pt x="47752" y="74929"/>
                    <a:pt x="42926" y="75945"/>
                    <a:pt x="37973" y="75945"/>
                  </a:cubicBezTo>
                  <a:cubicBezTo>
                    <a:pt x="33020" y="75945"/>
                    <a:pt x="28067" y="74929"/>
                    <a:pt x="23495" y="73024"/>
                  </a:cubicBezTo>
                  <a:cubicBezTo>
                    <a:pt x="18923" y="71119"/>
                    <a:pt x="14732" y="68325"/>
                    <a:pt x="11176" y="64769"/>
                  </a:cubicBezTo>
                  <a:cubicBezTo>
                    <a:pt x="7620" y="61213"/>
                    <a:pt x="4826" y="57149"/>
                    <a:pt x="2921" y="52450"/>
                  </a:cubicBezTo>
                  <a:cubicBezTo>
                    <a:pt x="1016" y="47751"/>
                    <a:pt x="0" y="43052"/>
                    <a:pt x="0" y="37972"/>
                  </a:cubicBezTo>
                  <a:cubicBezTo>
                    <a:pt x="0" y="32892"/>
                    <a:pt x="1016" y="28067"/>
                    <a:pt x="2921" y="23495"/>
                  </a:cubicBezTo>
                  <a:cubicBezTo>
                    <a:pt x="4826" y="18923"/>
                    <a:pt x="7620" y="14732"/>
                    <a:pt x="11176" y="11176"/>
                  </a:cubicBezTo>
                  <a:cubicBezTo>
                    <a:pt x="14732" y="7620"/>
                    <a:pt x="18796" y="4826"/>
                    <a:pt x="23495" y="2921"/>
                  </a:cubicBezTo>
                  <a:cubicBezTo>
                    <a:pt x="28194" y="1016"/>
                    <a:pt x="32893" y="0"/>
                    <a:pt x="37973" y="0"/>
                  </a:cubicBezTo>
                  <a:cubicBezTo>
                    <a:pt x="43053" y="0"/>
                    <a:pt x="47879" y="1016"/>
                    <a:pt x="52451" y="2921"/>
                  </a:cubicBezTo>
                  <a:cubicBezTo>
                    <a:pt x="57023" y="4826"/>
                    <a:pt x="61213" y="7620"/>
                    <a:pt x="64769" y="11176"/>
                  </a:cubicBezTo>
                  <a:cubicBezTo>
                    <a:pt x="68325" y="14732"/>
                    <a:pt x="71119" y="18796"/>
                    <a:pt x="73024" y="23495"/>
                  </a:cubicBezTo>
                  <a:cubicBezTo>
                    <a:pt x="74929" y="28194"/>
                    <a:pt x="75945" y="33019"/>
                    <a:pt x="75945" y="37972"/>
                  </a:cubicBezTo>
                  <a:close/>
                </a:path>
              </a:pathLst>
            </a:custGeom>
            <a:solidFill>
              <a:srgbClr val="3D1700"/>
            </a:solidFill>
          </p:spPr>
          <p:txBody>
            <a:bodyPr/>
            <a:lstStyle/>
            <a:p>
              <a:endParaRPr lang="en-US"/>
            </a:p>
          </p:txBody>
        </p:sp>
      </p:grpSp>
      <p:grpSp>
        <p:nvGrpSpPr>
          <p:cNvPr id="10" name="Group 10"/>
          <p:cNvGrpSpPr/>
          <p:nvPr/>
        </p:nvGrpSpPr>
        <p:grpSpPr>
          <a:xfrm>
            <a:off x="643595" y="4108504"/>
            <a:ext cx="75981" cy="75981"/>
            <a:chOff x="0" y="0"/>
            <a:chExt cx="75984" cy="75984"/>
          </a:xfrm>
        </p:grpSpPr>
        <p:sp>
          <p:nvSpPr>
            <p:cNvPr id="11" name="Freeform 11"/>
            <p:cNvSpPr/>
            <p:nvPr/>
          </p:nvSpPr>
          <p:spPr>
            <a:xfrm>
              <a:off x="0" y="0"/>
              <a:ext cx="75945" cy="75946"/>
            </a:xfrm>
            <a:custGeom>
              <a:avLst/>
              <a:gdLst/>
              <a:ahLst/>
              <a:cxnLst/>
              <a:rect l="l" t="t" r="r" b="b"/>
              <a:pathLst>
                <a:path w="75945" h="75946">
                  <a:moveTo>
                    <a:pt x="75945" y="37973"/>
                  </a:moveTo>
                  <a:cubicBezTo>
                    <a:pt x="75945" y="43053"/>
                    <a:pt x="74929" y="47879"/>
                    <a:pt x="73024" y="52451"/>
                  </a:cubicBezTo>
                  <a:cubicBezTo>
                    <a:pt x="71119" y="57023"/>
                    <a:pt x="68325" y="61214"/>
                    <a:pt x="64769" y="64770"/>
                  </a:cubicBezTo>
                  <a:cubicBezTo>
                    <a:pt x="61213" y="68326"/>
                    <a:pt x="57150" y="71120"/>
                    <a:pt x="52451" y="73025"/>
                  </a:cubicBezTo>
                  <a:cubicBezTo>
                    <a:pt x="47752" y="74930"/>
                    <a:pt x="42926" y="75946"/>
                    <a:pt x="37973" y="75946"/>
                  </a:cubicBezTo>
                  <a:cubicBezTo>
                    <a:pt x="33020" y="75946"/>
                    <a:pt x="28067" y="74930"/>
                    <a:pt x="23495" y="73025"/>
                  </a:cubicBezTo>
                  <a:cubicBezTo>
                    <a:pt x="18923" y="71120"/>
                    <a:pt x="14732" y="68326"/>
                    <a:pt x="11176" y="64770"/>
                  </a:cubicBezTo>
                  <a:cubicBezTo>
                    <a:pt x="7620" y="61214"/>
                    <a:pt x="4826" y="57150"/>
                    <a:pt x="2921" y="52451"/>
                  </a:cubicBezTo>
                  <a:cubicBezTo>
                    <a:pt x="1016" y="47752"/>
                    <a:pt x="0" y="43053"/>
                    <a:pt x="0" y="37973"/>
                  </a:cubicBezTo>
                  <a:cubicBezTo>
                    <a:pt x="0" y="32893"/>
                    <a:pt x="1016" y="28067"/>
                    <a:pt x="2921" y="23495"/>
                  </a:cubicBezTo>
                  <a:cubicBezTo>
                    <a:pt x="4826" y="18923"/>
                    <a:pt x="7620" y="14732"/>
                    <a:pt x="11176" y="11176"/>
                  </a:cubicBezTo>
                  <a:cubicBezTo>
                    <a:pt x="14732" y="7620"/>
                    <a:pt x="18796" y="4826"/>
                    <a:pt x="23495" y="2921"/>
                  </a:cubicBezTo>
                  <a:cubicBezTo>
                    <a:pt x="28194" y="1016"/>
                    <a:pt x="32893" y="0"/>
                    <a:pt x="37973" y="0"/>
                  </a:cubicBezTo>
                  <a:cubicBezTo>
                    <a:pt x="43053" y="0"/>
                    <a:pt x="47879" y="1016"/>
                    <a:pt x="52451" y="2921"/>
                  </a:cubicBezTo>
                  <a:cubicBezTo>
                    <a:pt x="57023" y="4826"/>
                    <a:pt x="61213" y="7620"/>
                    <a:pt x="64769" y="11176"/>
                  </a:cubicBezTo>
                  <a:cubicBezTo>
                    <a:pt x="68325" y="14732"/>
                    <a:pt x="71119" y="18796"/>
                    <a:pt x="73024" y="23495"/>
                  </a:cubicBezTo>
                  <a:cubicBezTo>
                    <a:pt x="74929" y="28194"/>
                    <a:pt x="75945" y="33020"/>
                    <a:pt x="75945" y="37973"/>
                  </a:cubicBezTo>
                  <a:close/>
                </a:path>
              </a:pathLst>
            </a:custGeom>
            <a:solidFill>
              <a:srgbClr val="3D1700"/>
            </a:solidFill>
          </p:spPr>
          <p:txBody>
            <a:bodyPr/>
            <a:lstStyle/>
            <a:p>
              <a:endParaRPr lang="en-US"/>
            </a:p>
          </p:txBody>
        </p:sp>
      </p:grpSp>
      <p:grpSp>
        <p:nvGrpSpPr>
          <p:cNvPr id="18" name="Group 18"/>
          <p:cNvGrpSpPr/>
          <p:nvPr/>
        </p:nvGrpSpPr>
        <p:grpSpPr>
          <a:xfrm>
            <a:off x="643595" y="7527817"/>
            <a:ext cx="75981" cy="75981"/>
            <a:chOff x="0" y="0"/>
            <a:chExt cx="75984" cy="75984"/>
          </a:xfrm>
        </p:grpSpPr>
        <p:sp>
          <p:nvSpPr>
            <p:cNvPr id="19" name="Freeform 19"/>
            <p:cNvSpPr/>
            <p:nvPr/>
          </p:nvSpPr>
          <p:spPr>
            <a:xfrm>
              <a:off x="0" y="0"/>
              <a:ext cx="75945" cy="75945"/>
            </a:xfrm>
            <a:custGeom>
              <a:avLst/>
              <a:gdLst/>
              <a:ahLst/>
              <a:cxnLst/>
              <a:rect l="l" t="t" r="r" b="b"/>
              <a:pathLst>
                <a:path w="75945" h="75945">
                  <a:moveTo>
                    <a:pt x="75945" y="37973"/>
                  </a:moveTo>
                  <a:cubicBezTo>
                    <a:pt x="75945" y="43053"/>
                    <a:pt x="74929" y="47879"/>
                    <a:pt x="73024" y="52451"/>
                  </a:cubicBezTo>
                  <a:cubicBezTo>
                    <a:pt x="71119" y="57023"/>
                    <a:pt x="68325" y="61214"/>
                    <a:pt x="64769" y="64769"/>
                  </a:cubicBezTo>
                  <a:cubicBezTo>
                    <a:pt x="61213" y="68325"/>
                    <a:pt x="57150" y="71119"/>
                    <a:pt x="52451" y="73024"/>
                  </a:cubicBezTo>
                  <a:cubicBezTo>
                    <a:pt x="47752" y="74929"/>
                    <a:pt x="42926" y="75945"/>
                    <a:pt x="37973" y="75945"/>
                  </a:cubicBezTo>
                  <a:cubicBezTo>
                    <a:pt x="33020" y="75945"/>
                    <a:pt x="28067" y="74929"/>
                    <a:pt x="23495" y="73024"/>
                  </a:cubicBezTo>
                  <a:cubicBezTo>
                    <a:pt x="18923" y="71119"/>
                    <a:pt x="14732" y="68325"/>
                    <a:pt x="11176" y="64769"/>
                  </a:cubicBezTo>
                  <a:cubicBezTo>
                    <a:pt x="7620" y="61214"/>
                    <a:pt x="4826" y="57150"/>
                    <a:pt x="2921" y="52451"/>
                  </a:cubicBezTo>
                  <a:cubicBezTo>
                    <a:pt x="1016" y="47752"/>
                    <a:pt x="0" y="43053"/>
                    <a:pt x="0" y="37973"/>
                  </a:cubicBezTo>
                  <a:cubicBezTo>
                    <a:pt x="0" y="32893"/>
                    <a:pt x="1016" y="28067"/>
                    <a:pt x="2921" y="23495"/>
                  </a:cubicBezTo>
                  <a:cubicBezTo>
                    <a:pt x="4826" y="18923"/>
                    <a:pt x="7620" y="14732"/>
                    <a:pt x="11176" y="11176"/>
                  </a:cubicBezTo>
                  <a:cubicBezTo>
                    <a:pt x="14732" y="7620"/>
                    <a:pt x="18796" y="4826"/>
                    <a:pt x="23495" y="2921"/>
                  </a:cubicBezTo>
                  <a:cubicBezTo>
                    <a:pt x="28194" y="1016"/>
                    <a:pt x="32893" y="0"/>
                    <a:pt x="37973" y="0"/>
                  </a:cubicBezTo>
                  <a:cubicBezTo>
                    <a:pt x="43053" y="0"/>
                    <a:pt x="47879" y="1016"/>
                    <a:pt x="52451" y="2921"/>
                  </a:cubicBezTo>
                  <a:cubicBezTo>
                    <a:pt x="57023" y="4826"/>
                    <a:pt x="61213" y="7620"/>
                    <a:pt x="64769" y="11176"/>
                  </a:cubicBezTo>
                  <a:cubicBezTo>
                    <a:pt x="68325" y="14732"/>
                    <a:pt x="71119" y="18796"/>
                    <a:pt x="73024" y="23495"/>
                  </a:cubicBezTo>
                  <a:cubicBezTo>
                    <a:pt x="74929" y="28194"/>
                    <a:pt x="75945" y="33020"/>
                    <a:pt x="75945" y="37973"/>
                  </a:cubicBezTo>
                  <a:close/>
                </a:path>
              </a:pathLst>
            </a:custGeom>
            <a:solidFill>
              <a:srgbClr val="3D1700"/>
            </a:solidFill>
          </p:spPr>
          <p:txBody>
            <a:bodyPr/>
            <a:lstStyle/>
            <a:p>
              <a:endParaRPr lang="en-US"/>
            </a:p>
          </p:txBody>
        </p:sp>
      </p:grpSp>
      <p:grpSp>
        <p:nvGrpSpPr>
          <p:cNvPr id="20" name="Group 20"/>
          <p:cNvGrpSpPr/>
          <p:nvPr/>
        </p:nvGrpSpPr>
        <p:grpSpPr>
          <a:xfrm>
            <a:off x="643595" y="7917237"/>
            <a:ext cx="75981" cy="75981"/>
            <a:chOff x="0" y="0"/>
            <a:chExt cx="75984" cy="75984"/>
          </a:xfrm>
        </p:grpSpPr>
        <p:sp>
          <p:nvSpPr>
            <p:cNvPr id="21" name="Freeform 21"/>
            <p:cNvSpPr/>
            <p:nvPr/>
          </p:nvSpPr>
          <p:spPr>
            <a:xfrm>
              <a:off x="0" y="0"/>
              <a:ext cx="75945" cy="75945"/>
            </a:xfrm>
            <a:custGeom>
              <a:avLst/>
              <a:gdLst/>
              <a:ahLst/>
              <a:cxnLst/>
              <a:rect l="l" t="t" r="r" b="b"/>
              <a:pathLst>
                <a:path w="75945" h="75945">
                  <a:moveTo>
                    <a:pt x="75945" y="37973"/>
                  </a:moveTo>
                  <a:cubicBezTo>
                    <a:pt x="75945" y="43053"/>
                    <a:pt x="74929" y="47879"/>
                    <a:pt x="73024" y="52451"/>
                  </a:cubicBezTo>
                  <a:cubicBezTo>
                    <a:pt x="71119" y="57023"/>
                    <a:pt x="68325" y="61214"/>
                    <a:pt x="64769" y="64769"/>
                  </a:cubicBezTo>
                  <a:cubicBezTo>
                    <a:pt x="61213" y="68325"/>
                    <a:pt x="57150" y="71119"/>
                    <a:pt x="52451" y="73024"/>
                  </a:cubicBezTo>
                  <a:cubicBezTo>
                    <a:pt x="47752" y="74929"/>
                    <a:pt x="42926" y="75945"/>
                    <a:pt x="37973" y="75945"/>
                  </a:cubicBezTo>
                  <a:cubicBezTo>
                    <a:pt x="33020" y="75945"/>
                    <a:pt x="28067" y="74929"/>
                    <a:pt x="23495" y="73024"/>
                  </a:cubicBezTo>
                  <a:cubicBezTo>
                    <a:pt x="18923" y="71119"/>
                    <a:pt x="14732" y="68325"/>
                    <a:pt x="11176" y="64769"/>
                  </a:cubicBezTo>
                  <a:cubicBezTo>
                    <a:pt x="7620" y="61214"/>
                    <a:pt x="4826" y="57150"/>
                    <a:pt x="2921" y="52451"/>
                  </a:cubicBezTo>
                  <a:cubicBezTo>
                    <a:pt x="1016" y="47752"/>
                    <a:pt x="0" y="43053"/>
                    <a:pt x="0" y="37973"/>
                  </a:cubicBezTo>
                  <a:cubicBezTo>
                    <a:pt x="0" y="32893"/>
                    <a:pt x="1016" y="28067"/>
                    <a:pt x="2921" y="23495"/>
                  </a:cubicBezTo>
                  <a:cubicBezTo>
                    <a:pt x="4826" y="18923"/>
                    <a:pt x="7620" y="14732"/>
                    <a:pt x="11176" y="11176"/>
                  </a:cubicBezTo>
                  <a:cubicBezTo>
                    <a:pt x="14732" y="7620"/>
                    <a:pt x="18796" y="4826"/>
                    <a:pt x="23495" y="2921"/>
                  </a:cubicBezTo>
                  <a:cubicBezTo>
                    <a:pt x="28194" y="1016"/>
                    <a:pt x="32893" y="0"/>
                    <a:pt x="37973" y="0"/>
                  </a:cubicBezTo>
                  <a:cubicBezTo>
                    <a:pt x="43053" y="0"/>
                    <a:pt x="47879" y="1016"/>
                    <a:pt x="52451" y="2921"/>
                  </a:cubicBezTo>
                  <a:cubicBezTo>
                    <a:pt x="57023" y="4826"/>
                    <a:pt x="61213" y="7620"/>
                    <a:pt x="64769" y="11176"/>
                  </a:cubicBezTo>
                  <a:cubicBezTo>
                    <a:pt x="68325" y="14732"/>
                    <a:pt x="71119" y="18796"/>
                    <a:pt x="73024" y="23495"/>
                  </a:cubicBezTo>
                  <a:cubicBezTo>
                    <a:pt x="74929" y="28194"/>
                    <a:pt x="75945" y="33020"/>
                    <a:pt x="75945" y="37973"/>
                  </a:cubicBezTo>
                  <a:close/>
                </a:path>
              </a:pathLst>
            </a:custGeom>
            <a:solidFill>
              <a:srgbClr val="3D1700"/>
            </a:solidFill>
          </p:spPr>
          <p:txBody>
            <a:bodyPr/>
            <a:lstStyle/>
            <a:p>
              <a:endParaRPr lang="en-US"/>
            </a:p>
          </p:txBody>
        </p:sp>
      </p:grpSp>
      <p:grpSp>
        <p:nvGrpSpPr>
          <p:cNvPr id="22" name="Group 22"/>
          <p:cNvGrpSpPr/>
          <p:nvPr/>
        </p:nvGrpSpPr>
        <p:grpSpPr>
          <a:xfrm>
            <a:off x="643595" y="8306657"/>
            <a:ext cx="75981" cy="75981"/>
            <a:chOff x="0" y="0"/>
            <a:chExt cx="75984" cy="75984"/>
          </a:xfrm>
        </p:grpSpPr>
        <p:sp>
          <p:nvSpPr>
            <p:cNvPr id="23" name="Freeform 23"/>
            <p:cNvSpPr/>
            <p:nvPr/>
          </p:nvSpPr>
          <p:spPr>
            <a:xfrm>
              <a:off x="0" y="0"/>
              <a:ext cx="75945" cy="75945"/>
            </a:xfrm>
            <a:custGeom>
              <a:avLst/>
              <a:gdLst/>
              <a:ahLst/>
              <a:cxnLst/>
              <a:rect l="l" t="t" r="r" b="b"/>
              <a:pathLst>
                <a:path w="75945" h="75945">
                  <a:moveTo>
                    <a:pt x="75945" y="37973"/>
                  </a:moveTo>
                  <a:cubicBezTo>
                    <a:pt x="75945" y="43053"/>
                    <a:pt x="74929" y="47878"/>
                    <a:pt x="73024" y="52450"/>
                  </a:cubicBezTo>
                  <a:cubicBezTo>
                    <a:pt x="71119" y="57022"/>
                    <a:pt x="68325" y="61213"/>
                    <a:pt x="64769" y="64769"/>
                  </a:cubicBezTo>
                  <a:cubicBezTo>
                    <a:pt x="61213" y="68325"/>
                    <a:pt x="57150" y="71119"/>
                    <a:pt x="52451" y="73024"/>
                  </a:cubicBezTo>
                  <a:cubicBezTo>
                    <a:pt x="47752" y="74929"/>
                    <a:pt x="42926" y="75945"/>
                    <a:pt x="37973" y="75945"/>
                  </a:cubicBezTo>
                  <a:cubicBezTo>
                    <a:pt x="33020" y="75945"/>
                    <a:pt x="28067" y="74929"/>
                    <a:pt x="23495" y="73024"/>
                  </a:cubicBezTo>
                  <a:cubicBezTo>
                    <a:pt x="18923" y="71119"/>
                    <a:pt x="14732" y="68325"/>
                    <a:pt x="11176" y="64769"/>
                  </a:cubicBezTo>
                  <a:cubicBezTo>
                    <a:pt x="7620" y="61213"/>
                    <a:pt x="4826" y="57149"/>
                    <a:pt x="2921" y="52450"/>
                  </a:cubicBezTo>
                  <a:cubicBezTo>
                    <a:pt x="1016" y="47752"/>
                    <a:pt x="0" y="43053"/>
                    <a:pt x="0" y="37973"/>
                  </a:cubicBezTo>
                  <a:cubicBezTo>
                    <a:pt x="0" y="32893"/>
                    <a:pt x="1016" y="28067"/>
                    <a:pt x="2921" y="23495"/>
                  </a:cubicBezTo>
                  <a:cubicBezTo>
                    <a:pt x="4826" y="18923"/>
                    <a:pt x="7620" y="14732"/>
                    <a:pt x="11176" y="11176"/>
                  </a:cubicBezTo>
                  <a:cubicBezTo>
                    <a:pt x="14732" y="7620"/>
                    <a:pt x="18796" y="4826"/>
                    <a:pt x="23495" y="2921"/>
                  </a:cubicBezTo>
                  <a:cubicBezTo>
                    <a:pt x="28194" y="1016"/>
                    <a:pt x="32893" y="0"/>
                    <a:pt x="37973" y="0"/>
                  </a:cubicBezTo>
                  <a:cubicBezTo>
                    <a:pt x="43053" y="0"/>
                    <a:pt x="47879" y="1016"/>
                    <a:pt x="52451" y="2921"/>
                  </a:cubicBezTo>
                  <a:cubicBezTo>
                    <a:pt x="57023" y="4826"/>
                    <a:pt x="61213" y="7620"/>
                    <a:pt x="64769" y="11176"/>
                  </a:cubicBezTo>
                  <a:cubicBezTo>
                    <a:pt x="68325" y="14732"/>
                    <a:pt x="71119" y="18796"/>
                    <a:pt x="73024" y="23495"/>
                  </a:cubicBezTo>
                  <a:cubicBezTo>
                    <a:pt x="74929" y="28194"/>
                    <a:pt x="75945" y="33020"/>
                    <a:pt x="75945" y="37973"/>
                  </a:cubicBezTo>
                  <a:close/>
                </a:path>
              </a:pathLst>
            </a:custGeom>
            <a:solidFill>
              <a:srgbClr val="3D1700"/>
            </a:solidFill>
          </p:spPr>
          <p:txBody>
            <a:bodyPr/>
            <a:lstStyle/>
            <a:p>
              <a:endParaRPr lang="en-US"/>
            </a:p>
          </p:txBody>
        </p:sp>
      </p:grpSp>
      <p:grpSp>
        <p:nvGrpSpPr>
          <p:cNvPr id="24" name="Group 24"/>
          <p:cNvGrpSpPr/>
          <p:nvPr/>
        </p:nvGrpSpPr>
        <p:grpSpPr>
          <a:xfrm>
            <a:off x="643595" y="8696077"/>
            <a:ext cx="75981" cy="75981"/>
            <a:chOff x="0" y="0"/>
            <a:chExt cx="75984" cy="75984"/>
          </a:xfrm>
        </p:grpSpPr>
        <p:sp>
          <p:nvSpPr>
            <p:cNvPr id="25" name="Freeform 25"/>
            <p:cNvSpPr/>
            <p:nvPr/>
          </p:nvSpPr>
          <p:spPr>
            <a:xfrm>
              <a:off x="0" y="0"/>
              <a:ext cx="75945" cy="75945"/>
            </a:xfrm>
            <a:custGeom>
              <a:avLst/>
              <a:gdLst/>
              <a:ahLst/>
              <a:cxnLst/>
              <a:rect l="l" t="t" r="r" b="b"/>
              <a:pathLst>
                <a:path w="75945" h="75945">
                  <a:moveTo>
                    <a:pt x="75945" y="37973"/>
                  </a:moveTo>
                  <a:cubicBezTo>
                    <a:pt x="75945" y="43053"/>
                    <a:pt x="74929" y="47879"/>
                    <a:pt x="73024" y="52451"/>
                  </a:cubicBezTo>
                  <a:cubicBezTo>
                    <a:pt x="71119" y="57023"/>
                    <a:pt x="68325" y="61214"/>
                    <a:pt x="64769" y="64769"/>
                  </a:cubicBezTo>
                  <a:cubicBezTo>
                    <a:pt x="61213" y="68325"/>
                    <a:pt x="57150" y="71119"/>
                    <a:pt x="52451" y="73024"/>
                  </a:cubicBezTo>
                  <a:cubicBezTo>
                    <a:pt x="47752" y="74929"/>
                    <a:pt x="42926" y="75945"/>
                    <a:pt x="37973" y="75945"/>
                  </a:cubicBezTo>
                  <a:cubicBezTo>
                    <a:pt x="33020" y="75945"/>
                    <a:pt x="28067" y="74929"/>
                    <a:pt x="23495" y="73024"/>
                  </a:cubicBezTo>
                  <a:cubicBezTo>
                    <a:pt x="18923" y="71119"/>
                    <a:pt x="14732" y="68325"/>
                    <a:pt x="11176" y="64769"/>
                  </a:cubicBezTo>
                  <a:cubicBezTo>
                    <a:pt x="7620" y="61214"/>
                    <a:pt x="4826" y="57150"/>
                    <a:pt x="2921" y="52451"/>
                  </a:cubicBezTo>
                  <a:cubicBezTo>
                    <a:pt x="1016" y="47752"/>
                    <a:pt x="0" y="43053"/>
                    <a:pt x="0" y="37973"/>
                  </a:cubicBezTo>
                  <a:cubicBezTo>
                    <a:pt x="0" y="32893"/>
                    <a:pt x="1016" y="28067"/>
                    <a:pt x="2921" y="23495"/>
                  </a:cubicBezTo>
                  <a:cubicBezTo>
                    <a:pt x="4826" y="18923"/>
                    <a:pt x="7620" y="14732"/>
                    <a:pt x="11176" y="11176"/>
                  </a:cubicBezTo>
                  <a:cubicBezTo>
                    <a:pt x="14732" y="7620"/>
                    <a:pt x="18796" y="4826"/>
                    <a:pt x="23495" y="2921"/>
                  </a:cubicBezTo>
                  <a:cubicBezTo>
                    <a:pt x="28194" y="1016"/>
                    <a:pt x="32893" y="0"/>
                    <a:pt x="37973" y="0"/>
                  </a:cubicBezTo>
                  <a:cubicBezTo>
                    <a:pt x="43053" y="0"/>
                    <a:pt x="47879" y="1016"/>
                    <a:pt x="52451" y="2921"/>
                  </a:cubicBezTo>
                  <a:cubicBezTo>
                    <a:pt x="57023" y="4826"/>
                    <a:pt x="61213" y="7620"/>
                    <a:pt x="64769" y="11176"/>
                  </a:cubicBezTo>
                  <a:cubicBezTo>
                    <a:pt x="68325" y="14732"/>
                    <a:pt x="71119" y="18796"/>
                    <a:pt x="73024" y="23495"/>
                  </a:cubicBezTo>
                  <a:cubicBezTo>
                    <a:pt x="74929" y="28194"/>
                    <a:pt x="75945" y="33020"/>
                    <a:pt x="75945" y="37973"/>
                  </a:cubicBezTo>
                  <a:close/>
                </a:path>
              </a:pathLst>
            </a:custGeom>
            <a:solidFill>
              <a:srgbClr val="000000"/>
            </a:solidFill>
          </p:spPr>
          <p:txBody>
            <a:bodyPr/>
            <a:lstStyle/>
            <a:p>
              <a:endParaRPr lang="en-US"/>
            </a:p>
          </p:txBody>
        </p:sp>
      </p:grpSp>
      <p:sp>
        <p:nvSpPr>
          <p:cNvPr id="27" name="TextBox 27"/>
          <p:cNvSpPr txBox="1"/>
          <p:nvPr/>
        </p:nvSpPr>
        <p:spPr>
          <a:xfrm>
            <a:off x="17259300" y="9207332"/>
            <a:ext cx="287779" cy="405346"/>
          </a:xfrm>
          <a:prstGeom prst="rect">
            <a:avLst/>
          </a:prstGeom>
        </p:spPr>
        <p:txBody>
          <a:bodyPr lIns="0" tIns="0" rIns="0" bIns="0" rtlCol="0" anchor="t">
            <a:spAutoFit/>
          </a:bodyPr>
          <a:lstStyle/>
          <a:p>
            <a:pPr algn="l">
              <a:lnSpc>
                <a:spcPts val="3358"/>
              </a:lnSpc>
            </a:pPr>
            <a:r>
              <a:rPr lang="en-US" sz="2399" b="1" i="1">
                <a:solidFill>
                  <a:srgbClr val="3D1700"/>
                </a:solidFill>
                <a:latin typeface="Arima Madurai Bold Italics"/>
                <a:ea typeface="Arima Madurai Bold Italics"/>
                <a:cs typeface="Arima Madurai Bold Italics"/>
                <a:sym typeface="Arima Madurai Bold Italics"/>
              </a:rPr>
              <a:t>11</a:t>
            </a:r>
          </a:p>
        </p:txBody>
      </p:sp>
      <p:sp>
        <p:nvSpPr>
          <p:cNvPr id="29" name="TextBox 29"/>
          <p:cNvSpPr txBox="1"/>
          <p:nvPr/>
        </p:nvSpPr>
        <p:spPr>
          <a:xfrm>
            <a:off x="6011180" y="443146"/>
            <a:ext cx="6265640" cy="807913"/>
          </a:xfrm>
          <a:prstGeom prst="rect">
            <a:avLst/>
          </a:prstGeom>
        </p:spPr>
        <p:txBody>
          <a:bodyPr wrap="square" lIns="0" tIns="0" rIns="0" bIns="0" rtlCol="0" anchor="t">
            <a:spAutoFit/>
          </a:bodyPr>
          <a:lstStyle/>
          <a:p>
            <a:pPr algn="l">
              <a:lnSpc>
                <a:spcPts val="6299"/>
              </a:lnSpc>
            </a:pPr>
            <a:r>
              <a:rPr lang="en-US" sz="4500" b="1" i="1" dirty="0">
                <a:solidFill>
                  <a:srgbClr val="471C0B"/>
                </a:solidFill>
                <a:latin typeface="Arima Madurai Bold Italics"/>
                <a:ea typeface="Arima Madurai Bold Italics"/>
                <a:cs typeface="Arima Madurai Bold Italics"/>
                <a:sym typeface="Arima Madurai Bold Italics"/>
              </a:rPr>
              <a:t>Recommendations </a:t>
            </a:r>
          </a:p>
        </p:txBody>
      </p:sp>
      <p:sp>
        <p:nvSpPr>
          <p:cNvPr id="32" name="TextBox 32"/>
          <p:cNvSpPr txBox="1"/>
          <p:nvPr/>
        </p:nvSpPr>
        <p:spPr>
          <a:xfrm>
            <a:off x="802834" y="1526706"/>
            <a:ext cx="3311966" cy="474489"/>
          </a:xfrm>
          <a:prstGeom prst="rect">
            <a:avLst/>
          </a:prstGeom>
        </p:spPr>
        <p:txBody>
          <a:bodyPr wrap="square" lIns="0" tIns="0" rIns="0" bIns="0" rtlCol="0" anchor="t">
            <a:spAutoFit/>
          </a:bodyPr>
          <a:lstStyle/>
          <a:p>
            <a:pPr algn="l">
              <a:lnSpc>
                <a:spcPts val="3665"/>
              </a:lnSpc>
            </a:pPr>
            <a:r>
              <a:rPr lang="en-US" sz="2618" b="1" i="1" dirty="0">
                <a:solidFill>
                  <a:srgbClr val="3D1700"/>
                </a:solidFill>
                <a:latin typeface="Arima Madurai Bold Italics"/>
                <a:ea typeface="Arima Madurai Bold Italics"/>
                <a:cs typeface="Arima Madurai Bold Italics"/>
                <a:sym typeface="Arima Madurai Bold Italics"/>
              </a:rPr>
              <a:t>Product Strategy </a:t>
            </a:r>
          </a:p>
        </p:txBody>
      </p:sp>
      <p:sp>
        <p:nvSpPr>
          <p:cNvPr id="33" name="TextBox 33"/>
          <p:cNvSpPr txBox="1"/>
          <p:nvPr/>
        </p:nvSpPr>
        <p:spPr>
          <a:xfrm>
            <a:off x="746532" y="4560730"/>
            <a:ext cx="5544769" cy="474489"/>
          </a:xfrm>
          <a:prstGeom prst="rect">
            <a:avLst/>
          </a:prstGeom>
        </p:spPr>
        <p:txBody>
          <a:bodyPr wrap="square" lIns="0" tIns="0" rIns="0" bIns="0" rtlCol="0" anchor="t">
            <a:spAutoFit/>
          </a:bodyPr>
          <a:lstStyle/>
          <a:p>
            <a:pPr algn="l">
              <a:lnSpc>
                <a:spcPts val="3744"/>
              </a:lnSpc>
            </a:pPr>
            <a:r>
              <a:rPr lang="en-US" sz="2618" b="1" i="1" dirty="0">
                <a:solidFill>
                  <a:srgbClr val="3D1700"/>
                </a:solidFill>
                <a:latin typeface="Arima Madurai Bold Italics"/>
                <a:ea typeface="Arima Madurai Bold Italics"/>
                <a:cs typeface="Arima Madurai Bold Italics"/>
                <a:sym typeface="Arima Madurai Bold Italics"/>
              </a:rPr>
              <a:t>Enhance Store &amp; Location Strategy</a:t>
            </a:r>
          </a:p>
        </p:txBody>
      </p:sp>
      <p:sp>
        <p:nvSpPr>
          <p:cNvPr id="34" name="TextBox 34"/>
          <p:cNvSpPr txBox="1"/>
          <p:nvPr/>
        </p:nvSpPr>
        <p:spPr>
          <a:xfrm>
            <a:off x="2602001" y="5232892"/>
            <a:ext cx="71037" cy="384200"/>
          </a:xfrm>
          <a:prstGeom prst="rect">
            <a:avLst/>
          </a:prstGeom>
        </p:spPr>
        <p:txBody>
          <a:bodyPr lIns="0" tIns="0" rIns="0" bIns="0" rtlCol="0" anchor="t">
            <a:spAutoFit/>
          </a:bodyPr>
          <a:lstStyle/>
          <a:p>
            <a:pPr algn="l">
              <a:lnSpc>
                <a:spcPts val="3136"/>
              </a:lnSpc>
            </a:pPr>
            <a:r>
              <a:rPr lang="en-US" sz="2193">
                <a:solidFill>
                  <a:srgbClr val="3D1700"/>
                </a:solidFill>
                <a:latin typeface="Arapey"/>
                <a:ea typeface="Arapey"/>
                <a:cs typeface="Arapey"/>
                <a:sym typeface="Arapey"/>
              </a:rPr>
              <a:t> </a:t>
            </a:r>
          </a:p>
        </p:txBody>
      </p:sp>
      <p:sp>
        <p:nvSpPr>
          <p:cNvPr id="35" name="TextBox 35"/>
          <p:cNvSpPr txBox="1"/>
          <p:nvPr/>
        </p:nvSpPr>
        <p:spPr>
          <a:xfrm>
            <a:off x="640319" y="6881196"/>
            <a:ext cx="6318714" cy="474489"/>
          </a:xfrm>
          <a:prstGeom prst="rect">
            <a:avLst/>
          </a:prstGeom>
        </p:spPr>
        <p:txBody>
          <a:bodyPr wrap="square" lIns="0" tIns="0" rIns="0" bIns="0" rtlCol="0" anchor="t">
            <a:spAutoFit/>
          </a:bodyPr>
          <a:lstStyle/>
          <a:p>
            <a:pPr algn="l">
              <a:lnSpc>
                <a:spcPts val="3665"/>
              </a:lnSpc>
            </a:pPr>
            <a:r>
              <a:rPr lang="en-US" sz="2618" b="1" i="1" dirty="0">
                <a:solidFill>
                  <a:srgbClr val="3D1700"/>
                </a:solidFill>
                <a:latin typeface="Arima Madurai Bold Italics"/>
                <a:ea typeface="Arima Madurai Bold Italics"/>
                <a:cs typeface="Arima Madurai Bold Italics"/>
                <a:sym typeface="Arima Madurai Bold Italics"/>
              </a:rPr>
              <a:t>Marketing and Customer Engagement </a:t>
            </a:r>
          </a:p>
        </p:txBody>
      </p:sp>
      <p:sp>
        <p:nvSpPr>
          <p:cNvPr id="37" name="TextBox 37"/>
          <p:cNvSpPr txBox="1"/>
          <p:nvPr/>
        </p:nvSpPr>
        <p:spPr>
          <a:xfrm>
            <a:off x="643595" y="5082386"/>
            <a:ext cx="14841950" cy="1561005"/>
          </a:xfrm>
          <a:prstGeom prst="rect">
            <a:avLst/>
          </a:prstGeom>
        </p:spPr>
        <p:txBody>
          <a:bodyPr lIns="0" tIns="0" rIns="0" bIns="0" rtlCol="0" anchor="t">
            <a:spAutoFit/>
          </a:bodyPr>
          <a:lstStyle/>
          <a:p>
            <a:pPr marL="342900" indent="-342900">
              <a:lnSpc>
                <a:spcPts val="3066"/>
              </a:lnSpc>
              <a:buFont typeface="Arial" panose="020B0604020202020204" pitchFamily="34" charset="0"/>
              <a:buChar char="•"/>
            </a:pPr>
            <a:r>
              <a:rPr lang="en-US" sz="2193" dirty="0">
                <a:solidFill>
                  <a:srgbClr val="3D1700"/>
                </a:solidFill>
                <a:latin typeface="Arapey"/>
                <a:ea typeface="Arapey"/>
                <a:cs typeface="Arapey"/>
                <a:sym typeface="Arapey"/>
              </a:rPr>
              <a:t>Promote bakery + coffee combos for busy mornings in Lower Manhattan.</a:t>
            </a:r>
          </a:p>
          <a:p>
            <a:pPr marL="342900" indent="-342900" algn="l">
              <a:lnSpc>
                <a:spcPts val="3066"/>
              </a:lnSpc>
              <a:buFont typeface="Arial" panose="020B0604020202020204" pitchFamily="34" charset="0"/>
              <a:buChar char="•"/>
            </a:pPr>
            <a:r>
              <a:rPr lang="en-US" sz="2193" dirty="0">
                <a:solidFill>
                  <a:srgbClr val="3D1700"/>
                </a:solidFill>
                <a:latin typeface="Arapey"/>
                <a:ea typeface="Arapey"/>
                <a:cs typeface="Arapey"/>
                <a:sym typeface="Arapey"/>
              </a:rPr>
              <a:t>Identify High-Potential Areas: Analyze foot traffic patterns, commuter density, and competitor presence in potential neighborhoods. </a:t>
            </a:r>
          </a:p>
          <a:p>
            <a:pPr marL="342900" indent="-342900" algn="l">
              <a:lnSpc>
                <a:spcPts val="3066"/>
              </a:lnSpc>
              <a:buFont typeface="Arial" panose="020B0604020202020204" pitchFamily="34" charset="0"/>
              <a:buChar char="•"/>
            </a:pPr>
            <a:r>
              <a:rPr lang="en-US" sz="2193" dirty="0">
                <a:solidFill>
                  <a:srgbClr val="3D1700"/>
                </a:solidFill>
                <a:latin typeface="Arapey"/>
                <a:ea typeface="Arapey"/>
                <a:cs typeface="Arapey"/>
                <a:sym typeface="Arapey"/>
              </a:rPr>
              <a:t>Use existing store performance (Astoria, Hell’s Kitchen, Lower Manhattan) to model expected sales per location.</a:t>
            </a:r>
          </a:p>
        </p:txBody>
      </p:sp>
      <p:sp>
        <p:nvSpPr>
          <p:cNvPr id="38" name="TextBox 38"/>
          <p:cNvSpPr txBox="1"/>
          <p:nvPr/>
        </p:nvSpPr>
        <p:spPr>
          <a:xfrm>
            <a:off x="860708" y="7341499"/>
            <a:ext cx="15590063" cy="1561005"/>
          </a:xfrm>
          <a:prstGeom prst="rect">
            <a:avLst/>
          </a:prstGeom>
        </p:spPr>
        <p:txBody>
          <a:bodyPr lIns="0" tIns="0" rIns="0" bIns="0" rtlCol="0" anchor="t">
            <a:spAutoFit/>
          </a:bodyPr>
          <a:lstStyle/>
          <a:p>
            <a:pPr algn="l">
              <a:lnSpc>
                <a:spcPts val="3066"/>
              </a:lnSpc>
            </a:pPr>
            <a:r>
              <a:rPr lang="en-US" sz="2193" dirty="0">
                <a:solidFill>
                  <a:srgbClr val="3D1700"/>
                </a:solidFill>
                <a:latin typeface="Arapey"/>
                <a:ea typeface="Arapey"/>
                <a:cs typeface="Arapey"/>
                <a:sym typeface="Arapey"/>
              </a:rPr>
              <a:t>Leverage digital channels, social media and email marketing for promotions, new product launches, new packaging and loyalty programs. Morning upsell campaigns: Promote combo deals during peak hours to maximize high traffic. </a:t>
            </a:r>
          </a:p>
          <a:p>
            <a:pPr algn="l">
              <a:lnSpc>
                <a:spcPts val="3066"/>
              </a:lnSpc>
            </a:pPr>
            <a:r>
              <a:rPr lang="en-US" sz="2193" dirty="0">
                <a:solidFill>
                  <a:srgbClr val="3D1700"/>
                </a:solidFill>
                <a:latin typeface="Arapey"/>
                <a:ea typeface="Arapey"/>
                <a:cs typeface="Arapey"/>
                <a:sym typeface="Arapey"/>
              </a:rPr>
              <a:t>Off-peak promotions: Introduce discounts or loyalty incentives in the afternoon/evening to drive traffic. </a:t>
            </a:r>
          </a:p>
          <a:p>
            <a:pPr algn="l">
              <a:lnSpc>
                <a:spcPts val="3066"/>
              </a:lnSpc>
            </a:pPr>
            <a:r>
              <a:rPr lang="en-US" sz="2193" dirty="0">
                <a:solidFill>
                  <a:srgbClr val="3D1700"/>
                </a:solidFill>
                <a:latin typeface="Arapey"/>
                <a:ea typeface="Arapey"/>
                <a:cs typeface="Arapey"/>
                <a:sym typeface="Arapey"/>
              </a:rPr>
              <a:t>Weekend experiences: Create events, special menus, or promotions to increase weekend footfall.</a:t>
            </a:r>
          </a:p>
        </p:txBody>
      </p:sp>
      <p:sp>
        <p:nvSpPr>
          <p:cNvPr id="39" name="TextBox 39"/>
          <p:cNvSpPr txBox="1"/>
          <p:nvPr/>
        </p:nvSpPr>
        <p:spPr>
          <a:xfrm>
            <a:off x="860708" y="1975075"/>
            <a:ext cx="17047950" cy="2356094"/>
          </a:xfrm>
          <a:prstGeom prst="rect">
            <a:avLst/>
          </a:prstGeom>
        </p:spPr>
        <p:txBody>
          <a:bodyPr lIns="0" tIns="0" rIns="0" bIns="0" rtlCol="0" anchor="t">
            <a:spAutoFit/>
          </a:bodyPr>
          <a:lstStyle/>
          <a:p>
            <a:pPr algn="l">
              <a:lnSpc>
                <a:spcPts val="3066"/>
              </a:lnSpc>
            </a:pPr>
            <a:r>
              <a:rPr lang="en-US" sz="2193" dirty="0">
                <a:solidFill>
                  <a:srgbClr val="3D1700"/>
                </a:solidFill>
                <a:latin typeface="Arapey"/>
                <a:ea typeface="Arapey"/>
                <a:cs typeface="Arapey"/>
                <a:sym typeface="Arapey"/>
              </a:rPr>
              <a:t>Review or reposition low-selling categories (e.g., packaged chocolate, </a:t>
            </a:r>
            <a:r>
              <a:rPr lang="en-US" sz="2193" dirty="0" err="1">
                <a:solidFill>
                  <a:srgbClr val="3D1700"/>
                </a:solidFill>
                <a:latin typeface="Arapey"/>
                <a:ea typeface="Arapey"/>
                <a:cs typeface="Arapey"/>
                <a:sym typeface="Arapey"/>
              </a:rPr>
              <a:t>flavours</a:t>
            </a:r>
            <a:r>
              <a:rPr lang="en-US" sz="2193" dirty="0">
                <a:solidFill>
                  <a:srgbClr val="3D1700"/>
                </a:solidFill>
                <a:latin typeface="Arapey"/>
                <a:ea typeface="Arapey"/>
                <a:cs typeface="Arapey"/>
                <a:sym typeface="Arapey"/>
              </a:rPr>
              <a:t>). Consider bundling them with high-demand products (e.g., coffee + small chocolate). Promotions or discounts to encourage trial and remove/introduce new products if customer </a:t>
            </a:r>
            <a:r>
              <a:rPr lang="en-US" sz="2193" dirty="0" err="1">
                <a:solidFill>
                  <a:srgbClr val="3D1700"/>
                </a:solidFill>
                <a:latin typeface="Arapey"/>
                <a:ea typeface="Arapey"/>
                <a:cs typeface="Arapey"/>
                <a:sym typeface="Arapey"/>
              </a:rPr>
              <a:t>behaviour</a:t>
            </a:r>
            <a:r>
              <a:rPr lang="en-US" sz="2193" dirty="0">
                <a:solidFill>
                  <a:srgbClr val="3D1700"/>
                </a:solidFill>
                <a:latin typeface="Arapey"/>
                <a:ea typeface="Arapey"/>
                <a:cs typeface="Arapey"/>
                <a:sym typeface="Arapey"/>
              </a:rPr>
              <a:t> does not change. </a:t>
            </a:r>
          </a:p>
          <a:p>
            <a:pPr algn="l">
              <a:lnSpc>
                <a:spcPts val="3066"/>
              </a:lnSpc>
            </a:pPr>
            <a:r>
              <a:rPr lang="en-US" sz="2193" dirty="0">
                <a:solidFill>
                  <a:srgbClr val="3D1700"/>
                </a:solidFill>
                <a:latin typeface="Arapey"/>
                <a:ea typeface="Arapey"/>
                <a:cs typeface="Arapey"/>
                <a:sym typeface="Arapey"/>
              </a:rPr>
              <a:t>Coffee (38.63%) and Tea (28.11%) are the main revenue contributors. Introduce premium or seasonal variants, limited-time flavors, or customizable options to increase average spend per customer. </a:t>
            </a:r>
          </a:p>
          <a:p>
            <a:pPr algn="l">
              <a:lnSpc>
                <a:spcPts val="3066"/>
              </a:lnSpc>
            </a:pPr>
            <a:r>
              <a:rPr lang="en-US" sz="2193" dirty="0">
                <a:solidFill>
                  <a:srgbClr val="3D1700"/>
                </a:solidFill>
                <a:latin typeface="Arapey"/>
                <a:ea typeface="Arapey"/>
                <a:cs typeface="Arapey"/>
                <a:sym typeface="Arapey"/>
              </a:rPr>
              <a:t>Offer loyalty rewards for repeat visits outside peak hours (Afternoon and Evenings). </a:t>
            </a:r>
          </a:p>
          <a:p>
            <a:pPr algn="l">
              <a:lnSpc>
                <a:spcPts val="3066"/>
              </a:lnSpc>
            </a:pPr>
            <a:r>
              <a:rPr lang="en-US" sz="2193" dirty="0">
                <a:solidFill>
                  <a:srgbClr val="3D1700"/>
                </a:solidFill>
                <a:latin typeface="Arapey"/>
                <a:ea typeface="Arapey"/>
                <a:cs typeface="Arapey"/>
                <a:sym typeface="Arapey"/>
              </a:rPr>
              <a:t>Promote combo deals (coffee + bakery, tea + chocolate) during morning drive to maximize revenue.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9EF"/>
        </a:solidFill>
        <a:effectLst/>
      </p:bgPr>
    </p:bg>
    <p:spTree>
      <p:nvGrpSpPr>
        <p:cNvPr id="1" name=""/>
        <p:cNvGrpSpPr/>
        <p:nvPr/>
      </p:nvGrpSpPr>
      <p:grpSpPr>
        <a:xfrm>
          <a:off x="0" y="0"/>
          <a:ext cx="0" cy="0"/>
          <a:chOff x="0" y="0"/>
          <a:chExt cx="0" cy="0"/>
        </a:xfrm>
      </p:grpSpPr>
      <p:grpSp>
        <p:nvGrpSpPr>
          <p:cNvPr id="2" name="Group 2"/>
          <p:cNvGrpSpPr/>
          <p:nvPr/>
        </p:nvGrpSpPr>
        <p:grpSpPr>
          <a:xfrm>
            <a:off x="0" y="-1104900"/>
            <a:ext cx="18288000" cy="12201525"/>
            <a:chOff x="0" y="0"/>
            <a:chExt cx="24384000" cy="16268700"/>
          </a:xfrm>
        </p:grpSpPr>
        <p:sp>
          <p:nvSpPr>
            <p:cNvPr id="3" name="Freeform 3"/>
            <p:cNvSpPr/>
            <p:nvPr/>
          </p:nvSpPr>
          <p:spPr>
            <a:xfrm>
              <a:off x="0" y="0"/>
              <a:ext cx="24384000" cy="16268700"/>
            </a:xfrm>
            <a:custGeom>
              <a:avLst/>
              <a:gdLst/>
              <a:ahLst/>
              <a:cxnLst/>
              <a:rect l="l" t="t" r="r" b="b"/>
              <a:pathLst>
                <a:path w="24384000" h="16268700">
                  <a:moveTo>
                    <a:pt x="0" y="0"/>
                  </a:moveTo>
                  <a:lnTo>
                    <a:pt x="24384000" y="0"/>
                  </a:lnTo>
                  <a:lnTo>
                    <a:pt x="24384000" y="16268700"/>
                  </a:lnTo>
                  <a:lnTo>
                    <a:pt x="0" y="16268700"/>
                  </a:lnTo>
                  <a:lnTo>
                    <a:pt x="0" y="0"/>
                  </a:lnTo>
                  <a:close/>
                </a:path>
              </a:pathLst>
            </a:custGeom>
            <a:blipFill>
              <a:blip r:embed="rId2"/>
              <a:stretch>
                <a:fillRect/>
              </a:stretch>
            </a:blipFill>
          </p:spPr>
          <p:txBody>
            <a:bodyPr/>
            <a:lstStyle/>
            <a:p>
              <a:endParaRPr lang="en-US"/>
            </a:p>
          </p:txBody>
        </p:sp>
      </p:grpSp>
      <p:sp>
        <p:nvSpPr>
          <p:cNvPr id="4" name="Freeform 4"/>
          <p:cNvSpPr/>
          <p:nvPr/>
        </p:nvSpPr>
        <p:spPr>
          <a:xfrm>
            <a:off x="0" y="822674"/>
            <a:ext cx="14576041" cy="8435578"/>
          </a:xfrm>
          <a:custGeom>
            <a:avLst/>
            <a:gdLst/>
            <a:ahLst/>
            <a:cxnLst/>
            <a:rect l="l" t="t" r="r" b="b"/>
            <a:pathLst>
              <a:path w="14576041" h="8435578">
                <a:moveTo>
                  <a:pt x="0" y="0"/>
                </a:moveTo>
                <a:lnTo>
                  <a:pt x="14576041" y="0"/>
                </a:lnTo>
                <a:lnTo>
                  <a:pt x="14576041" y="8435578"/>
                </a:lnTo>
                <a:lnTo>
                  <a:pt x="0" y="843557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5" name="Group 5"/>
          <p:cNvGrpSpPr/>
          <p:nvPr/>
        </p:nvGrpSpPr>
        <p:grpSpPr>
          <a:xfrm>
            <a:off x="14667452" y="5679805"/>
            <a:ext cx="3687099" cy="4673746"/>
            <a:chOff x="0" y="0"/>
            <a:chExt cx="3687102" cy="4673740"/>
          </a:xfrm>
        </p:grpSpPr>
        <p:sp>
          <p:nvSpPr>
            <p:cNvPr id="6" name="Freeform 6"/>
            <p:cNvSpPr/>
            <p:nvPr/>
          </p:nvSpPr>
          <p:spPr>
            <a:xfrm>
              <a:off x="63500" y="63500"/>
              <a:ext cx="3557022" cy="4543675"/>
            </a:xfrm>
            <a:custGeom>
              <a:avLst/>
              <a:gdLst/>
              <a:ahLst/>
              <a:cxnLst/>
              <a:rect l="l" t="t" r="r" b="b"/>
              <a:pathLst>
                <a:path w="3557022" h="4543675">
                  <a:moveTo>
                    <a:pt x="2515747" y="0"/>
                  </a:moveTo>
                  <a:cubicBezTo>
                    <a:pt x="1128524" y="0"/>
                    <a:pt x="0" y="1128521"/>
                    <a:pt x="0" y="2515741"/>
                  </a:cubicBezTo>
                  <a:cubicBezTo>
                    <a:pt x="0" y="3346956"/>
                    <a:pt x="405258" y="4085333"/>
                    <a:pt x="1028575" y="4543675"/>
                  </a:cubicBezTo>
                  <a:lnTo>
                    <a:pt x="1946914" y="4543675"/>
                  </a:lnTo>
                  <a:cubicBezTo>
                    <a:pt x="1061087" y="4294883"/>
                    <a:pt x="409703" y="3479924"/>
                    <a:pt x="409703" y="2515741"/>
                  </a:cubicBezTo>
                  <a:cubicBezTo>
                    <a:pt x="409703" y="1354454"/>
                    <a:pt x="1354457" y="409702"/>
                    <a:pt x="2515747" y="409702"/>
                  </a:cubicBezTo>
                  <a:cubicBezTo>
                    <a:pt x="2894208" y="409702"/>
                    <a:pt x="3249809" y="510032"/>
                    <a:pt x="3557022" y="685672"/>
                  </a:cubicBezTo>
                  <a:lnTo>
                    <a:pt x="3557022" y="225806"/>
                  </a:lnTo>
                  <a:cubicBezTo>
                    <a:pt x="3239521" y="80772"/>
                    <a:pt x="2886969" y="0"/>
                    <a:pt x="2515747" y="0"/>
                  </a:cubicBezTo>
                  <a:close/>
                  <a:moveTo>
                    <a:pt x="3557022" y="4345810"/>
                  </a:moveTo>
                  <a:cubicBezTo>
                    <a:pt x="3409702" y="4430011"/>
                    <a:pt x="3251205" y="4496940"/>
                    <a:pt x="3084454" y="4543675"/>
                  </a:cubicBezTo>
                  <a:lnTo>
                    <a:pt x="3557022" y="4543675"/>
                  </a:lnTo>
                  <a:lnTo>
                    <a:pt x="3557022" y="4345810"/>
                  </a:lnTo>
                  <a:close/>
                </a:path>
              </a:pathLst>
            </a:custGeom>
            <a:solidFill>
              <a:srgbClr val="F1E7D5"/>
            </a:solidFill>
          </p:spPr>
          <p:txBody>
            <a:bodyPr/>
            <a:lstStyle/>
            <a:p>
              <a:endParaRPr lang="en-US"/>
            </a:p>
          </p:txBody>
        </p:sp>
        <p:sp>
          <p:nvSpPr>
            <p:cNvPr id="7" name="Freeform 7"/>
            <p:cNvSpPr/>
            <p:nvPr/>
          </p:nvSpPr>
          <p:spPr>
            <a:xfrm>
              <a:off x="582804" y="582676"/>
              <a:ext cx="3037718" cy="3993004"/>
            </a:xfrm>
            <a:custGeom>
              <a:avLst/>
              <a:gdLst/>
              <a:ahLst/>
              <a:cxnLst/>
              <a:rect l="l" t="t" r="r" b="b"/>
              <a:pathLst>
                <a:path w="3037718" h="3993004">
                  <a:moveTo>
                    <a:pt x="1996443" y="127"/>
                  </a:moveTo>
                  <a:cubicBezTo>
                    <a:pt x="1963804" y="127"/>
                    <a:pt x="1931165" y="889"/>
                    <a:pt x="1898526" y="2540"/>
                  </a:cubicBezTo>
                  <a:cubicBezTo>
                    <a:pt x="1865887" y="4191"/>
                    <a:pt x="1833375" y="6604"/>
                    <a:pt x="1800863" y="9779"/>
                  </a:cubicBezTo>
                  <a:cubicBezTo>
                    <a:pt x="1768351" y="12954"/>
                    <a:pt x="1735966" y="17018"/>
                    <a:pt x="1703581" y="21717"/>
                  </a:cubicBezTo>
                  <a:cubicBezTo>
                    <a:pt x="1671196" y="26416"/>
                    <a:pt x="1639065" y="32131"/>
                    <a:pt x="1607061" y="38481"/>
                  </a:cubicBezTo>
                  <a:cubicBezTo>
                    <a:pt x="1575057" y="44831"/>
                    <a:pt x="1543180" y="52070"/>
                    <a:pt x="1511429" y="59943"/>
                  </a:cubicBezTo>
                  <a:cubicBezTo>
                    <a:pt x="1479679" y="67818"/>
                    <a:pt x="1448310" y="76581"/>
                    <a:pt x="1416941" y="86106"/>
                  </a:cubicBezTo>
                  <a:cubicBezTo>
                    <a:pt x="1385572" y="95631"/>
                    <a:pt x="1354711" y="105791"/>
                    <a:pt x="1323850" y="116839"/>
                  </a:cubicBezTo>
                  <a:cubicBezTo>
                    <a:pt x="1292989" y="127888"/>
                    <a:pt x="1262636" y="139572"/>
                    <a:pt x="1232410" y="152145"/>
                  </a:cubicBezTo>
                  <a:cubicBezTo>
                    <a:pt x="1202184" y="164718"/>
                    <a:pt x="1172339" y="177926"/>
                    <a:pt x="1142875" y="191896"/>
                  </a:cubicBezTo>
                  <a:cubicBezTo>
                    <a:pt x="1113411" y="205866"/>
                    <a:pt x="1084201" y="220598"/>
                    <a:pt x="1055372" y="235965"/>
                  </a:cubicBezTo>
                  <a:cubicBezTo>
                    <a:pt x="1026543" y="251332"/>
                    <a:pt x="998095" y="267461"/>
                    <a:pt x="970155" y="284225"/>
                  </a:cubicBezTo>
                  <a:cubicBezTo>
                    <a:pt x="942215" y="300989"/>
                    <a:pt x="914528" y="318515"/>
                    <a:pt x="887350" y="336676"/>
                  </a:cubicBezTo>
                  <a:cubicBezTo>
                    <a:pt x="860172" y="354837"/>
                    <a:pt x="833502" y="373633"/>
                    <a:pt x="807213" y="393064"/>
                  </a:cubicBezTo>
                  <a:cubicBezTo>
                    <a:pt x="780924" y="412495"/>
                    <a:pt x="755270" y="432561"/>
                    <a:pt x="729997" y="453389"/>
                  </a:cubicBezTo>
                  <a:cubicBezTo>
                    <a:pt x="704724" y="474217"/>
                    <a:pt x="679959" y="495426"/>
                    <a:pt x="655829" y="517397"/>
                  </a:cubicBezTo>
                  <a:cubicBezTo>
                    <a:pt x="631699" y="539368"/>
                    <a:pt x="607950" y="561847"/>
                    <a:pt x="584836" y="584961"/>
                  </a:cubicBezTo>
                  <a:cubicBezTo>
                    <a:pt x="561722" y="608075"/>
                    <a:pt x="539243" y="631697"/>
                    <a:pt x="517272" y="655954"/>
                  </a:cubicBezTo>
                  <a:cubicBezTo>
                    <a:pt x="495301" y="680211"/>
                    <a:pt x="473965" y="704849"/>
                    <a:pt x="453264" y="730122"/>
                  </a:cubicBezTo>
                  <a:cubicBezTo>
                    <a:pt x="432563" y="755395"/>
                    <a:pt x="412497" y="781176"/>
                    <a:pt x="392939" y="807338"/>
                  </a:cubicBezTo>
                  <a:cubicBezTo>
                    <a:pt x="373381" y="833500"/>
                    <a:pt x="354712" y="860297"/>
                    <a:pt x="336551" y="887475"/>
                  </a:cubicBezTo>
                  <a:cubicBezTo>
                    <a:pt x="318390" y="914653"/>
                    <a:pt x="300863" y="942212"/>
                    <a:pt x="284099" y="970279"/>
                  </a:cubicBezTo>
                  <a:cubicBezTo>
                    <a:pt x="267335" y="998346"/>
                    <a:pt x="251206" y="1026667"/>
                    <a:pt x="235839" y="1055496"/>
                  </a:cubicBezTo>
                  <a:cubicBezTo>
                    <a:pt x="220472" y="1084325"/>
                    <a:pt x="205740" y="1113535"/>
                    <a:pt x="191770" y="1142999"/>
                  </a:cubicBezTo>
                  <a:cubicBezTo>
                    <a:pt x="177800" y="1172463"/>
                    <a:pt x="164592" y="1202435"/>
                    <a:pt x="152019" y="1232534"/>
                  </a:cubicBezTo>
                  <a:cubicBezTo>
                    <a:pt x="139446" y="1262633"/>
                    <a:pt x="127762" y="1293240"/>
                    <a:pt x="116713" y="1323974"/>
                  </a:cubicBezTo>
                  <a:cubicBezTo>
                    <a:pt x="105664" y="1354708"/>
                    <a:pt x="95504" y="1385696"/>
                    <a:pt x="85979" y="1417065"/>
                  </a:cubicBezTo>
                  <a:cubicBezTo>
                    <a:pt x="76454" y="1448433"/>
                    <a:pt x="67818" y="1479802"/>
                    <a:pt x="59817" y="1511552"/>
                  </a:cubicBezTo>
                  <a:cubicBezTo>
                    <a:pt x="51816" y="1543302"/>
                    <a:pt x="44704" y="1575179"/>
                    <a:pt x="38354" y="1607184"/>
                  </a:cubicBezTo>
                  <a:cubicBezTo>
                    <a:pt x="32004" y="1639187"/>
                    <a:pt x="26416" y="1671446"/>
                    <a:pt x="21590" y="1703703"/>
                  </a:cubicBezTo>
                  <a:cubicBezTo>
                    <a:pt x="16764" y="1735961"/>
                    <a:pt x="12827" y="1768473"/>
                    <a:pt x="9652" y="1800985"/>
                  </a:cubicBezTo>
                  <a:cubicBezTo>
                    <a:pt x="6477" y="1833497"/>
                    <a:pt x="4064" y="1866136"/>
                    <a:pt x="2413" y="1898648"/>
                  </a:cubicBezTo>
                  <a:cubicBezTo>
                    <a:pt x="762" y="1931160"/>
                    <a:pt x="0" y="1963926"/>
                    <a:pt x="0" y="1996565"/>
                  </a:cubicBezTo>
                  <a:cubicBezTo>
                    <a:pt x="0" y="2029204"/>
                    <a:pt x="762" y="2061843"/>
                    <a:pt x="2413" y="2094482"/>
                  </a:cubicBezTo>
                  <a:cubicBezTo>
                    <a:pt x="4064" y="2127121"/>
                    <a:pt x="6477" y="2159633"/>
                    <a:pt x="9652" y="2192145"/>
                  </a:cubicBezTo>
                  <a:cubicBezTo>
                    <a:pt x="12827" y="2224657"/>
                    <a:pt x="16891" y="2257042"/>
                    <a:pt x="21590" y="2289427"/>
                  </a:cubicBezTo>
                  <a:cubicBezTo>
                    <a:pt x="26289" y="2321812"/>
                    <a:pt x="32004" y="2353943"/>
                    <a:pt x="38354" y="2385947"/>
                  </a:cubicBezTo>
                  <a:cubicBezTo>
                    <a:pt x="44704" y="2417951"/>
                    <a:pt x="51943" y="2449828"/>
                    <a:pt x="59817" y="2481578"/>
                  </a:cubicBezTo>
                  <a:cubicBezTo>
                    <a:pt x="67691" y="2513328"/>
                    <a:pt x="76454" y="2544697"/>
                    <a:pt x="85979" y="2576066"/>
                  </a:cubicBezTo>
                  <a:cubicBezTo>
                    <a:pt x="95504" y="2607435"/>
                    <a:pt x="105664" y="2638296"/>
                    <a:pt x="116713" y="2669157"/>
                  </a:cubicBezTo>
                  <a:cubicBezTo>
                    <a:pt x="127762" y="2700018"/>
                    <a:pt x="139446" y="2730371"/>
                    <a:pt x="152019" y="2760597"/>
                  </a:cubicBezTo>
                  <a:cubicBezTo>
                    <a:pt x="164592" y="2790823"/>
                    <a:pt x="177800" y="2820668"/>
                    <a:pt x="191770" y="2850132"/>
                  </a:cubicBezTo>
                  <a:cubicBezTo>
                    <a:pt x="205740" y="2879596"/>
                    <a:pt x="220472" y="2908805"/>
                    <a:pt x="235839" y="2937634"/>
                  </a:cubicBezTo>
                  <a:cubicBezTo>
                    <a:pt x="251206" y="2966463"/>
                    <a:pt x="267335" y="2994911"/>
                    <a:pt x="284099" y="3022851"/>
                  </a:cubicBezTo>
                  <a:cubicBezTo>
                    <a:pt x="300863" y="3050791"/>
                    <a:pt x="318390" y="3078477"/>
                    <a:pt x="336551" y="3105655"/>
                  </a:cubicBezTo>
                  <a:cubicBezTo>
                    <a:pt x="354712" y="3132833"/>
                    <a:pt x="373508" y="3159503"/>
                    <a:pt x="392939" y="3185792"/>
                  </a:cubicBezTo>
                  <a:cubicBezTo>
                    <a:pt x="412370" y="3212081"/>
                    <a:pt x="432436" y="3237735"/>
                    <a:pt x="453264" y="3263008"/>
                  </a:cubicBezTo>
                  <a:cubicBezTo>
                    <a:pt x="474092" y="3288281"/>
                    <a:pt x="495301" y="3313046"/>
                    <a:pt x="517272" y="3337176"/>
                  </a:cubicBezTo>
                  <a:cubicBezTo>
                    <a:pt x="539243" y="3361306"/>
                    <a:pt x="561722" y="3385055"/>
                    <a:pt x="584836" y="3408169"/>
                  </a:cubicBezTo>
                  <a:cubicBezTo>
                    <a:pt x="607950" y="3431283"/>
                    <a:pt x="631572" y="3453762"/>
                    <a:pt x="655829" y="3475733"/>
                  </a:cubicBezTo>
                  <a:cubicBezTo>
                    <a:pt x="680086" y="3497704"/>
                    <a:pt x="704724" y="3519040"/>
                    <a:pt x="729997" y="3539741"/>
                  </a:cubicBezTo>
                  <a:cubicBezTo>
                    <a:pt x="755270" y="3560442"/>
                    <a:pt x="781051" y="3580508"/>
                    <a:pt x="807213" y="3600066"/>
                  </a:cubicBezTo>
                  <a:cubicBezTo>
                    <a:pt x="833375" y="3619624"/>
                    <a:pt x="860172" y="3638293"/>
                    <a:pt x="887350" y="3656454"/>
                  </a:cubicBezTo>
                  <a:cubicBezTo>
                    <a:pt x="914528" y="3674615"/>
                    <a:pt x="942088" y="3692141"/>
                    <a:pt x="970155" y="3708905"/>
                  </a:cubicBezTo>
                  <a:cubicBezTo>
                    <a:pt x="998222" y="3725669"/>
                    <a:pt x="1026543" y="3741798"/>
                    <a:pt x="1055372" y="3757165"/>
                  </a:cubicBezTo>
                  <a:cubicBezTo>
                    <a:pt x="1084201" y="3772532"/>
                    <a:pt x="1113411" y="3787264"/>
                    <a:pt x="1142875" y="3801234"/>
                  </a:cubicBezTo>
                  <a:cubicBezTo>
                    <a:pt x="1172339" y="3815204"/>
                    <a:pt x="1202311" y="3828412"/>
                    <a:pt x="1232410" y="3840985"/>
                  </a:cubicBezTo>
                  <a:cubicBezTo>
                    <a:pt x="1262509" y="3853558"/>
                    <a:pt x="1293116" y="3865242"/>
                    <a:pt x="1323850" y="3876291"/>
                  </a:cubicBezTo>
                  <a:cubicBezTo>
                    <a:pt x="1354584" y="3887340"/>
                    <a:pt x="1385572" y="3897500"/>
                    <a:pt x="1416941" y="3907025"/>
                  </a:cubicBezTo>
                  <a:cubicBezTo>
                    <a:pt x="1448310" y="3916550"/>
                    <a:pt x="1479679" y="3925186"/>
                    <a:pt x="1511429" y="3933187"/>
                  </a:cubicBezTo>
                  <a:cubicBezTo>
                    <a:pt x="1543180" y="3941188"/>
                    <a:pt x="1575057" y="3948300"/>
                    <a:pt x="1607061" y="3954650"/>
                  </a:cubicBezTo>
                  <a:cubicBezTo>
                    <a:pt x="1639065" y="3961000"/>
                    <a:pt x="1671323" y="3966588"/>
                    <a:pt x="1703581" y="3971414"/>
                  </a:cubicBezTo>
                  <a:cubicBezTo>
                    <a:pt x="1735839" y="3976240"/>
                    <a:pt x="1768351" y="3980176"/>
                    <a:pt x="1800863" y="3983351"/>
                  </a:cubicBezTo>
                  <a:cubicBezTo>
                    <a:pt x="1833375" y="3986526"/>
                    <a:pt x="1866014" y="3988940"/>
                    <a:pt x="1898526" y="3990591"/>
                  </a:cubicBezTo>
                  <a:cubicBezTo>
                    <a:pt x="1931038" y="3992242"/>
                    <a:pt x="1963804" y="3993004"/>
                    <a:pt x="1996443" y="3993004"/>
                  </a:cubicBezTo>
                  <a:cubicBezTo>
                    <a:pt x="2029083" y="3993004"/>
                    <a:pt x="2061721" y="3992242"/>
                    <a:pt x="2094360" y="3990591"/>
                  </a:cubicBezTo>
                  <a:cubicBezTo>
                    <a:pt x="2127000" y="3988940"/>
                    <a:pt x="2159512" y="3986526"/>
                    <a:pt x="2192024" y="3983351"/>
                  </a:cubicBezTo>
                  <a:cubicBezTo>
                    <a:pt x="2224536" y="3980176"/>
                    <a:pt x="2256921" y="3976112"/>
                    <a:pt x="2289306" y="3971414"/>
                  </a:cubicBezTo>
                  <a:cubicBezTo>
                    <a:pt x="2321691" y="3966715"/>
                    <a:pt x="2353822" y="3961000"/>
                    <a:pt x="2385826" y="3954650"/>
                  </a:cubicBezTo>
                  <a:cubicBezTo>
                    <a:pt x="2417830" y="3948300"/>
                    <a:pt x="2449707" y="3941061"/>
                    <a:pt x="2481457" y="3933187"/>
                  </a:cubicBezTo>
                  <a:cubicBezTo>
                    <a:pt x="2513207" y="3925313"/>
                    <a:pt x="2544576" y="3916550"/>
                    <a:pt x="2575945" y="3907025"/>
                  </a:cubicBezTo>
                  <a:cubicBezTo>
                    <a:pt x="2607314" y="3897500"/>
                    <a:pt x="2638175" y="3887340"/>
                    <a:pt x="2669036" y="3876291"/>
                  </a:cubicBezTo>
                  <a:cubicBezTo>
                    <a:pt x="2699898" y="3865242"/>
                    <a:pt x="2730250" y="3853558"/>
                    <a:pt x="2760477" y="3840985"/>
                  </a:cubicBezTo>
                  <a:cubicBezTo>
                    <a:pt x="2790703" y="3828412"/>
                    <a:pt x="2820548" y="3815204"/>
                    <a:pt x="2850012" y="3801234"/>
                  </a:cubicBezTo>
                  <a:cubicBezTo>
                    <a:pt x="2879476" y="3787264"/>
                    <a:pt x="2908686" y="3772532"/>
                    <a:pt x="2937515" y="3757165"/>
                  </a:cubicBezTo>
                  <a:cubicBezTo>
                    <a:pt x="2966344" y="3741798"/>
                    <a:pt x="2994792" y="3725669"/>
                    <a:pt x="3022732" y="3708905"/>
                  </a:cubicBezTo>
                  <a:cubicBezTo>
                    <a:pt x="3027685" y="3705857"/>
                    <a:pt x="3032638" y="3702936"/>
                    <a:pt x="3037718" y="3699888"/>
                  </a:cubicBezTo>
                  <a:lnTo>
                    <a:pt x="3037718" y="293115"/>
                  </a:lnTo>
                  <a:cubicBezTo>
                    <a:pt x="3032765" y="290067"/>
                    <a:pt x="3027812" y="287019"/>
                    <a:pt x="3022732" y="284098"/>
                  </a:cubicBezTo>
                  <a:cubicBezTo>
                    <a:pt x="2994665" y="267334"/>
                    <a:pt x="2966344" y="251205"/>
                    <a:pt x="2937515" y="235838"/>
                  </a:cubicBezTo>
                  <a:cubicBezTo>
                    <a:pt x="2908686" y="220471"/>
                    <a:pt x="2879476" y="205739"/>
                    <a:pt x="2850012" y="191769"/>
                  </a:cubicBezTo>
                  <a:cubicBezTo>
                    <a:pt x="2820548" y="177799"/>
                    <a:pt x="2790576" y="164591"/>
                    <a:pt x="2760477" y="152018"/>
                  </a:cubicBezTo>
                  <a:cubicBezTo>
                    <a:pt x="2730377" y="139445"/>
                    <a:pt x="2699770" y="127761"/>
                    <a:pt x="2669036" y="116713"/>
                  </a:cubicBezTo>
                  <a:cubicBezTo>
                    <a:pt x="2638302" y="105664"/>
                    <a:pt x="2607314" y="95503"/>
                    <a:pt x="2575945" y="85978"/>
                  </a:cubicBezTo>
                  <a:cubicBezTo>
                    <a:pt x="2544576" y="76453"/>
                    <a:pt x="2513207" y="67817"/>
                    <a:pt x="2481457" y="59817"/>
                  </a:cubicBezTo>
                  <a:cubicBezTo>
                    <a:pt x="2449707" y="51816"/>
                    <a:pt x="2417830" y="44704"/>
                    <a:pt x="2385826" y="38354"/>
                  </a:cubicBezTo>
                  <a:cubicBezTo>
                    <a:pt x="2353822" y="32004"/>
                    <a:pt x="2321564" y="26416"/>
                    <a:pt x="2289306" y="21590"/>
                  </a:cubicBezTo>
                  <a:cubicBezTo>
                    <a:pt x="2257048" y="16764"/>
                    <a:pt x="2224536" y="12827"/>
                    <a:pt x="2192024" y="9652"/>
                  </a:cubicBezTo>
                  <a:cubicBezTo>
                    <a:pt x="2159512" y="6477"/>
                    <a:pt x="2126873" y="4064"/>
                    <a:pt x="2094360" y="2413"/>
                  </a:cubicBezTo>
                  <a:cubicBezTo>
                    <a:pt x="2061848" y="762"/>
                    <a:pt x="2029083" y="0"/>
                    <a:pt x="1996443" y="0"/>
                  </a:cubicBezTo>
                  <a:close/>
                </a:path>
              </a:pathLst>
            </a:custGeom>
            <a:solidFill>
              <a:srgbClr val="F1E7D5"/>
            </a:solidFill>
          </p:spPr>
          <p:txBody>
            <a:bodyPr/>
            <a:lstStyle/>
            <a:p>
              <a:endParaRPr lang="en-US"/>
            </a:p>
          </p:txBody>
        </p:sp>
        <p:sp>
          <p:nvSpPr>
            <p:cNvPr id="8" name="Freeform 8"/>
            <p:cNvSpPr/>
            <p:nvPr/>
          </p:nvSpPr>
          <p:spPr>
            <a:xfrm>
              <a:off x="63500" y="63500"/>
              <a:ext cx="3557022" cy="4543675"/>
            </a:xfrm>
            <a:custGeom>
              <a:avLst/>
              <a:gdLst/>
              <a:ahLst/>
              <a:cxnLst/>
              <a:rect l="l" t="t" r="r" b="b"/>
              <a:pathLst>
                <a:path w="3557022" h="4543675">
                  <a:moveTo>
                    <a:pt x="0" y="0"/>
                  </a:moveTo>
                  <a:lnTo>
                    <a:pt x="0" y="4543675"/>
                  </a:lnTo>
                  <a:lnTo>
                    <a:pt x="3557022" y="4543675"/>
                  </a:lnTo>
                  <a:lnTo>
                    <a:pt x="3557022" y="0"/>
                  </a:lnTo>
                  <a:close/>
                </a:path>
              </a:pathLst>
            </a:custGeom>
            <a:solidFill>
              <a:srgbClr val="000000">
                <a:alpha val="0"/>
              </a:srgbClr>
            </a:solidFill>
          </p:spPr>
          <p:txBody>
            <a:bodyPr/>
            <a:lstStyle/>
            <a:p>
              <a:endParaRPr lang="en-US"/>
            </a:p>
          </p:txBody>
        </p:sp>
      </p:grpSp>
      <p:grpSp>
        <p:nvGrpSpPr>
          <p:cNvPr id="9" name="Group 9"/>
          <p:cNvGrpSpPr/>
          <p:nvPr/>
        </p:nvGrpSpPr>
        <p:grpSpPr>
          <a:xfrm>
            <a:off x="15051329" y="3829021"/>
            <a:ext cx="1638548" cy="1638548"/>
            <a:chOff x="0" y="0"/>
            <a:chExt cx="1638554" cy="1638554"/>
          </a:xfrm>
        </p:grpSpPr>
        <p:sp>
          <p:nvSpPr>
            <p:cNvPr id="10" name="Freeform 10"/>
            <p:cNvSpPr/>
            <p:nvPr/>
          </p:nvSpPr>
          <p:spPr>
            <a:xfrm>
              <a:off x="63500" y="63500"/>
              <a:ext cx="1511558" cy="1511558"/>
            </a:xfrm>
            <a:custGeom>
              <a:avLst/>
              <a:gdLst/>
              <a:ahLst/>
              <a:cxnLst/>
              <a:rect l="l" t="t" r="r" b="b"/>
              <a:pathLst>
                <a:path w="1511558" h="1511558">
                  <a:moveTo>
                    <a:pt x="755779" y="0"/>
                  </a:moveTo>
                  <a:cubicBezTo>
                    <a:pt x="338964" y="0"/>
                    <a:pt x="0" y="339091"/>
                    <a:pt x="0" y="755779"/>
                  </a:cubicBezTo>
                  <a:cubicBezTo>
                    <a:pt x="0" y="1172467"/>
                    <a:pt x="338964" y="1511558"/>
                    <a:pt x="755779" y="1511558"/>
                  </a:cubicBezTo>
                  <a:cubicBezTo>
                    <a:pt x="1172594" y="1511558"/>
                    <a:pt x="1511558" y="1172594"/>
                    <a:pt x="1511558" y="755779"/>
                  </a:cubicBezTo>
                  <a:cubicBezTo>
                    <a:pt x="1511558" y="338964"/>
                    <a:pt x="1172467" y="0"/>
                    <a:pt x="755779" y="0"/>
                  </a:cubicBezTo>
                  <a:close/>
                  <a:moveTo>
                    <a:pt x="755779" y="1388368"/>
                  </a:moveTo>
                  <a:cubicBezTo>
                    <a:pt x="406909" y="1388368"/>
                    <a:pt x="123064" y="1104522"/>
                    <a:pt x="123064" y="755652"/>
                  </a:cubicBezTo>
                  <a:cubicBezTo>
                    <a:pt x="123064" y="406782"/>
                    <a:pt x="406909" y="123063"/>
                    <a:pt x="755779" y="123063"/>
                  </a:cubicBezTo>
                  <a:cubicBezTo>
                    <a:pt x="1104649" y="123063"/>
                    <a:pt x="1388495" y="406909"/>
                    <a:pt x="1388495" y="755779"/>
                  </a:cubicBezTo>
                  <a:cubicBezTo>
                    <a:pt x="1388495" y="1104649"/>
                    <a:pt x="1104649" y="1388495"/>
                    <a:pt x="755779" y="1388495"/>
                  </a:cubicBezTo>
                  <a:close/>
                </a:path>
              </a:pathLst>
            </a:custGeom>
            <a:solidFill>
              <a:srgbClr val="F1E7D5"/>
            </a:solidFill>
          </p:spPr>
          <p:txBody>
            <a:bodyPr/>
            <a:lstStyle/>
            <a:p>
              <a:endParaRPr lang="en-US"/>
            </a:p>
          </p:txBody>
        </p:sp>
        <p:sp>
          <p:nvSpPr>
            <p:cNvPr id="11" name="Freeform 11"/>
            <p:cNvSpPr/>
            <p:nvPr/>
          </p:nvSpPr>
          <p:spPr>
            <a:xfrm>
              <a:off x="219584" y="219584"/>
              <a:ext cx="1199391" cy="1199391"/>
            </a:xfrm>
            <a:custGeom>
              <a:avLst/>
              <a:gdLst/>
              <a:ahLst/>
              <a:cxnLst/>
              <a:rect l="l" t="t" r="r" b="b"/>
              <a:pathLst>
                <a:path w="1199391" h="1199391">
                  <a:moveTo>
                    <a:pt x="1199391" y="599695"/>
                  </a:moveTo>
                  <a:cubicBezTo>
                    <a:pt x="1199391" y="619380"/>
                    <a:pt x="1198375" y="638938"/>
                    <a:pt x="1196470" y="658496"/>
                  </a:cubicBezTo>
                  <a:cubicBezTo>
                    <a:pt x="1194565" y="678054"/>
                    <a:pt x="1191644" y="697485"/>
                    <a:pt x="1187834" y="716662"/>
                  </a:cubicBezTo>
                  <a:cubicBezTo>
                    <a:pt x="1184024" y="735839"/>
                    <a:pt x="1179198" y="755016"/>
                    <a:pt x="1173483" y="773812"/>
                  </a:cubicBezTo>
                  <a:cubicBezTo>
                    <a:pt x="1167768" y="792609"/>
                    <a:pt x="1161164" y="811024"/>
                    <a:pt x="1153671" y="829185"/>
                  </a:cubicBezTo>
                  <a:cubicBezTo>
                    <a:pt x="1146178" y="847346"/>
                    <a:pt x="1137796" y="865126"/>
                    <a:pt x="1128525" y="882398"/>
                  </a:cubicBezTo>
                  <a:cubicBezTo>
                    <a:pt x="1119254" y="899670"/>
                    <a:pt x="1109221" y="916561"/>
                    <a:pt x="1098299" y="932944"/>
                  </a:cubicBezTo>
                  <a:cubicBezTo>
                    <a:pt x="1087377" y="949327"/>
                    <a:pt x="1075693" y="965075"/>
                    <a:pt x="1063247" y="980188"/>
                  </a:cubicBezTo>
                  <a:cubicBezTo>
                    <a:pt x="1050800" y="995301"/>
                    <a:pt x="1037719" y="1009906"/>
                    <a:pt x="1023749" y="1023749"/>
                  </a:cubicBezTo>
                  <a:cubicBezTo>
                    <a:pt x="1009779" y="1037592"/>
                    <a:pt x="995301" y="1050800"/>
                    <a:pt x="980188" y="1063246"/>
                  </a:cubicBezTo>
                  <a:cubicBezTo>
                    <a:pt x="965075" y="1075692"/>
                    <a:pt x="949200" y="1087376"/>
                    <a:pt x="932944" y="1098298"/>
                  </a:cubicBezTo>
                  <a:cubicBezTo>
                    <a:pt x="916688" y="1109220"/>
                    <a:pt x="899797" y="1119253"/>
                    <a:pt x="882398" y="1128524"/>
                  </a:cubicBezTo>
                  <a:cubicBezTo>
                    <a:pt x="864999" y="1137795"/>
                    <a:pt x="847346" y="1146177"/>
                    <a:pt x="829185" y="1153670"/>
                  </a:cubicBezTo>
                  <a:cubicBezTo>
                    <a:pt x="811024" y="1161163"/>
                    <a:pt x="792609" y="1167767"/>
                    <a:pt x="773813" y="1173482"/>
                  </a:cubicBezTo>
                  <a:cubicBezTo>
                    <a:pt x="755017" y="1179197"/>
                    <a:pt x="735967" y="1183897"/>
                    <a:pt x="716663" y="1187833"/>
                  </a:cubicBezTo>
                  <a:cubicBezTo>
                    <a:pt x="697358" y="1191771"/>
                    <a:pt x="677927" y="1194564"/>
                    <a:pt x="658496" y="1196469"/>
                  </a:cubicBezTo>
                  <a:cubicBezTo>
                    <a:pt x="639065" y="1198375"/>
                    <a:pt x="619380" y="1199391"/>
                    <a:pt x="599695" y="1199391"/>
                  </a:cubicBezTo>
                  <a:cubicBezTo>
                    <a:pt x="580010" y="1199391"/>
                    <a:pt x="560452" y="1198375"/>
                    <a:pt x="540894" y="1196469"/>
                  </a:cubicBezTo>
                  <a:cubicBezTo>
                    <a:pt x="521336" y="1194564"/>
                    <a:pt x="501905" y="1191644"/>
                    <a:pt x="482728" y="1187833"/>
                  </a:cubicBezTo>
                  <a:cubicBezTo>
                    <a:pt x="463551" y="1184024"/>
                    <a:pt x="444374" y="1179197"/>
                    <a:pt x="425578" y="1173482"/>
                  </a:cubicBezTo>
                  <a:cubicBezTo>
                    <a:pt x="406782" y="1167767"/>
                    <a:pt x="388367" y="1161163"/>
                    <a:pt x="370206" y="1153670"/>
                  </a:cubicBezTo>
                  <a:cubicBezTo>
                    <a:pt x="352045" y="1146177"/>
                    <a:pt x="334265" y="1137795"/>
                    <a:pt x="316992" y="1128524"/>
                  </a:cubicBezTo>
                  <a:cubicBezTo>
                    <a:pt x="299720" y="1119253"/>
                    <a:pt x="282829" y="1109220"/>
                    <a:pt x="266446" y="1098298"/>
                  </a:cubicBezTo>
                  <a:cubicBezTo>
                    <a:pt x="250063" y="1087376"/>
                    <a:pt x="234315" y="1075692"/>
                    <a:pt x="219202" y="1063246"/>
                  </a:cubicBezTo>
                  <a:cubicBezTo>
                    <a:pt x="204089" y="1050800"/>
                    <a:pt x="189484" y="1037592"/>
                    <a:pt x="175641" y="1023749"/>
                  </a:cubicBezTo>
                  <a:cubicBezTo>
                    <a:pt x="161798" y="1009906"/>
                    <a:pt x="148590" y="995301"/>
                    <a:pt x="136144" y="980188"/>
                  </a:cubicBezTo>
                  <a:cubicBezTo>
                    <a:pt x="123698" y="965075"/>
                    <a:pt x="112014" y="949200"/>
                    <a:pt x="101092" y="932944"/>
                  </a:cubicBezTo>
                  <a:cubicBezTo>
                    <a:pt x="90170" y="916688"/>
                    <a:pt x="80137" y="899797"/>
                    <a:pt x="70866" y="882398"/>
                  </a:cubicBezTo>
                  <a:cubicBezTo>
                    <a:pt x="61595" y="864999"/>
                    <a:pt x="53213" y="847346"/>
                    <a:pt x="45720" y="829185"/>
                  </a:cubicBezTo>
                  <a:cubicBezTo>
                    <a:pt x="38227" y="811024"/>
                    <a:pt x="31623" y="792609"/>
                    <a:pt x="25908" y="773812"/>
                  </a:cubicBezTo>
                  <a:cubicBezTo>
                    <a:pt x="20193" y="755016"/>
                    <a:pt x="15494" y="735966"/>
                    <a:pt x="11557" y="716662"/>
                  </a:cubicBezTo>
                  <a:cubicBezTo>
                    <a:pt x="7620" y="697358"/>
                    <a:pt x="4826" y="677927"/>
                    <a:pt x="2921" y="658496"/>
                  </a:cubicBezTo>
                  <a:cubicBezTo>
                    <a:pt x="1016" y="639065"/>
                    <a:pt x="0" y="619380"/>
                    <a:pt x="0" y="599695"/>
                  </a:cubicBezTo>
                  <a:cubicBezTo>
                    <a:pt x="0" y="580010"/>
                    <a:pt x="1016" y="560452"/>
                    <a:pt x="2921" y="540894"/>
                  </a:cubicBezTo>
                  <a:cubicBezTo>
                    <a:pt x="4826" y="521336"/>
                    <a:pt x="7747" y="501905"/>
                    <a:pt x="11557" y="482728"/>
                  </a:cubicBezTo>
                  <a:cubicBezTo>
                    <a:pt x="15367" y="463551"/>
                    <a:pt x="20193" y="444374"/>
                    <a:pt x="25908" y="425578"/>
                  </a:cubicBezTo>
                  <a:cubicBezTo>
                    <a:pt x="31623" y="406782"/>
                    <a:pt x="38227" y="388367"/>
                    <a:pt x="45720" y="370205"/>
                  </a:cubicBezTo>
                  <a:cubicBezTo>
                    <a:pt x="53213" y="352044"/>
                    <a:pt x="61595" y="334264"/>
                    <a:pt x="70866" y="316992"/>
                  </a:cubicBezTo>
                  <a:cubicBezTo>
                    <a:pt x="80137" y="299720"/>
                    <a:pt x="90170" y="282829"/>
                    <a:pt x="101092" y="266446"/>
                  </a:cubicBezTo>
                  <a:cubicBezTo>
                    <a:pt x="112014" y="250063"/>
                    <a:pt x="123698" y="234315"/>
                    <a:pt x="136144" y="219202"/>
                  </a:cubicBezTo>
                  <a:cubicBezTo>
                    <a:pt x="148590" y="204089"/>
                    <a:pt x="161798" y="189484"/>
                    <a:pt x="175641" y="175641"/>
                  </a:cubicBezTo>
                  <a:cubicBezTo>
                    <a:pt x="189484" y="161798"/>
                    <a:pt x="204089" y="148590"/>
                    <a:pt x="219202" y="136144"/>
                  </a:cubicBezTo>
                  <a:cubicBezTo>
                    <a:pt x="234315" y="123698"/>
                    <a:pt x="250190" y="112014"/>
                    <a:pt x="266446" y="101092"/>
                  </a:cubicBezTo>
                  <a:cubicBezTo>
                    <a:pt x="282702" y="90170"/>
                    <a:pt x="299593" y="80137"/>
                    <a:pt x="316992" y="70866"/>
                  </a:cubicBezTo>
                  <a:cubicBezTo>
                    <a:pt x="334392" y="61595"/>
                    <a:pt x="352045" y="53213"/>
                    <a:pt x="370206" y="45720"/>
                  </a:cubicBezTo>
                  <a:cubicBezTo>
                    <a:pt x="388367" y="38227"/>
                    <a:pt x="406782" y="31623"/>
                    <a:pt x="425578" y="25908"/>
                  </a:cubicBezTo>
                  <a:cubicBezTo>
                    <a:pt x="444374" y="20193"/>
                    <a:pt x="463424" y="15494"/>
                    <a:pt x="482728" y="11557"/>
                  </a:cubicBezTo>
                  <a:cubicBezTo>
                    <a:pt x="502032" y="7620"/>
                    <a:pt x="521463" y="4826"/>
                    <a:pt x="540894" y="2921"/>
                  </a:cubicBezTo>
                  <a:cubicBezTo>
                    <a:pt x="560325" y="1016"/>
                    <a:pt x="580010" y="0"/>
                    <a:pt x="599695" y="0"/>
                  </a:cubicBezTo>
                  <a:cubicBezTo>
                    <a:pt x="619380" y="0"/>
                    <a:pt x="638938" y="1016"/>
                    <a:pt x="658496" y="2921"/>
                  </a:cubicBezTo>
                  <a:cubicBezTo>
                    <a:pt x="678054" y="4826"/>
                    <a:pt x="697485" y="7747"/>
                    <a:pt x="716663" y="11557"/>
                  </a:cubicBezTo>
                  <a:cubicBezTo>
                    <a:pt x="735840" y="15367"/>
                    <a:pt x="755017" y="20193"/>
                    <a:pt x="773813" y="25908"/>
                  </a:cubicBezTo>
                  <a:cubicBezTo>
                    <a:pt x="792609" y="31623"/>
                    <a:pt x="811024" y="38227"/>
                    <a:pt x="829185" y="45720"/>
                  </a:cubicBezTo>
                  <a:cubicBezTo>
                    <a:pt x="847346" y="53213"/>
                    <a:pt x="865126" y="61595"/>
                    <a:pt x="882398" y="70866"/>
                  </a:cubicBezTo>
                  <a:cubicBezTo>
                    <a:pt x="899670" y="80137"/>
                    <a:pt x="916561" y="90170"/>
                    <a:pt x="932944" y="101092"/>
                  </a:cubicBezTo>
                  <a:cubicBezTo>
                    <a:pt x="949327" y="112014"/>
                    <a:pt x="965075" y="123698"/>
                    <a:pt x="980188" y="136144"/>
                  </a:cubicBezTo>
                  <a:cubicBezTo>
                    <a:pt x="995301" y="148590"/>
                    <a:pt x="1009906" y="161798"/>
                    <a:pt x="1023749" y="175641"/>
                  </a:cubicBezTo>
                  <a:cubicBezTo>
                    <a:pt x="1037592" y="189484"/>
                    <a:pt x="1050800" y="204089"/>
                    <a:pt x="1063247" y="219202"/>
                  </a:cubicBezTo>
                  <a:cubicBezTo>
                    <a:pt x="1075693" y="234315"/>
                    <a:pt x="1087377" y="250190"/>
                    <a:pt x="1098299" y="266446"/>
                  </a:cubicBezTo>
                  <a:cubicBezTo>
                    <a:pt x="1109221" y="282702"/>
                    <a:pt x="1119254" y="299593"/>
                    <a:pt x="1128525" y="316992"/>
                  </a:cubicBezTo>
                  <a:cubicBezTo>
                    <a:pt x="1137796" y="334391"/>
                    <a:pt x="1146178" y="352044"/>
                    <a:pt x="1153671" y="370205"/>
                  </a:cubicBezTo>
                  <a:cubicBezTo>
                    <a:pt x="1161164" y="388367"/>
                    <a:pt x="1167768" y="406782"/>
                    <a:pt x="1173483" y="425578"/>
                  </a:cubicBezTo>
                  <a:cubicBezTo>
                    <a:pt x="1179198" y="444374"/>
                    <a:pt x="1183897" y="463424"/>
                    <a:pt x="1187834" y="482728"/>
                  </a:cubicBezTo>
                  <a:cubicBezTo>
                    <a:pt x="1191771" y="502032"/>
                    <a:pt x="1194565" y="521463"/>
                    <a:pt x="1196470" y="540894"/>
                  </a:cubicBezTo>
                  <a:cubicBezTo>
                    <a:pt x="1198375" y="560325"/>
                    <a:pt x="1199391" y="580010"/>
                    <a:pt x="1199391" y="599695"/>
                  </a:cubicBezTo>
                  <a:close/>
                </a:path>
              </a:pathLst>
            </a:custGeom>
            <a:solidFill>
              <a:srgbClr val="F1E7D5"/>
            </a:solidFill>
          </p:spPr>
          <p:txBody>
            <a:bodyPr/>
            <a:lstStyle/>
            <a:p>
              <a:endParaRPr lang="en-US"/>
            </a:p>
          </p:txBody>
        </p:sp>
        <p:sp>
          <p:nvSpPr>
            <p:cNvPr id="12" name="Freeform 12"/>
            <p:cNvSpPr/>
            <p:nvPr/>
          </p:nvSpPr>
          <p:spPr>
            <a:xfrm>
              <a:off x="63500" y="63500"/>
              <a:ext cx="1511558" cy="1511558"/>
            </a:xfrm>
            <a:custGeom>
              <a:avLst/>
              <a:gdLst/>
              <a:ahLst/>
              <a:cxnLst/>
              <a:rect l="l" t="t" r="r" b="b"/>
              <a:pathLst>
                <a:path w="1511558" h="1511558">
                  <a:moveTo>
                    <a:pt x="0" y="1511558"/>
                  </a:moveTo>
                  <a:lnTo>
                    <a:pt x="1511558" y="1511558"/>
                  </a:lnTo>
                  <a:lnTo>
                    <a:pt x="1511558" y="0"/>
                  </a:lnTo>
                  <a:lnTo>
                    <a:pt x="0" y="0"/>
                  </a:lnTo>
                  <a:close/>
                </a:path>
              </a:pathLst>
            </a:custGeom>
            <a:solidFill>
              <a:srgbClr val="000000">
                <a:alpha val="0"/>
              </a:srgbClr>
            </a:solidFill>
          </p:spPr>
          <p:txBody>
            <a:bodyPr/>
            <a:lstStyle/>
            <a:p>
              <a:endParaRPr lang="en-US"/>
            </a:p>
          </p:txBody>
        </p:sp>
      </p:grpSp>
      <p:sp>
        <p:nvSpPr>
          <p:cNvPr id="13" name="TextBox 13"/>
          <p:cNvSpPr txBox="1"/>
          <p:nvPr/>
        </p:nvSpPr>
        <p:spPr>
          <a:xfrm>
            <a:off x="2522858" y="3037599"/>
            <a:ext cx="7384933" cy="2120389"/>
          </a:xfrm>
          <a:prstGeom prst="rect">
            <a:avLst/>
          </a:prstGeom>
        </p:spPr>
        <p:txBody>
          <a:bodyPr lIns="0" tIns="0" rIns="0" bIns="0" rtlCol="0" anchor="t">
            <a:spAutoFit/>
          </a:bodyPr>
          <a:lstStyle/>
          <a:p>
            <a:pPr algn="l">
              <a:lnSpc>
                <a:spcPts val="17674"/>
              </a:lnSpc>
            </a:pPr>
            <a:r>
              <a:rPr lang="en-US" sz="12624" b="1" i="1">
                <a:solidFill>
                  <a:srgbClr val="000000"/>
                </a:solidFill>
                <a:latin typeface="Arima Madurai Bold Italics"/>
                <a:ea typeface="Arima Madurai Bold Italics"/>
                <a:cs typeface="Arima Madurai Bold Italics"/>
                <a:sym typeface="Arima Madurai Bold Italics"/>
              </a:rPr>
              <a:t>Thank You </a:t>
            </a:r>
          </a:p>
        </p:txBody>
      </p:sp>
      <p:sp>
        <p:nvSpPr>
          <p:cNvPr id="14" name="TextBox 14"/>
          <p:cNvSpPr txBox="1"/>
          <p:nvPr/>
        </p:nvSpPr>
        <p:spPr>
          <a:xfrm>
            <a:off x="17259300" y="9207332"/>
            <a:ext cx="495300" cy="431968"/>
          </a:xfrm>
          <a:prstGeom prst="rect">
            <a:avLst/>
          </a:prstGeom>
        </p:spPr>
        <p:txBody>
          <a:bodyPr wrap="square" lIns="0" tIns="0" rIns="0" bIns="0" rtlCol="0" anchor="t">
            <a:spAutoFit/>
          </a:bodyPr>
          <a:lstStyle/>
          <a:p>
            <a:pPr algn="l">
              <a:lnSpc>
                <a:spcPts val="3358"/>
              </a:lnSpc>
            </a:pPr>
            <a:r>
              <a:rPr lang="en-US" sz="2399" b="1" i="1" dirty="0">
                <a:solidFill>
                  <a:srgbClr val="3D1700"/>
                </a:solidFill>
                <a:latin typeface="Arima Madurai Bold Italics"/>
                <a:ea typeface="Arima Madurai Bold Italics"/>
                <a:cs typeface="Arima Madurai Bold Italics"/>
                <a:sym typeface="Arima Madurai Bold Italics"/>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TotalTime>
  <Words>988</Words>
  <Application>Microsoft Macintosh PowerPoint</Application>
  <PresentationFormat>Custom</PresentationFormat>
  <Paragraphs>119</Paragraphs>
  <Slides>12</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12</vt:i4>
      </vt:variant>
    </vt:vector>
  </HeadingPairs>
  <TitlesOfParts>
    <vt:vector size="23" baseType="lpstr">
      <vt:lpstr>Canva Sans</vt:lpstr>
      <vt:lpstr>Arial</vt:lpstr>
      <vt:lpstr>Arapey Bold Italics</vt:lpstr>
      <vt:lpstr>Canva Sans Bold</vt:lpstr>
      <vt:lpstr>Arima Madurai</vt:lpstr>
      <vt:lpstr>Calibri</vt:lpstr>
      <vt:lpstr>Noto Sans</vt:lpstr>
      <vt:lpstr>Arima Madurai Bold Italics</vt:lpstr>
      <vt:lpstr>Arapey</vt:lpstr>
      <vt:lpstr>Questrial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Presented by Sivuyile Langa</dc:title>
  <cp:lastModifiedBy>sivuyile langa</cp:lastModifiedBy>
  <cp:revision>2</cp:revision>
  <dcterms:created xsi:type="dcterms:W3CDTF">2006-08-16T00:00:00Z</dcterms:created>
  <dcterms:modified xsi:type="dcterms:W3CDTF">2026-04-09T17:08:52Z</dcterms:modified>
  <dc:identifier>DAHGYAzd_pM</dc:identifier>
</cp:coreProperties>
</file>